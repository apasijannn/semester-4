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2" r:id="rId6"/>
  </p:sldIdLst>
  <p:sldSz cx="9144000" cy="6858000" type="screen4x3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-2922" y="-108"/>
      </p:cViewPr>
      <p:guideLst>
        <p:guide orient="horz" pos="3132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/>
          <p:cNvSpPr>
            <a:spLocks noGrp="1"/>
          </p:cNvSpPr>
          <p:nvPr>
            <p:ph type="sldNum" sz="quarter" idx="3"/>
          </p:nvPr>
        </p:nvSpPr>
        <p:spPr>
          <a:xfrm>
            <a:off x="3884613" y="9447302"/>
            <a:ext cx="2971800" cy="4966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ED27A-900E-44C7-A09F-FF9E2CEB9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135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E9C93-F86E-406C-BC03-7D5B3D0AAE1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202"/>
            <a:ext cx="5486400" cy="447555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72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0B7CB-38C2-400F-8713-576E9F6655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643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504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171829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CF0DC-DAF4-40F6-805A-9CA0CE4E1E51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8E6E-A62F-4205-9B35-B50BBC16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71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40A25-A965-44E5-AB3E-4017C3AEA513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8E6E-A62F-4205-9B35-B50BBC16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3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70887-DAAB-4CB8-AFEF-660F82E712BB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8E6E-A62F-4205-9B35-B50BBC16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00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BE08-7A8E-40A8-9E34-982BD9E517A7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8E6E-A62F-4205-9B35-B50BBC16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40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4EB41-49B9-4CF9-BB70-23E7B8704668}" type="datetime1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8E6E-A62F-4205-9B35-B50BBC16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58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50C6-9A1A-4BD5-89A6-CF1596799242}" type="datetime1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8E6E-A62F-4205-9B35-B50BBC16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20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CED07-1C3D-4A89-90AF-E09172FB741B}" type="datetime1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8E6E-A62F-4205-9B35-B50BBC16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05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34AC3-CE73-4BF5-82B5-8545CB97862E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8E6E-A62F-4205-9B35-B50BBC16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21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C1AD2-0A38-41D4-8768-79E1150AA81A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8E6E-A62F-4205-9B35-B50BBC16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46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796DA-0E78-49AF-B4C4-C2E2ABD2DAF3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8E6E-A62F-4205-9B35-B50BBC16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7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561A4-0EB9-4A87-853C-644BB62D0930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8E6E-A62F-4205-9B35-B50BBC16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19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B706A-59EF-4C71-AD5D-845B22324B1C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D8E6E-A62F-4205-9B35-B50BBC161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2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3.png"/><Relationship Id="rId3" Type="http://schemas.openxmlformats.org/officeDocument/2006/relationships/image" Target="../media/image21.png"/><Relationship Id="rId21" Type="http://schemas.openxmlformats.org/officeDocument/2006/relationships/image" Target="../media/image30.png"/><Relationship Id="rId7" Type="http://schemas.openxmlformats.org/officeDocument/2006/relationships/image" Target="../media/image25.png"/><Relationship Id="rId12" Type="http://schemas.openxmlformats.org/officeDocument/2006/relationships/image" Target="../media/image290.png"/><Relationship Id="rId2" Type="http://schemas.openxmlformats.org/officeDocument/2006/relationships/image" Target="../media/image20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24" Type="http://schemas.openxmlformats.org/officeDocument/2006/relationships/image" Target="../media/image37.png"/><Relationship Id="rId5" Type="http://schemas.openxmlformats.org/officeDocument/2006/relationships/image" Target="../media/image23.png"/><Relationship Id="rId23" Type="http://schemas.openxmlformats.org/officeDocument/2006/relationships/image" Target="../media/image32.png"/><Relationship Id="rId15" Type="http://schemas.openxmlformats.org/officeDocument/2006/relationships/image" Target="../media/image35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22" Type="http://schemas.openxmlformats.org/officeDocument/2006/relationships/image" Target="../media/image31.png"/><Relationship Id="rId1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38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39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2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43.png"/><Relationship Id="rId9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762000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lgerian" pitchFamily="82" charset="0"/>
                <a:cs typeface="Times New Roman" pitchFamily="18" charset="0"/>
              </a:rPr>
              <a:t>Slide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0" y="68759"/>
            <a:ext cx="3743332" cy="43088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BILANGAN  KOMPLEKS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95290"/>
            <a:ext cx="3581400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1.1 BILANGAN  KOMPLEKS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800" y="1371600"/>
            <a:ext cx="3743332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1.1.1.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Notasi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Bilangan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Kompleks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28600" y="1752600"/>
                <a:ext cx="876300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Bermacam -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macam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notasi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bilangan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kompleks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pada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mulanya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didefinisikan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sebagai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pasangan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bilangan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riil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,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namun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secara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umum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notasi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tunggal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untuk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bilangan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kompleks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digunakan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lambang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𝑧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yang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digambarkan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salib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sumbu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tegak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algn="just"/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maka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nilai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merupakan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titik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pada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sumbu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mendatar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(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disebut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sumbu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Riil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)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sedangkan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nilai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merupakan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titik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pada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sumbu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tegak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(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disebut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sumbu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Imajiner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)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752600"/>
                <a:ext cx="8763000" cy="1631216"/>
              </a:xfrm>
              <a:prstGeom prst="rect">
                <a:avLst/>
              </a:prstGeom>
              <a:blipFill rotWithShape="1">
                <a:blip r:embed="rId3"/>
                <a:stretch>
                  <a:fillRect l="-765" t="-1873" r="-1392" b="-5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28600" y="3409890"/>
                <a:ext cx="49530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sv-SE" sz="2000" b="1" dirty="0">
                    <a:latin typeface="Times New Roman" pitchFamily="18" charset="0"/>
                    <a:cs typeface="Times New Roman" pitchFamily="18" charset="0"/>
                  </a:rPr>
                  <a:t>A. Bentuk Pasangan Bilangan,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  <a:cs typeface="Times New Roman" pitchFamily="18" charset="0"/>
                      </a:rPr>
                      <m:t>𝒛</m:t>
                    </m:r>
                    <m:r>
                      <a:rPr lang="en-US" sz="2000" b="1" i="1" smtClean="0">
                        <a:latin typeface="Cambria Math"/>
                        <a:cs typeface="Times New Roman" pitchFamily="18" charset="0"/>
                      </a:rPr>
                      <m:t>= 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  <a:cs typeface="Times New Roman" pitchFamily="18" charset="0"/>
                          </a:rPr>
                          <m:t>𝒙</m:t>
                        </m:r>
                        <m:r>
                          <a:rPr lang="en-US" sz="2000" b="1" i="1" smtClean="0">
                            <a:latin typeface="Cambria Math"/>
                            <a:cs typeface="Times New Roman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  <a:cs typeface="Times New Roman" pitchFamily="18" charset="0"/>
                          </a:rPr>
                          <m:t>𝒚</m:t>
                        </m:r>
                      </m:e>
                    </m:d>
                  </m:oMath>
                </a14:m>
                <a:endParaRPr lang="en-US" sz="20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409890"/>
                <a:ext cx="4953000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1355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28600" y="3711714"/>
                <a:ext cx="822960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Nilai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merupakan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bagian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riil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dinotasikan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𝑅𝑒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nilai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merupakan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bagian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imajiner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dinotasikan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𝐼𝑚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711714"/>
                <a:ext cx="8229600" cy="707886"/>
              </a:xfrm>
              <a:prstGeom prst="rect">
                <a:avLst/>
              </a:prstGeom>
              <a:blipFill rotWithShape="1">
                <a:blip r:embed="rId5"/>
                <a:stretch>
                  <a:fillRect l="-815" t="-4310" r="-2296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228600" y="4333845"/>
            <a:ext cx="7924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Penjumlahan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perkalian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bilangan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kompleks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didefinisikan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sebagai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/>
              <p:cNvSpPr/>
              <p:nvPr/>
            </p:nvSpPr>
            <p:spPr>
              <a:xfrm>
                <a:off x="304800" y="4721424"/>
                <a:ext cx="64008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s-ES" sz="2000" dirty="0">
                    <a:latin typeface="Times New Roman" pitchFamily="18" charset="0"/>
                    <a:cs typeface="Times New Roman" pitchFamily="18" charset="0"/>
                  </a:rPr>
                  <a:t>Misal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s-ES" sz="2000" dirty="0">
                    <a:latin typeface="Times New Roman" pitchFamily="18" charset="0"/>
                    <a:cs typeface="Times New Roman" pitchFamily="18" charset="0"/>
                  </a:rPr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endParaRPr lang="es-E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/>
                <a:r>
                  <a:rPr lang="es-ES" sz="2000" dirty="0" err="1">
                    <a:latin typeface="Times New Roman" pitchFamily="18" charset="0"/>
                    <a:cs typeface="Times New Roman" pitchFamily="18" charset="0"/>
                  </a:rPr>
                  <a:t>Maka</a:t>
                </a:r>
                <a:r>
                  <a:rPr lang="es-ES" sz="20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+</m:t>
                    </m:r>
                  </m:oMath>
                </a14:m>
                <a:r>
                  <a:rPr lang="es-E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s-E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690563" algn="just"/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E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 </m:t>
                        </m:r>
                      </m:e>
                    </m:d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721424"/>
                <a:ext cx="6400800" cy="1015663"/>
              </a:xfrm>
              <a:prstGeom prst="rect">
                <a:avLst/>
              </a:prstGeom>
              <a:blipFill>
                <a:blip r:embed="rId6"/>
                <a:stretch>
                  <a:fillRect l="-952" t="-3614" b="-3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/>
              <p:cNvSpPr/>
              <p:nvPr/>
            </p:nvSpPr>
            <p:spPr>
              <a:xfrm>
                <a:off x="228600" y="5867400"/>
                <a:ext cx="7007158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l-PL" sz="2000" dirty="0">
                    <a:latin typeface="Times New Roman" pitchFamily="18" charset="0"/>
                    <a:cs typeface="Times New Roman" pitchFamily="18" charset="0"/>
                  </a:rPr>
                  <a:t>Contoh 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l-PL" sz="2000" dirty="0">
                    <a:latin typeface="Times New Roman" pitchFamily="18" charset="0"/>
                    <a:cs typeface="Times New Roman" pitchFamily="18" charset="0"/>
                  </a:rPr>
                  <a:t>.1. Diketahui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2,−3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; </m:t>
                    </m:r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5,−1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; </m:t>
                    </m:r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−4,0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endParaRPr lang="pl-PL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Hitung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: </a:t>
                </a:r>
                <a:r>
                  <a:rPr lang="pl-PL" sz="2000" dirty="0">
                    <a:latin typeface="Times New Roman" pitchFamily="18" charset="0"/>
                    <a:cs typeface="Times New Roman" pitchFamily="18" charset="0"/>
                  </a:rPr>
                  <a:t>a.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2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+3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  b.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  c</a:t>
                </a:r>
                <a:r>
                  <a:rPr lang="pl-PL" sz="20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2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+3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867400"/>
                <a:ext cx="7007158" cy="707886"/>
              </a:xfrm>
              <a:prstGeom prst="rect">
                <a:avLst/>
              </a:prstGeom>
              <a:blipFill>
                <a:blip r:embed="rId7"/>
                <a:stretch>
                  <a:fillRect l="-957" t="-5172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62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762000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lgerian" pitchFamily="82" charset="0"/>
                <a:cs typeface="Times New Roman" pitchFamily="18" charset="0"/>
              </a:rPr>
              <a:t>Slide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838200" y="381000"/>
                <a:ext cx="26670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B.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Bentuk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𝒛</m:t>
                    </m:r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1" i="1" smtClean="0">
                        <a:latin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/>
                      </a:rPr>
                      <m:t>+</m:t>
                    </m:r>
                    <m:r>
                      <a:rPr lang="en-US" sz="2000" b="1" i="1" smtClean="0">
                        <a:latin typeface="Cambria Math"/>
                      </a:rPr>
                      <m:t>𝒊𝒚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1000"/>
                <a:ext cx="2667000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2517" t="-7692" r="-1602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847928" y="685800"/>
            <a:ext cx="76102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Dari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bentuk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notasi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(A)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kita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dapat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menurunkan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notasi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baru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menggunakan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definisi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penjumlahan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perkalian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bilangan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kompleks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di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atas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sehingga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didapatkan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notasi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sebagai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sz="2000" dirty="0" err="1">
                <a:latin typeface="Times New Roman" pitchFamily="18" charset="0"/>
                <a:cs typeface="Times New Roman" pitchFamily="18" charset="0"/>
              </a:rPr>
              <a:t>berikut</a:t>
            </a:r>
            <a:r>
              <a:rPr lang="es-ES" sz="2000" dirty="0">
                <a:latin typeface="Times New Roman" pitchFamily="18" charset="0"/>
                <a:cs typeface="Times New Roman" pitchFamily="18" charset="0"/>
              </a:rPr>
              <a:t> 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200" y="1600200"/>
                <a:ext cx="5715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𝒛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𝟎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𝟎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𝟎</m:t>
                          </m:r>
                        </m:e>
                      </m:d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00200"/>
                <a:ext cx="5715000" cy="400110"/>
              </a:xfrm>
              <a:prstGeom prst="rect">
                <a:avLst/>
              </a:prstGeom>
              <a:blipFill rotWithShape="1">
                <a:blip r:embed="rId3"/>
                <a:stretch>
                  <a:fillRect t="-7692" r="-854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605668" y="1905000"/>
            <a:ext cx="9012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>
                <a:latin typeface="Times New Roman" pitchFamily="18" charset="0"/>
                <a:cs typeface="Times New Roman" pitchFamily="18" charset="0"/>
              </a:rPr>
              <a:t>Misal 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419600" y="2221468"/>
                <a:ext cx="367986" cy="36933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2221468"/>
                <a:ext cx="367986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6349" r="-19355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331704" y="2209800"/>
                <a:ext cx="318612" cy="36933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1704" y="2209800"/>
                <a:ext cx="318612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6452" r="-20370" b="-22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17182" y="2221468"/>
                <a:ext cx="371384" cy="36933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182" y="2221468"/>
                <a:ext cx="371384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6349" r="-1746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943600" y="1905000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1905000"/>
                <a:ext cx="344966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2105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305350" y="1905000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350" y="1905000"/>
                <a:ext cx="344966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2280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435447" y="1905000"/>
                <a:ext cx="344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447" y="1905000"/>
                <a:ext cx="344966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23214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81932" y="2647890"/>
                <a:ext cx="23184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Maka: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𝒛</m:t>
                    </m:r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1" i="1" smtClean="0">
                        <a:latin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/>
                      </a:rPr>
                      <m:t>+</m:t>
                    </m:r>
                    <m:r>
                      <a:rPr lang="en-US" sz="2000" b="1" i="1" smtClean="0">
                        <a:latin typeface="Cambria Math"/>
                      </a:rPr>
                      <m:t>𝒊𝒚</m:t>
                    </m:r>
                  </m:oMath>
                </a14:m>
                <a:endParaRPr lang="en-US" sz="20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32" y="2647890"/>
                <a:ext cx="2318468" cy="400110"/>
              </a:xfrm>
              <a:prstGeom prst="rect">
                <a:avLst/>
              </a:prstGeom>
              <a:blipFill rotWithShape="1">
                <a:blip r:embed="rId10"/>
                <a:stretch>
                  <a:fillRect l="-2895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044093" y="2640901"/>
                <a:ext cx="4652107" cy="4070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sv-SE" sz="2000" b="1" dirty="0">
                    <a:latin typeface="Times New Roman" pitchFamily="18" charset="0"/>
                    <a:cs typeface="Times New Roman" pitchFamily="18" charset="0"/>
                  </a:rPr>
                  <a:t>sedangkan: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𝒊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1" i="1" smtClean="0">
                        <a:latin typeface="Cambria Math"/>
                      </a:rPr>
                      <m:t>𝒊</m:t>
                    </m:r>
                    <m:r>
                      <a:rPr lang="en-US" sz="2000" b="1" i="1" smtClean="0">
                        <a:latin typeface="Cambria Math"/>
                      </a:rPr>
                      <m:t>.</m:t>
                    </m:r>
                    <m:r>
                      <a:rPr lang="en-US" sz="2000" b="1" i="1" smtClean="0">
                        <a:latin typeface="Cambria Math"/>
                      </a:rPr>
                      <m:t>𝒊</m:t>
                    </m:r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𝟎</m:t>
                        </m:r>
                        <m:r>
                          <a:rPr lang="en-US" sz="2000" b="1" i="1" smtClean="0">
                            <a:latin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e>
                    </m:d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𝟎</m:t>
                        </m:r>
                        <m:r>
                          <a:rPr lang="en-US" sz="2000" b="1" i="1" smtClean="0">
                            <a:latin typeface="Cambria Math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sz="2000" b="1" i="1" smtClean="0">
                        <a:latin typeface="Cambria Math"/>
                      </a:rPr>
                      <m:t>=−</m:t>
                    </m:r>
                    <m:r>
                      <a:rPr lang="en-US" sz="2000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093" y="2640901"/>
                <a:ext cx="4652107" cy="407099"/>
              </a:xfrm>
              <a:prstGeom prst="rect">
                <a:avLst/>
              </a:prstGeom>
              <a:blipFill rotWithShape="1">
                <a:blip r:embed="rId11"/>
                <a:stretch>
                  <a:fillRect l="-1309" t="-5970" r="-1832" b="-25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62000" y="2971800"/>
                <a:ext cx="7610272" cy="10806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Modulus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atau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nilai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absolut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bilangan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kompleks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𝒛</m:t>
                    </m:r>
                    <m:r>
                      <a:rPr lang="en-US" sz="2000" b="1" i="1">
                        <a:latin typeface="Cambria Math"/>
                      </a:rPr>
                      <m:t>=</m:t>
                    </m:r>
                    <m:r>
                      <a:rPr lang="en-US" sz="2000" b="1" i="1">
                        <a:latin typeface="Cambria Math"/>
                      </a:rPr>
                      <m:t>𝒙</m:t>
                    </m:r>
                    <m:r>
                      <a:rPr lang="en-US" sz="2000" b="1" i="1">
                        <a:latin typeface="Cambria Math"/>
                      </a:rPr>
                      <m:t>+</m:t>
                    </m:r>
                    <m:r>
                      <a:rPr lang="en-US" sz="2000" b="1" i="1">
                        <a:latin typeface="Cambria Math"/>
                      </a:rPr>
                      <m:t>𝒊𝒚</m:t>
                    </m:r>
                  </m:oMath>
                </a14:m>
                <a:endParaRPr lang="en-US" sz="2000" b="1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didefinisikan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sebagai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jarak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antara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pusat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sumbu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diberikan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sebagai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971800"/>
                <a:ext cx="7610272" cy="1080617"/>
              </a:xfrm>
              <a:prstGeom prst="rect">
                <a:avLst/>
              </a:prstGeom>
              <a:blipFill rotWithShape="1">
                <a:blip r:embed="rId12"/>
                <a:stretch>
                  <a:fillRect l="-801" t="-2825" r="-80" b="-7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62000" y="4019490"/>
                <a:ext cx="46528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Misalkan: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019490"/>
                <a:ext cx="4652810" cy="400110"/>
              </a:xfrm>
              <a:prstGeom prst="rect">
                <a:avLst/>
              </a:prstGeom>
              <a:blipFill rotWithShape="1">
                <a:blip r:embed="rId13"/>
                <a:stretch>
                  <a:fillRect l="-1311" t="-7576" r="-209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62000" y="4343400"/>
                <a:ext cx="5254947" cy="465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maka: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343400"/>
                <a:ext cx="5254947" cy="465064"/>
              </a:xfrm>
              <a:prstGeom prst="rect">
                <a:avLst/>
              </a:prstGeom>
              <a:blipFill rotWithShape="1">
                <a:blip r:embed="rId14"/>
                <a:stretch>
                  <a:fillRect l="-1160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8C904A4-958F-5596-2241-3E37D0D837F0}"/>
                  </a:ext>
                </a:extLst>
              </p:cNvPr>
              <p:cNvSpPr/>
              <p:nvPr/>
            </p:nvSpPr>
            <p:spPr>
              <a:xfrm>
                <a:off x="755493" y="4880230"/>
                <a:ext cx="7696200" cy="10429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Bilangan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kompleks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konjugate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(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sekawan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)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𝑧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</a:rPr>
                      <m:t>𝑖𝑦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didefinisikan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sebagai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bilangan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kompleks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yang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didapatkan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bila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dicerminkan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terhadap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sumbu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riil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diberikan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</m:acc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</a:rPr>
                      <m:t>−</m:t>
                    </m:r>
                    <m:r>
                      <a:rPr lang="en-US" sz="2000" b="0" i="1" smtClean="0">
                        <a:latin typeface="Cambria Math"/>
                      </a:rPr>
                      <m:t>𝑖𝑦</m:t>
                    </m:r>
                  </m:oMath>
                </a14:m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8C904A4-958F-5596-2241-3E37D0D837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93" y="4880230"/>
                <a:ext cx="7696200" cy="1042914"/>
              </a:xfrm>
              <a:prstGeom prst="rect">
                <a:avLst/>
              </a:prstGeom>
              <a:blipFill>
                <a:blip r:embed="rId15"/>
                <a:stretch>
                  <a:fillRect l="-872" t="-3509" r="-158"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189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9" grpId="0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17" grpId="0"/>
      <p:bldP spid="18" grpId="0"/>
      <p:bldP spid="21" grpId="0"/>
      <p:bldP spid="22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85800" y="869090"/>
                <a:ext cx="1600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1.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𝑧</m:t>
                            </m:r>
                          </m:e>
                        </m:acc>
                      </m:e>
                    </m:d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869090"/>
                <a:ext cx="1600200" cy="400110"/>
              </a:xfrm>
              <a:prstGeom prst="rect">
                <a:avLst/>
              </a:prstGeom>
              <a:blipFill>
                <a:blip r:embed="rId2"/>
                <a:stretch>
                  <a:fillRect l="-4198" t="-9231" r="-1908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238756" y="845076"/>
                <a:ext cx="15856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2.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𝑧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</m:acc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𝑧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756" y="845076"/>
                <a:ext cx="1585610" cy="400110"/>
              </a:xfrm>
              <a:prstGeom prst="rect">
                <a:avLst/>
              </a:prstGeom>
              <a:blipFill>
                <a:blip r:embed="rId3"/>
                <a:stretch>
                  <a:fillRect l="-3846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824366" y="738119"/>
                <a:ext cx="4076700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3.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𝑅𝑒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  <m:r>
                          <a:rPr lang="en-US" sz="2000" b="0" i="1" smtClean="0">
                            <a:latin typeface="Cambria Math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𝑧</m:t>
                            </m:r>
                          </m:e>
                        </m:acc>
                      </m:num>
                      <m:den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𝐼𝑚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sz="20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  <m:r>
                          <a:rPr lang="en-US" sz="2000" b="0" i="1" smtClean="0"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𝑧</m:t>
                            </m:r>
                          </m:e>
                        </m:acc>
                      </m:num>
                      <m:den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den>
                    </m:f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366" y="738119"/>
                <a:ext cx="4076700" cy="530530"/>
              </a:xfrm>
              <a:prstGeom prst="rect">
                <a:avLst/>
              </a:prstGeom>
              <a:blipFill>
                <a:blip r:embed="rId4"/>
                <a:stretch>
                  <a:fillRect l="-1495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654612" y="1310567"/>
                <a:ext cx="4343400" cy="9985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z="2000" dirty="0">
                    <a:latin typeface="Times New Roman" pitchFamily="18" charset="0"/>
                    <a:cs typeface="Times New Roman" pitchFamily="18" charset="0"/>
                  </a:rPr>
                  <a:t>Contoh 1.2. Hitung modulus dari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2+3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</a:rPr>
                          <m:t>1−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den>
                    </m:f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Jawab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: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/>
                              </a:rPr>
                              <m:t>2+3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𝑖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</a:rPr>
                              <m:t>1−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latin typeface="Cambria Math"/>
                          </a:rPr>
                          <m:t>26</m:t>
                        </m:r>
                      </m:e>
                    </m:rad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12" y="1310567"/>
                <a:ext cx="4343400" cy="998543"/>
              </a:xfrm>
              <a:prstGeom prst="rect">
                <a:avLst/>
              </a:prstGeom>
              <a:blipFill>
                <a:blip r:embed="rId5"/>
                <a:stretch>
                  <a:fillRect l="-1403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590782" y="2355199"/>
                <a:ext cx="70866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2000" b="1" dirty="0">
                    <a:latin typeface="Times New Roman" pitchFamily="18" charset="0"/>
                    <a:cs typeface="Times New Roman" pitchFamily="18" charset="0"/>
                  </a:rPr>
                  <a:t>C. Bentuk Polar / Trigonometri,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𝒛</m:t>
                    </m:r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1" i="1" smtClean="0">
                        <a:latin typeface="Cambria Math"/>
                      </a:rPr>
                      <m:t>𝒓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/>
                          </a:rPr>
                          <m:t>𝒄𝒐𝒔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𝜽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+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𝒊𝒔𝒊𝒏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𝜽</m:t>
                        </m:r>
                      </m:e>
                    </m:d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1" i="1" smtClean="0">
                        <a:latin typeface="Cambria Math"/>
                      </a:rPr>
                      <m:t>𝒓𝒄𝒊𝒔</m:t>
                    </m:r>
                    <m:r>
                      <a:rPr lang="en-US" sz="2000" b="1" i="1" smtClean="0">
                        <a:latin typeface="Cambria Math"/>
                        <a:ea typeface="Cambria Math"/>
                      </a:rPr>
                      <m:t>𝜽</m:t>
                    </m:r>
                  </m:oMath>
                </a14:m>
                <a:endParaRPr lang="en-US" sz="20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82" y="2355199"/>
                <a:ext cx="7086600" cy="400110"/>
              </a:xfrm>
              <a:prstGeom prst="rect">
                <a:avLst/>
              </a:prstGeom>
              <a:blipFill>
                <a:blip r:embed="rId6"/>
                <a:stretch>
                  <a:fillRect l="-947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647700" y="2783854"/>
                <a:ext cx="73533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Notasi di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atas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menyatakan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bahwa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𝑟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𝑚𝑜𝑑𝑢𝑙𝑢𝑠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endParaRPr lang="en-US" sz="2000" b="0" dirty="0">
                  <a:latin typeface="Times New Roman" pitchFamily="18" charset="0"/>
                </a:endParaRPr>
              </a:p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dan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𝜃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𝑎𝑟𝑔𝑢𝑚𝑒𝑛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𝑎𝑟𝑔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sz="2000" b="0" i="0" smtClean="0">
                        <a:latin typeface="Cambria Math"/>
                        <a:ea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ea typeface="Cambria Math"/>
                      </a:rPr>
                      <m:t>yaitu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sudut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yang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dibentuk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oleh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𝑧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sumbu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riil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positif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2783854"/>
                <a:ext cx="7353300" cy="1015663"/>
              </a:xfrm>
              <a:prstGeom prst="rect">
                <a:avLst/>
              </a:prstGeom>
              <a:blipFill>
                <a:blip r:embed="rId7"/>
                <a:stretch>
                  <a:fillRect l="-829" t="-3614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/>
              <p:cNvSpPr txBox="1"/>
              <p:nvPr/>
            </p:nvSpPr>
            <p:spPr>
              <a:xfrm>
                <a:off x="647700" y="3796034"/>
                <a:ext cx="4495800" cy="465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dirty="0">
                    <a:latin typeface="Times New Roman" pitchFamily="18" charset="0"/>
                    <a:cs typeface="Times New Roman" pitchFamily="18" charset="0"/>
                  </a:rPr>
                  <a:t>Nilai modulus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𝑧</m:t>
                    </m:r>
                    <m:r>
                      <a:rPr lang="en-US" sz="2000" b="0" i="1" smtClean="0">
                        <a:latin typeface="Cambria Math"/>
                      </a:rPr>
                      <m:t>, </m:t>
                    </m:r>
                  </m:oMath>
                </a14:m>
                <a:r>
                  <a:rPr lang="en-US" sz="2000" b="0" dirty="0">
                    <a:latin typeface="Times New Roman" pitchFamily="18" charset="0"/>
                    <a:cs typeface="Times New Roman" pitchFamily="18" charset="0"/>
                  </a:rPr>
                  <a:t>yaitu: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𝑟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3796034"/>
                <a:ext cx="4495800" cy="465064"/>
              </a:xfrm>
              <a:prstGeom prst="rect">
                <a:avLst/>
              </a:prstGeom>
              <a:blipFill>
                <a:blip r:embed="rId8"/>
                <a:stretch>
                  <a:fillRect l="-1355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/>
              <p:cNvSpPr txBox="1"/>
              <p:nvPr/>
            </p:nvSpPr>
            <p:spPr>
              <a:xfrm>
                <a:off x="709534" y="4316512"/>
                <a:ext cx="1905000" cy="956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dari 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𝑖𝑛</m:t>
                                  </m:r>
                                </m:fName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=</m:t>
                                  </m:r>
                                  <m:f>
                                    <m:f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𝑟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𝑐𝑜𝑠</m:t>
                                  </m:r>
                                </m:fName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=</m:t>
                                  </m:r>
                                  <m:f>
                                    <m:f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𝑟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34" y="4316512"/>
                <a:ext cx="1905000" cy="956993"/>
              </a:xfrm>
              <a:prstGeom prst="rect">
                <a:avLst/>
              </a:prstGeom>
              <a:blipFill>
                <a:blip r:embed="rId9"/>
                <a:stretch>
                  <a:fillRect l="-3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ight Arrow 70"/>
          <p:cNvSpPr/>
          <p:nvPr/>
        </p:nvSpPr>
        <p:spPr>
          <a:xfrm>
            <a:off x="2589373" y="4675255"/>
            <a:ext cx="381000" cy="144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/>
              <p:cNvSpPr txBox="1"/>
              <p:nvPr/>
            </p:nvSpPr>
            <p:spPr>
              <a:xfrm>
                <a:off x="3012725" y="4498265"/>
                <a:ext cx="30997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d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idapat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𝜃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𝑎𝑟𝑔𝑢𝑚𝑒𝑛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725" y="4498265"/>
                <a:ext cx="3099736" cy="400110"/>
              </a:xfrm>
              <a:prstGeom prst="rect">
                <a:avLst/>
              </a:prstGeom>
              <a:blipFill>
                <a:blip r:embed="rId10"/>
                <a:stretch>
                  <a:fillRect l="-1965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/>
              <p:cNvSpPr txBox="1"/>
              <p:nvPr/>
            </p:nvSpPr>
            <p:spPr>
              <a:xfrm>
                <a:off x="685800" y="5331201"/>
                <a:ext cx="3886200" cy="504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a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tau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𝑎𝑟𝑔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𝑎𝑟𝑐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𝑡𝑔</m:t>
                    </m:r>
                    <m:r>
                      <a:rPr lang="en-US" sz="2000" b="0" i="1" smtClean="0"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331201"/>
                <a:ext cx="3886200" cy="504177"/>
              </a:xfrm>
              <a:prstGeom prst="rect">
                <a:avLst/>
              </a:prstGeom>
              <a:blipFill>
                <a:blip r:embed="rId11"/>
                <a:stretch>
                  <a:fillRect l="-1727"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/>
          <p:cNvSpPr txBox="1"/>
          <p:nvPr/>
        </p:nvSpPr>
        <p:spPr>
          <a:xfrm>
            <a:off x="0" y="0"/>
            <a:ext cx="762000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lgerian" pitchFamily="82" charset="0"/>
                <a:cs typeface="Times New Roman" pitchFamily="18" charset="0"/>
              </a:rPr>
              <a:t>Slide 3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255844" y="3954931"/>
            <a:ext cx="2183538" cy="1787842"/>
            <a:chOff x="5969862" y="4401979"/>
            <a:chExt cx="2183538" cy="1787842"/>
          </a:xfrm>
        </p:grpSpPr>
        <p:grpSp>
          <p:nvGrpSpPr>
            <p:cNvPr id="68" name="Group 67"/>
            <p:cNvGrpSpPr/>
            <p:nvPr/>
          </p:nvGrpSpPr>
          <p:grpSpPr>
            <a:xfrm>
              <a:off x="5969862" y="4401979"/>
              <a:ext cx="2183538" cy="1694021"/>
              <a:chOff x="3150462" y="4706779"/>
              <a:chExt cx="2183538" cy="1694021"/>
            </a:xfrm>
          </p:grpSpPr>
          <p:cxnSp>
            <p:nvCxnSpPr>
              <p:cNvPr id="15" name="Straight Arrow Connector 14"/>
              <p:cNvCxnSpPr/>
              <p:nvPr/>
            </p:nvCxnSpPr>
            <p:spPr>
              <a:xfrm flipV="1">
                <a:off x="3352800" y="4706779"/>
                <a:ext cx="0" cy="1428691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>
                <a:off x="3352800" y="6135469"/>
                <a:ext cx="1447800" cy="816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3338208" y="4706779"/>
                    <a:ext cx="852792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0" i="1" smtClean="0">
                              <a:latin typeface="Cambria Math"/>
                            </a:rPr>
                            <m:t>𝑌</m:t>
                          </m:r>
                          <m:r>
                            <a:rPr lang="en-US" sz="1000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US" sz="1000" b="0" i="1" smtClean="0">
                              <a:latin typeface="Cambria Math"/>
                            </a:rPr>
                            <m:t>𝐼𝑚</m:t>
                          </m:r>
                          <m:d>
                            <m:d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 smtClean="0">
                                  <a:latin typeface="Cambria Math"/>
                                </a:rPr>
                                <m:t>𝑍</m:t>
                              </m:r>
                            </m:e>
                          </m:d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8208" y="4706779"/>
                    <a:ext cx="852792" cy="246221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b="-1219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4438648" y="6154579"/>
                    <a:ext cx="895352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sz="1000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US" sz="1000" b="0" i="1" smtClean="0">
                              <a:latin typeface="Cambria Math"/>
                            </a:rPr>
                            <m:t>𝑅𝑒</m:t>
                          </m:r>
                          <m:d>
                            <m:d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21" name="TextBox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38648" y="6154579"/>
                    <a:ext cx="895352" cy="246221"/>
                  </a:xfrm>
                  <a:prstGeom prst="rect">
                    <a:avLst/>
                  </a:prstGeom>
                  <a:blipFill rotWithShape="1">
                    <a:blip r:embed="rId21"/>
                    <a:stretch>
                      <a:fillRect b="-1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3150462" y="6096000"/>
                    <a:ext cx="303225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0" i="1" smtClean="0">
                              <a:latin typeface="Cambria Math"/>
                            </a:rPr>
                            <m:t>𝑂</m:t>
                          </m:r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50462" y="6096000"/>
                    <a:ext cx="303225" cy="246221"/>
                  </a:xfrm>
                  <a:prstGeom prst="rect">
                    <a:avLst/>
                  </a:prstGeom>
                  <a:blipFill rotWithShape="1">
                    <a:blip r:embed="rId22"/>
                    <a:stretch>
                      <a:fillRect r="-2000" b="-1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3352800" y="5956756"/>
                    <a:ext cx="28943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i="1" smtClean="0">
                              <a:latin typeface="Cambria Math"/>
                              <a:ea typeface="Cambria Math"/>
                            </a:rPr>
                            <m:t>𝜃</m:t>
                          </m:r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23" name="TextBox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52800" y="5956756"/>
                    <a:ext cx="289438" cy="246221"/>
                  </a:xfrm>
                  <a:prstGeom prst="rect">
                    <a:avLst/>
                  </a:prstGeom>
                  <a:blipFill rotWithShape="1">
                    <a:blip r:embed="rId23"/>
                    <a:stretch>
                      <a:fillRect r="-2128" b="-1219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Connector 24"/>
              <p:cNvCxnSpPr/>
              <p:nvPr/>
            </p:nvCxnSpPr>
            <p:spPr>
              <a:xfrm flipV="1">
                <a:off x="3367391" y="5201055"/>
                <a:ext cx="685801" cy="9144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4038600" y="5181600"/>
                <a:ext cx="14592" cy="9711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flipH="1">
                <a:off x="3352800" y="5201055"/>
                <a:ext cx="700392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3581400" y="6096000"/>
                    <a:ext cx="286360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0" i="1" smtClean="0">
                              <a:latin typeface="Cambria Math"/>
                            </a:rPr>
                            <m:t>𝑥</m:t>
                          </m:r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1400" y="6096000"/>
                    <a:ext cx="286360" cy="246221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r="-2128" b="-1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/>
                  <p:cNvSpPr txBox="1"/>
                  <p:nvPr/>
                </p:nvSpPr>
                <p:spPr>
                  <a:xfrm>
                    <a:off x="3979365" y="5621179"/>
                    <a:ext cx="287835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0" i="1" smtClean="0">
                              <a:latin typeface="Cambria Math"/>
                            </a:rPr>
                            <m:t>𝑦</m:t>
                          </m:r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32" name="TextBox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9365" y="5621179"/>
                    <a:ext cx="287835" cy="246221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r="-2083" b="-1219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Arc 44"/>
              <p:cNvSpPr/>
              <p:nvPr/>
            </p:nvSpPr>
            <p:spPr>
              <a:xfrm rot="1843106">
                <a:off x="3313571" y="5946599"/>
                <a:ext cx="343693" cy="394064"/>
              </a:xfrm>
              <a:prstGeom prst="arc">
                <a:avLst>
                  <a:gd name="adj1" fmla="val 16200000"/>
                  <a:gd name="adj2" fmla="val 1976427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6" name="Straight Arrow Connector 55"/>
              <p:cNvCxnSpPr>
                <a:stCxn id="45" idx="0"/>
              </p:cNvCxnSpPr>
              <p:nvPr/>
            </p:nvCxnSpPr>
            <p:spPr>
              <a:xfrm flipH="1" flipV="1">
                <a:off x="3530711" y="5917429"/>
                <a:ext cx="55354" cy="5681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/>
                  <p:cNvSpPr txBox="1"/>
                  <p:nvPr/>
                </p:nvSpPr>
                <p:spPr>
                  <a:xfrm>
                    <a:off x="4038600" y="4953000"/>
                    <a:ext cx="114300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/>
                          </a:rPr>
                          <m:t>𝑧</m:t>
                        </m:r>
                        <m:r>
                          <a:rPr lang="en-US" sz="1200" b="0" i="1" smtClean="0">
                            <a:latin typeface="Cambria Math"/>
                          </a:rPr>
                          <m:t>=</m:t>
                        </m:r>
                        <m:d>
                          <m:d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en-US" sz="1200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/>
                              </a:rPr>
                              <m:t>𝑦</m:t>
                            </m:r>
                          </m:e>
                        </m:d>
                      </m:oMath>
                    </a14:m>
                    <a:r>
                      <a:rPr lang="en-US" sz="1200" dirty="0"/>
                      <a:t> </a:t>
                    </a:r>
                    <a:r>
                      <a:rPr lang="en-US" sz="1200" dirty="0" err="1"/>
                      <a:t>atau</a:t>
                    </a:r>
                    <a:r>
                      <a:rPr lang="en-US" sz="1200" dirty="0"/>
                      <a:t>  </a:t>
                    </a:r>
                    <a14:m>
                      <m:oMath xmlns:m="http://schemas.openxmlformats.org/officeDocument/2006/math">
                        <m:r>
                          <a:rPr lang="en-US" sz="1200" b="0" i="1" smtClean="0">
                            <a:latin typeface="Cambria Math"/>
                          </a:rPr>
                          <m:t>𝑧</m:t>
                        </m:r>
                        <m:r>
                          <a:rPr lang="en-US" sz="1200" b="0" i="1" smtClean="0">
                            <a:latin typeface="Cambria Math"/>
                          </a:rPr>
                          <m:t>=</m:t>
                        </m:r>
                        <m:r>
                          <a:rPr lang="en-US" sz="1200" b="0" i="1" smtClean="0">
                            <a:latin typeface="Cambria Math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/>
                          </a:rPr>
                          <m:t>+</m:t>
                        </m:r>
                        <m:r>
                          <a:rPr lang="en-US" sz="1200" b="0" i="1" smtClean="0">
                            <a:latin typeface="Cambria Math"/>
                          </a:rPr>
                          <m:t>𝑖𝑦</m:t>
                        </m:r>
                      </m:oMath>
                    </a14:m>
                    <a:r>
                      <a:rPr lang="en-US" sz="1200" dirty="0"/>
                      <a:t> </a:t>
                    </a:r>
                  </a:p>
                </p:txBody>
              </p:sp>
            </mc:Choice>
            <mc:Fallback xmlns="">
              <p:sp>
                <p:nvSpPr>
                  <p:cNvPr id="63" name="TextBox 6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38600" y="4953000"/>
                    <a:ext cx="1143000" cy="461665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r="-4255" b="-9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/>
                  <p:cNvSpPr txBox="1"/>
                  <p:nvPr/>
                </p:nvSpPr>
                <p:spPr>
                  <a:xfrm rot="18359519">
                    <a:off x="3334697" y="5476220"/>
                    <a:ext cx="590610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000" b="0" i="1" smtClean="0">
                              <a:latin typeface="Cambria Math"/>
                            </a:rPr>
                            <m:t>𝑟</m:t>
                          </m:r>
                          <m:r>
                            <a:rPr lang="en-US" sz="1000" b="0" i="1" smtClean="0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</m:oMath>
                      </m:oMathPara>
                    </a14:m>
                    <a:endParaRPr lang="en-US" sz="1000" dirty="0"/>
                  </a:p>
                </p:txBody>
              </p:sp>
            </mc:Choice>
            <mc:Fallback xmlns="">
              <p:sp>
                <p:nvSpPr>
                  <p:cNvPr id="65" name="TextBox 6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8359519">
                    <a:off x="3334697" y="5476220"/>
                    <a:ext cx="590610" cy="246221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 r="-444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TextBox 3"/>
            <p:cNvSpPr txBox="1"/>
            <p:nvPr/>
          </p:nvSpPr>
          <p:spPr>
            <a:xfrm>
              <a:off x="6350111" y="5943600"/>
              <a:ext cx="104128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Times New Roman" pitchFamily="18" charset="0"/>
                  <a:cs typeface="Times New Roman" pitchFamily="18" charset="0"/>
                </a:rPr>
                <a:t>Gambar 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762000" y="5935097"/>
                <a:ext cx="7924800" cy="5401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z="2000" dirty="0">
                    <a:latin typeface="Times New Roman" pitchFamily="18" charset="0"/>
                    <a:cs typeface="Times New Roman" pitchFamily="18" charset="0"/>
                  </a:rPr>
                  <a:t>Contoh 1.3. Hitung argumen  dari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2+3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</a:rPr>
                          <m:t>1−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Jw: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𝜃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𝑎𝑟𝑐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𝑡𝑔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−5</m:t>
                        </m:r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(di </a:t>
                </a:r>
                <a:r>
                  <a:rPr lang="en-US" sz="1600" b="1" dirty="0" err="1">
                    <a:latin typeface="Times New Roman" pitchFamily="18" charset="0"/>
                    <a:cs typeface="Times New Roman" pitchFamily="18" charset="0"/>
                  </a:rPr>
                  <a:t>kuadran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 II)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935097"/>
                <a:ext cx="7924800" cy="540148"/>
              </a:xfrm>
              <a:prstGeom prst="rect">
                <a:avLst/>
              </a:prstGeom>
              <a:blipFill>
                <a:blip r:embed="rId24"/>
                <a:stretch>
                  <a:fillRect l="-769" b="-7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556369" y="282868"/>
            <a:ext cx="533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000" b="1" dirty="0">
                <a:latin typeface="Times New Roman" pitchFamily="18" charset="0"/>
                <a:cs typeface="Times New Roman" pitchFamily="18" charset="0"/>
              </a:rPr>
              <a:t>Sifat - sifat yang bersesuaian dengan sekawan:</a:t>
            </a:r>
          </a:p>
        </p:txBody>
      </p:sp>
    </p:spTree>
    <p:extLst>
      <p:ext uri="{BB962C8B-B14F-4D97-AF65-F5344CB8AC3E}">
        <p14:creationId xmlns:p14="http://schemas.microsoft.com/office/powerpoint/2010/main" val="114306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69" grpId="0"/>
      <p:bldP spid="70" grpId="0"/>
      <p:bldP spid="71" grpId="0" animBg="1"/>
      <p:bldP spid="72" grpId="0"/>
      <p:bldP spid="73" grpId="0"/>
      <p:bldP spid="7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822278" y="236330"/>
                <a:ext cx="3197735" cy="4090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D.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Bentuk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Euler ,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𝒁</m:t>
                    </m:r>
                    <m:r>
                      <a:rPr lang="en-US" sz="2000" b="1" i="1" smtClean="0">
                        <a:latin typeface="Cambria Math"/>
                      </a:rPr>
                      <m:t>=</m:t>
                    </m:r>
                    <m:r>
                      <a:rPr lang="en-US" sz="2000" b="1" i="1" smtClean="0">
                        <a:latin typeface="Cambria Math"/>
                      </a:rPr>
                      <m:t>𝒓</m:t>
                    </m:r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/>
                          </a:rPr>
                          <m:t>𝒆</m:t>
                        </m:r>
                      </m:e>
                      <m:sup>
                        <m:r>
                          <a:rPr lang="en-US" sz="2000" b="1" i="1" smtClean="0">
                            <a:latin typeface="Cambria Math"/>
                          </a:rPr>
                          <m:t>𝒊</m:t>
                        </m:r>
                        <m:r>
                          <a:rPr lang="en-US" sz="2000" b="1" i="1" smtClean="0">
                            <a:latin typeface="Cambria Math"/>
                            <a:ea typeface="Cambria Math"/>
                          </a:rPr>
                          <m:t>𝜽</m:t>
                        </m:r>
                      </m:sup>
                    </m:sSup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78" y="236330"/>
                <a:ext cx="3197735" cy="409023"/>
              </a:xfrm>
              <a:prstGeom prst="rect">
                <a:avLst/>
              </a:prstGeom>
              <a:blipFill>
                <a:blip r:embed="rId3"/>
                <a:stretch>
                  <a:fillRect l="-2099" t="-5970" b="-26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838200" y="645353"/>
                <a:ext cx="7315200" cy="7214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Notasi (D)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diturunkan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notasi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(C)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menggunakan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rumus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sebagai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berikut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𝜃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latin typeface="Cambria Math"/>
                          </a:rPr>
                          <m:t>𝑐𝑜𝑠</m:t>
                        </m:r>
                      </m:fName>
                      <m:e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𝜃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𝑖𝑠𝑖𝑛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(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Rumus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Euler 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45353"/>
                <a:ext cx="7315200" cy="721480"/>
              </a:xfrm>
              <a:prstGeom prst="rect">
                <a:avLst/>
              </a:prstGeom>
              <a:blipFill>
                <a:blip r:embed="rId4"/>
                <a:stretch>
                  <a:fillRect l="-917" t="-5085" b="-15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907214" y="2266890"/>
            <a:ext cx="4807786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1.1.2.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Pangkat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Akar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Bilangan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Kompleks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26380" y="2647890"/>
            <a:ext cx="24441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Teorema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Moivre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200400" y="2647890"/>
                <a:ext cx="4572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Untuk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setiap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bilangan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rasional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berlaku: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2647890"/>
                <a:ext cx="4572000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1333" t="-7576" r="-146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200400" y="2952690"/>
                <a:ext cx="542549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𝑐𝑜𝑠</m:t>
                                      </m:r>
                                    </m:fName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𝜃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+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𝑖𝑠𝑖𝑛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 </m:t>
                                      </m:r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000" b="0" i="1" smtClean="0">
                                  <a:latin typeface="Cambria Math"/>
                                </a:rPr>
                                <m:t>𝑐𝑜𝑠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𝑖𝑠𝑖𝑛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2952690"/>
                <a:ext cx="5425492" cy="400110"/>
              </a:xfrm>
              <a:prstGeom prst="rect">
                <a:avLst/>
              </a:prstGeom>
              <a:blipFill rotWithShape="1">
                <a:blip r:embed="rId7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14400" y="3257490"/>
                <a:ext cx="64008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Khusus: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𝑟</m:t>
                    </m:r>
                    <m:r>
                      <a:rPr lang="en-US" sz="2000" b="0" i="1" smtClean="0">
                        <a:latin typeface="Cambria Math"/>
                      </a:rPr>
                      <m:t>=1→</m:t>
                    </m:r>
                  </m:oMath>
                </a14:m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000" b="0" i="1" dirty="0" smtClean="0">
                                    <a:latin typeface="Cambria Math"/>
                                  </a:rPr>
                                  <m:t>𝑐𝑜𝑠</m:t>
                                </m:r>
                              </m:fName>
                              <m:e>
                                <m:r>
                                  <a:rPr lang="en-US" sz="2000" b="0" i="1" dirty="0" smtClean="0">
                                    <a:latin typeface="Cambria Math"/>
                                    <a:ea typeface="Cambria Math"/>
                                  </a:rPr>
                                  <m:t>𝜃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  <a:ea typeface="Cambria Math"/>
                                  </a:rPr>
                                  <m:t>+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  <a:ea typeface="Cambria Math"/>
                                  </a:rPr>
                                  <m:t>𝑖𝑠𝑖𝑛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US" sz="2000" b="0" i="1" dirty="0" smtClean="0">
                                    <a:latin typeface="Cambria Math"/>
                                    <a:ea typeface="Cambria Math"/>
                                  </a:rPr>
                                  <m:t>𝜃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en-US" sz="2000" b="0" i="1" dirty="0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000" b="0" i="1" dirty="0" smtClean="0">
                            <a:latin typeface="Cambria Math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𝑛</m:t>
                            </m:r>
                            <m:r>
                              <a:rPr lang="en-US" sz="2000" b="0" i="1" dirty="0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2000" b="0" i="1" dirty="0" smtClean="0">
                        <a:latin typeface="Cambria Math"/>
                      </a:rPr>
                      <m:t>+</m:t>
                    </m:r>
                    <m:r>
                      <a:rPr lang="en-US" sz="2000" b="0" i="1" dirty="0" smtClean="0">
                        <a:latin typeface="Cambria Math"/>
                      </a:rPr>
                      <m:t>𝑖𝑠𝑖𝑛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𝑛</m:t>
                        </m:r>
                        <m:r>
                          <a:rPr lang="en-US" sz="2000" b="0" i="1" dirty="0" smtClean="0">
                            <a:latin typeface="Cambria Math"/>
                            <a:ea typeface="Cambria Math"/>
                          </a:rPr>
                          <m:t>𝜃</m:t>
                        </m:r>
                      </m:e>
                    </m:d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257490"/>
                <a:ext cx="6400800" cy="400110"/>
              </a:xfrm>
              <a:prstGeom prst="rect">
                <a:avLst/>
              </a:prstGeom>
              <a:blipFill rotWithShape="1">
                <a:blip r:embed="rId8"/>
                <a:stretch>
                  <a:fillRect l="-952" t="-7576" r="-952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99108" y="3581400"/>
                <a:ext cx="5577892" cy="5145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z="2000" dirty="0">
                    <a:latin typeface="Times New Roman" pitchFamily="18" charset="0"/>
                    <a:cs typeface="Times New Roman" pitchFamily="18" charset="0"/>
                  </a:rPr>
                  <a:t>Contoh 1.4. Dapatkan nilai: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sz="20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de-DE" sz="20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2000" b="0" i="1" smtClean="0">
                                    <a:latin typeface="Cambria Math"/>
                                    <a:cs typeface="Times New Roman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/>
                                <a:cs typeface="Times New Roman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Jawab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−64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08" y="3581400"/>
                <a:ext cx="5577892" cy="514500"/>
              </a:xfrm>
              <a:prstGeom prst="rect">
                <a:avLst/>
              </a:prstGeom>
              <a:blipFill rotWithShape="0">
                <a:blip r:embed="rId9"/>
                <a:stretch>
                  <a:fillRect l="-1092" b="-15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914400" y="3962400"/>
            <a:ext cx="19659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Penarikan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Akar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914400" y="4267200"/>
                <a:ext cx="40386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Bentuk: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</a:rPr>
                      <m:t>𝑖𝑦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𝑟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b="0" i="1" smtClean="0">
                                <a:latin typeface="Cambria Math"/>
                              </a:rPr>
                              <m:t>𝑐𝑜𝑠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𝑖𝑠𝑖𝑛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,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267200"/>
                <a:ext cx="4038600" cy="400110"/>
              </a:xfrm>
              <a:prstGeom prst="rect">
                <a:avLst/>
              </a:prstGeom>
              <a:blipFill rotWithShape="1">
                <a:blip r:embed="rId10"/>
                <a:stretch>
                  <a:fillRect l="-1508" t="-7576" r="-286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855723" y="4097932"/>
                <a:ext cx="3962400" cy="77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arena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𝑖𝑛</m:t>
                                  </m:r>
                                </m:fName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=</m:t>
                                  </m:r>
                                  <m:func>
                                    <m:func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𝑠𝑖𝑛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𝜃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20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.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b="0" i="1" smtClean="0">
                                                  <a:latin typeface="Cambria Math" panose="02040503050406030204" pitchFamily="18" charset="0"/>
                                                  <a:ea typeface="Cambria Math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360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0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latin typeface="Cambria Math"/>
                                    </a:rPr>
                                    <m:t>𝑐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𝑜𝑠</m:t>
                                  </m:r>
                                </m:fName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=</m:t>
                                  </m:r>
                                  <m:func>
                                    <m:func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sz="2000" b="0" i="1" smtClean="0">
                                          <a:latin typeface="Cambria Math"/>
                                          <a:ea typeface="Cambria Math"/>
                                        </a:rPr>
                                        <m:t>𝑐𝑜𝑠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𝜃</m:t>
                                          </m:r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.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  <a:ea typeface="Cambria Math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360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0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723" y="4097932"/>
                <a:ext cx="3962400" cy="778868"/>
              </a:xfrm>
              <a:prstGeom prst="rect">
                <a:avLst/>
              </a:prstGeom>
              <a:blipFill rotWithShape="1">
                <a:blip r:embed="rId11"/>
                <a:stretch>
                  <a:fillRect l="-1692" r="-1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914400" y="4970079"/>
            <a:ext cx="2468854" cy="440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Maka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bentuk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menjadi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276600" y="5010090"/>
                <a:ext cx="56388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</a:rPr>
                      <m:t>𝑖𝑦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𝑟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𝑐𝑜𝑠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𝜃</m:t>
                                </m:r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+</m:t>
                                </m:r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360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0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uncPr>
                          <m:fNam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𝑠𝑖𝑛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𝜃</m:t>
                                </m:r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+</m:t>
                                </m:r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𝑘</m:t>
                                </m:r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.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360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0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000" dirty="0">
                    <a:ea typeface="Cambria Math"/>
                  </a:rPr>
                  <a:t> 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5010090"/>
                <a:ext cx="5638800" cy="400110"/>
              </a:xfrm>
              <a:prstGeom prst="rect">
                <a:avLst/>
              </a:prstGeom>
              <a:blipFill rotWithShape="0">
                <a:blip r:embed="rId12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23427" y="5391090"/>
                <a:ext cx="21831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Jika: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</a:rPr>
                      <m:t>𝑖𝑦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427" y="5391090"/>
                <a:ext cx="2183104" cy="400110"/>
              </a:xfrm>
              <a:prstGeom prst="rect">
                <a:avLst/>
              </a:prstGeom>
              <a:blipFill rotWithShape="1">
                <a:blip r:embed="rId13"/>
                <a:stretch>
                  <a:fillRect l="-2786" t="-7576" r="-55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ight Arrow 23"/>
          <p:cNvSpPr/>
          <p:nvPr/>
        </p:nvSpPr>
        <p:spPr>
          <a:xfrm>
            <a:off x="3108908" y="5581710"/>
            <a:ext cx="396292" cy="1332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429000" y="5298846"/>
                <a:ext cx="4038600" cy="56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1.2.3.   …   .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deg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𝑖𝑦</m:t>
                          </m:r>
                        </m:e>
                      </m:ra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𝑖𝑦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5298846"/>
                <a:ext cx="4038600" cy="568554"/>
              </a:xfrm>
              <a:prstGeom prst="rect">
                <a:avLst/>
              </a:prstGeom>
              <a:blipFill rotWithShape="1">
                <a:blip r:embed="rId14"/>
                <a:stretch>
                  <a:fillRect r="-604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914400" y="5924490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Penyelesaian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436717" y="5763533"/>
                <a:ext cx="5945283" cy="1094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1.2.3.   …   .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𝑐𝑜𝑠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𝜃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.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360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𝑖</m:t>
                          </m:r>
                          <m:func>
                            <m:func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000" b="0" i="1" smtClean="0">
                                  <a:latin typeface="Cambria Math"/>
                                </a:rPr>
                                <m:t>𝑠𝑖𝑛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+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𝑘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.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360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en-US" sz="2000" i="1" dirty="0"/>
              </a:p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                      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=0,1,2,3,   …   ,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717" y="5763533"/>
                <a:ext cx="5945283" cy="1094467"/>
              </a:xfrm>
              <a:prstGeom prst="rect">
                <a:avLst/>
              </a:prstGeom>
              <a:blipFill rotWithShape="1">
                <a:blip r:embed="rId15"/>
                <a:stretch>
                  <a:fillRect l="-1128" r="-821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914400" y="4705290"/>
                <a:ext cx="30134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𝑘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bilangan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bulat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705290"/>
                <a:ext cx="3013493" cy="400110"/>
              </a:xfrm>
              <a:prstGeom prst="rect">
                <a:avLst/>
              </a:prstGeom>
              <a:blipFill rotWithShape="1">
                <a:blip r:embed="rId16"/>
                <a:stretch>
                  <a:fillRect l="-2024" t="-7576" r="-2834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0" y="0"/>
            <a:ext cx="762000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lgerian" pitchFamily="82" charset="0"/>
                <a:cs typeface="Times New Roman" pitchFamily="18" charset="0"/>
              </a:rPr>
              <a:t>Slide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838200" y="1365904"/>
                <a:ext cx="7482892" cy="8473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Jika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𝑐𝑖𝑠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𝑐𝑖𝑠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Buktikan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𝐚</m:t>
                    </m:r>
                    <m:r>
                      <a:rPr lang="en-US" sz="2000" b="1" i="1">
                        <a:latin typeface="Cambria Math"/>
                      </a:rPr>
                      <m:t>.  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𝒛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𝒛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2000" b="1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𝒓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/>
                          </a:rPr>
                          <m:t>𝒓</m:t>
                        </m:r>
                      </m:e>
                      <m:sub>
                        <m:r>
                          <a:rPr lang="en-US" sz="2000" b="1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2000" b="1" i="1">
                        <a:latin typeface="Cambria Math"/>
                      </a:rPr>
                      <m:t>𝒄𝒊𝒔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/>
                              </a:rPr>
                              <m:t>𝜽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sz="2000" b="1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/>
                              </a:rPr>
                              <m:t>𝜽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 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/>
                              </a:rPr>
                              <m:t>𝒛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/>
                              </a:rPr>
                              <m:t>𝒛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sz="2000" b="1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sz="2000" b="1" i="1">
                        <a:latin typeface="Cambria Math"/>
                      </a:rPr>
                      <m:t>𝒄𝒊𝒔</m:t>
                    </m:r>
                    <m:d>
                      <m:d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/>
                              </a:rPr>
                              <m:t>𝜽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  <m:r>
                          <a:rPr lang="en-US" sz="2000" b="1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/>
                              </a:rPr>
                              <m:t>𝜽</m:t>
                            </m:r>
                          </m:e>
                          <m:sub>
                            <m:r>
                              <a:rPr lang="en-US" sz="2000" b="1" i="1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65904"/>
                <a:ext cx="7482892" cy="847348"/>
              </a:xfrm>
              <a:prstGeom prst="rect">
                <a:avLst/>
              </a:prstGeom>
              <a:blipFill>
                <a:blip r:embed="rId17"/>
                <a:stretch>
                  <a:fillRect l="-896" t="-3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339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762000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lgerian" pitchFamily="82" charset="0"/>
                <a:cs typeface="Times New Roman" pitchFamily="18" charset="0"/>
              </a:rP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3252" y="936296"/>
            <a:ext cx="167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LATIHAN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552" y="127449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  </a:t>
            </a:r>
            <a:r>
              <a:rPr lang="id-ID" sz="2000" dirty="0">
                <a:latin typeface="Times New Roman" pitchFamily="18" charset="0"/>
                <a:cs typeface="Times New Roman" pitchFamily="18" charset="0"/>
              </a:rPr>
              <a:t>Tulis dalam bentuk kutub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865797" y="1245513"/>
                <a:ext cx="3524250" cy="429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a.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𝑧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    b.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𝑧</m:t>
                    </m:r>
                    <m:r>
                      <a:rPr lang="en-US" sz="2000" b="0" i="1" smtClean="0">
                        <a:latin typeface="Cambria Math"/>
                      </a:rPr>
                      <m:t>=3−3</m:t>
                    </m:r>
                    <m:r>
                      <a:rPr lang="en-US" sz="20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797" y="1245513"/>
                <a:ext cx="3524250" cy="429092"/>
              </a:xfrm>
              <a:prstGeom prst="rect">
                <a:avLst/>
              </a:prstGeom>
              <a:blipFill>
                <a:blip r:embed="rId2"/>
                <a:stretch>
                  <a:fillRect l="-1730" b="-23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88552" y="1632732"/>
                <a:ext cx="33528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2. 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Tulis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dalam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bentuk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</a:rPr>
                      <m:t>𝑖𝑦</m:t>
                    </m:r>
                    <m:r>
                      <a:rPr lang="en-US" sz="2000" b="0" i="1" smtClean="0">
                        <a:latin typeface="Cambria Math"/>
                      </a:rPr>
                      <m:t>: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52" y="1632732"/>
                <a:ext cx="3352800" cy="400110"/>
              </a:xfrm>
              <a:prstGeom prst="rect">
                <a:avLst/>
              </a:prstGeom>
              <a:blipFill>
                <a:blip r:embed="rId3"/>
                <a:stretch>
                  <a:fillRect l="-2000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010879" y="2013966"/>
                <a:ext cx="6724650" cy="439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a.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𝑧</m:t>
                    </m:r>
                    <m:r>
                      <a:rPr lang="en-US" sz="2000" b="0" i="1" smtClean="0">
                        <a:latin typeface="Cambria Math"/>
                      </a:rPr>
                      <m:t>=4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b="0" i="1" smtClean="0">
                                <a:latin typeface="Cambria Math"/>
                              </a:rPr>
                              <m:t>𝑐𝑜𝑠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45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°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/>
                              </a:rPr>
                              <m:t>𝑖</m:t>
                            </m:r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𝑠𝑖𝑛</m:t>
                                </m:r>
                              </m:fName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45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°</m:t>
                                    </m:r>
                                  </m:sup>
                                </m:sSup>
                              </m:e>
                            </m:func>
                          </m:e>
                        </m:func>
                      </m:e>
                    </m:d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b.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𝑧</m:t>
                    </m:r>
                    <m:r>
                      <a:rPr lang="en-US" sz="2000" b="0" i="1" smtClean="0">
                        <a:latin typeface="Cambria Math"/>
                      </a:rPr>
                      <m:t>=6</m:t>
                    </m:r>
                  </m:oMath>
                </a14:m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b="0" i="1">
                                <a:latin typeface="Cambria Math"/>
                              </a:rPr>
                              <m:t>𝑐𝑜𝑠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 30</m:t>
                                </m:r>
                              </m:e>
                              <m:sup>
                                <m:r>
                                  <a:rPr lang="en-US" sz="2000" b="0" i="1">
                                    <a:latin typeface="Cambria Math"/>
                                    <a:ea typeface="Cambria Math"/>
                                  </a:rPr>
                                  <m:t>°</m:t>
                                </m:r>
                              </m:sup>
                            </m:sSup>
                            <m:r>
                              <a:rPr lang="en-US" sz="2000" b="0" i="1">
                                <a:latin typeface="Cambria Math"/>
                              </a:rPr>
                              <m:t>+</m:t>
                            </m:r>
                            <m:r>
                              <a:rPr lang="en-US" sz="2000" b="0" i="1">
                                <a:latin typeface="Cambria Math"/>
                              </a:rPr>
                              <m:t>𝑖</m:t>
                            </m:r>
                            <m:func>
                              <m:func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000" b="0" i="1">
                                    <a:latin typeface="Cambria Math"/>
                                  </a:rPr>
                                  <m:t>𝑠𝑖𝑛</m:t>
                                </m:r>
                              </m:fName>
                              <m:e>
                                <m:sSup>
                                  <m:sSup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30</m:t>
                                    </m:r>
                                  </m:e>
                                  <m:sup>
                                    <m:r>
                                      <a:rPr lang="en-US" sz="2000" b="0" i="1">
                                        <a:latin typeface="Cambria Math"/>
                                        <a:ea typeface="Cambria Math"/>
                                      </a:rPr>
                                      <m:t>°</m:t>
                                    </m:r>
                                  </m:sup>
                                </m:sSup>
                              </m:e>
                            </m:func>
                          </m:e>
                        </m:func>
                      </m:e>
                    </m:d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879" y="2013966"/>
                <a:ext cx="6724650" cy="439736"/>
              </a:xfrm>
              <a:prstGeom prst="rect">
                <a:avLst/>
              </a:prstGeom>
              <a:blipFill>
                <a:blip r:embed="rId4"/>
                <a:stretch>
                  <a:fillRect l="-997" t="-2740" b="-17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88552" y="2488003"/>
                <a:ext cx="6553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3.  </a:t>
                </a:r>
                <a:r>
                  <a:rPr lang="id-ID" sz="2000" dirty="0">
                    <a:latin typeface="Times New Roman" pitchFamily="18" charset="0"/>
                    <a:cs typeface="Times New Roman" pitchFamily="18" charset="0"/>
                  </a:rPr>
                  <a:t>Laksanakan operasi berikut dan tulis dalam bentuk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</a:rPr>
                      <m:t>𝑖𝑦</m:t>
                    </m:r>
                    <m:r>
                      <a:rPr lang="en-US" sz="2000" b="0" i="1" smtClean="0">
                        <a:latin typeface="Cambria Math"/>
                      </a:rPr>
                      <m:t>: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52" y="2488003"/>
                <a:ext cx="6553200" cy="400110"/>
              </a:xfrm>
              <a:prstGeom prst="rect">
                <a:avLst/>
              </a:prstGeom>
              <a:blipFill>
                <a:blip r:embed="rId5"/>
                <a:stretch>
                  <a:fillRect l="-1023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010879" y="2826765"/>
                <a:ext cx="5810250" cy="1109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dirty="0"/>
                  <a:t>a. </a:t>
                </a:r>
                <a:r>
                  <a:rPr lang="en-US" sz="2000" b="0" i="1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3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𝑐𝑜𝑠</m:t>
                                </m:r>
                              </m:fName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15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/>
                                        <a:ea typeface="Cambria Math"/>
                                      </a:rPr>
                                      <m:t>°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𝑖</m:t>
                                </m:r>
                                <m:func>
                                  <m:func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𝑠𝑖𝑛</m:t>
                                    </m:r>
                                  </m:fName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15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°</m:t>
                                        </m:r>
                                      </m:sup>
                                    </m:sSup>
                                  </m:e>
                                </m:func>
                              </m:e>
                            </m:func>
                          </m:e>
                        </m:d>
                      </m:e>
                    </m:d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000" i="1">
                                    <a:latin typeface="Cambria Math"/>
                                  </a:rPr>
                                  <m:t>𝑐𝑜𝑠</m:t>
                                </m:r>
                              </m:fName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7</m:t>
                                    </m:r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latin typeface="Cambria Math"/>
                                        <a:ea typeface="Cambria Math"/>
                                      </a:rPr>
                                      <m:t>°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i="1">
                                    <a:latin typeface="Cambria Math"/>
                                  </a:rPr>
                                  <m:t>𝑖</m:t>
                                </m:r>
                                <m:func>
                                  <m:func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𝑠𝑖𝑛</m:t>
                                    </m:r>
                                  </m:fName>
                                  <m:e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7</m:t>
                                        </m:r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latin typeface="Cambria Math"/>
                                            <a:ea typeface="Cambria Math"/>
                                          </a:rPr>
                                          <m:t>°</m:t>
                                        </m:r>
                                      </m:sup>
                                    </m:sSup>
                                  </m:e>
                                </m:func>
                              </m:e>
                            </m:func>
                          </m:e>
                        </m:d>
                      </m:e>
                    </m:d>
                  </m:oMath>
                </a14:m>
                <a:endParaRPr lang="en-US" sz="2000" b="0" i="1" dirty="0">
                  <a:latin typeface="Cambria Math"/>
                </a:endParaRPr>
              </a:p>
              <a:p>
                <a:r>
                  <a:rPr lang="en-US" sz="2000" b="0" dirty="0"/>
                  <a:t>b. </a:t>
                </a:r>
                <a:r>
                  <a:rPr lang="en-US" sz="2000" b="0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20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𝑐𝑜𝑠</m:t>
                                </m:r>
                              </m:fName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83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/>
                                        <a:ea typeface="Cambria Math"/>
                                      </a:rPr>
                                      <m:t>°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𝑖</m:t>
                                </m:r>
                                <m:func>
                                  <m:func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𝑠𝑖𝑛</m:t>
                                    </m:r>
                                  </m:fName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83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°</m:t>
                                        </m:r>
                                      </m:sup>
                                    </m:sSup>
                                  </m:e>
                                </m:func>
                              </m:e>
                            </m:func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/>
                          </a:rPr>
                          <m:t>5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𝑐𝑜𝑠</m:t>
                                </m:r>
                              </m:fName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23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/>
                                        <a:ea typeface="Cambria Math"/>
                                      </a:rPr>
                                      <m:t>°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𝑠𝑖𝑛</m:t>
                                </m:r>
                              </m:e>
                            </m:func>
                            <m:r>
                              <a:rPr lang="en-US" sz="2000" b="0" i="1" smtClean="0">
                                <a:latin typeface="Cambria Math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23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°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879" y="2826765"/>
                <a:ext cx="5810250" cy="1109406"/>
              </a:xfrm>
              <a:prstGeom prst="rect">
                <a:avLst/>
              </a:prstGeom>
              <a:blipFill>
                <a:blip r:embed="rId6"/>
                <a:stretch>
                  <a:fillRect l="-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776748" y="3904553"/>
                <a:ext cx="33528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4.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Tulis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dalam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bentuk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r>
                      <a:rPr lang="en-US" sz="2000" b="0" i="1" smtClean="0">
                        <a:latin typeface="Cambria Math"/>
                      </a:rPr>
                      <m:t>𝑖𝑦</m:t>
                    </m:r>
                    <m:r>
                      <a:rPr lang="en-US" sz="2000" b="0" i="1" smtClean="0">
                        <a:latin typeface="Cambria Math"/>
                      </a:rPr>
                      <m:t>: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48" y="3904553"/>
                <a:ext cx="3352800" cy="400110"/>
              </a:xfrm>
              <a:prstGeom prst="rect">
                <a:avLst/>
              </a:prstGeom>
              <a:blipFill>
                <a:blip r:embed="rId7"/>
                <a:stretch>
                  <a:fillRect l="-1818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977806" y="4281977"/>
                <a:ext cx="5334000" cy="613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a.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5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sSup>
                                      <m:sSup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0" i="1" smtClean="0">
                                            <a:latin typeface="Cambria Math"/>
                                          </a:rPr>
                                          <m:t>30</m:t>
                                        </m:r>
                                      </m:e>
                                      <m:sup>
                                        <m:r>
                                          <a:rPr lang="en-US" sz="2000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°</m:t>
                                        </m:r>
                                      </m:sup>
                                    </m:sSup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  <m:func>
                                      <m:funcPr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000" b="0" i="0" smtClean="0">
                                            <a:latin typeface="Cambria Math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sSup>
                                          <m:sSupPr>
                                            <m:ctrlPr>
                                              <a:rPr lang="en-US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0" i="1" smtClean="0">
                                                <a:latin typeface="Cambria Math"/>
                                              </a:rPr>
                                              <m:t>30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0" i="1" smtClean="0">
                                                <a:latin typeface="Cambria Math"/>
                                                <a:ea typeface="Cambria Math"/>
                                              </a:rPr>
                                              <m:t>°</m:t>
                                            </m:r>
                                          </m:sup>
                                        </m:sSup>
                                      </m:e>
                                    </m:func>
                                  </m:e>
                                </m:func>
                              </m:e>
                            </m:d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  b.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𝑧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−1+</m:t>
                            </m:r>
                            <m:r>
                              <a:rPr lang="en-US" sz="20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6</m:t>
                        </m:r>
                      </m:sup>
                    </m:sSup>
                  </m:oMath>
                </a14:m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806" y="4281977"/>
                <a:ext cx="5334000" cy="613758"/>
              </a:xfrm>
              <a:prstGeom prst="rect">
                <a:avLst/>
              </a:prstGeom>
              <a:blipFill>
                <a:blip r:embed="rId8"/>
                <a:stretch>
                  <a:fillRect l="-1143" b="-3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764458" y="5179630"/>
                <a:ext cx="33528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5. </a:t>
                </a:r>
                <a:r>
                  <a:rPr lang="id-ID" sz="2000" dirty="0">
                    <a:latin typeface="Times New Roman" pitchFamily="18" charset="0"/>
                    <a:cs typeface="Times New Roman" pitchFamily="18" charset="0"/>
                  </a:rPr>
                  <a:t>Tulis dalam bentuk  </a:t>
                </a:r>
                <a14:m>
                  <m:oMath xmlns:m="http://schemas.openxmlformats.org/officeDocument/2006/math">
                    <m:r>
                      <a:rPr lang="id-ID" sz="2000" b="0" i="1" smtClean="0">
                        <a:latin typeface="Cambria Math"/>
                      </a:rPr>
                      <m:t>𝑥</m:t>
                    </m:r>
                    <m:r>
                      <a:rPr lang="id-ID" sz="2000" b="0" i="1" smtClean="0">
                        <a:latin typeface="Cambria Math"/>
                      </a:rPr>
                      <m:t>+</m:t>
                    </m:r>
                    <m:r>
                      <a:rPr lang="id-ID" sz="2000" b="0" i="1" smtClean="0">
                        <a:latin typeface="Cambria Math"/>
                      </a:rPr>
                      <m:t>𝑖𝑦</m:t>
                    </m:r>
                    <m:r>
                      <a:rPr lang="id-ID" sz="2000" b="0" i="1" smtClean="0">
                        <a:latin typeface="Cambria Math"/>
                      </a:rPr>
                      <m:t>:</m:t>
                    </m:r>
                  </m:oMath>
                </a14:m>
                <a:endParaRPr lang="id-ID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458" y="5179630"/>
                <a:ext cx="3352800" cy="400110"/>
              </a:xfrm>
              <a:prstGeom prst="rect">
                <a:avLst/>
              </a:prstGeom>
              <a:blipFill>
                <a:blip r:embed="rId9"/>
                <a:stretch>
                  <a:fillRect l="-1818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063390" y="4962908"/>
                <a:ext cx="3129064" cy="773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a.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1−</m:t>
                                </m:r>
                                <m:r>
                                  <a:rPr lang="en-US" sz="2000" i="1">
                                    <a:latin typeface="Cambria Math"/>
                                  </a:rPr>
                                  <m:t>𝑖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−2+2</m:t>
                                </m:r>
                                <m:r>
                                  <a:rPr lang="en-US" sz="20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   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1+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1−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𝑖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sz="20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390" y="4962908"/>
                <a:ext cx="3129064" cy="773417"/>
              </a:xfrm>
              <a:prstGeom prst="rect">
                <a:avLst/>
              </a:prstGeom>
              <a:blipFill>
                <a:blip r:embed="rId10"/>
                <a:stretch>
                  <a:fillRect l="-2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751122" y="5803499"/>
            <a:ext cx="487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id-ID" sz="2000" dirty="0">
                <a:latin typeface="Times New Roman" pitchFamily="18" charset="0"/>
                <a:cs typeface="Times New Roman" pitchFamily="18" charset="0"/>
              </a:rPr>
              <a:t>Dapatkan semua akar-akar dari persamaan: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1033002" y="6211774"/>
                <a:ext cx="31035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a.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    b.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4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</a:rPr>
                      <m:t>=−16</m:t>
                    </m:r>
                    <m:r>
                      <a:rPr lang="en-US" sz="20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002" y="6211774"/>
                <a:ext cx="3103529" cy="400110"/>
              </a:xfrm>
              <a:prstGeom prst="rect">
                <a:avLst/>
              </a:prstGeom>
              <a:blipFill>
                <a:blip r:embed="rId11"/>
                <a:stretch>
                  <a:fillRect l="-1961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762000" y="155884"/>
                <a:ext cx="5730292" cy="8347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de-DE" sz="2000" dirty="0">
                    <a:latin typeface="Times New Roman" pitchFamily="18" charset="0"/>
                    <a:cs typeface="Times New Roman" pitchFamily="18" charset="0"/>
                  </a:rPr>
                  <a:t>Contoh 1.5. Dapatkan semua akar-akar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=−1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Jawab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+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e>
                    </m:rad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=−1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e>
                    </m:rad>
                    <m:r>
                      <a:rPr lang="en-US" sz="2000" i="1">
                        <a:latin typeface="Cambria Math"/>
                        <a:cs typeface="Times New Roman" pitchFamily="18" charset="0"/>
                      </a:rPr>
                      <m:t>𝑖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55884"/>
                <a:ext cx="5730292" cy="834716"/>
              </a:xfrm>
              <a:prstGeom prst="rect">
                <a:avLst/>
              </a:prstGeom>
              <a:blipFill>
                <a:blip r:embed="rId12"/>
                <a:stretch>
                  <a:fillRect l="-1064" t="-4380" b="-4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4647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1539</TotalTime>
  <Words>812</Words>
  <Application>Microsoft Office PowerPoint</Application>
  <PresentationFormat>On-screen Show (4:3)</PresentationFormat>
  <Paragraphs>96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Algerian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Iis Herisman</cp:lastModifiedBy>
  <cp:revision>84</cp:revision>
  <cp:lastPrinted>2015-02-08T12:16:31Z</cp:lastPrinted>
  <dcterms:created xsi:type="dcterms:W3CDTF">2015-02-07T03:33:32Z</dcterms:created>
  <dcterms:modified xsi:type="dcterms:W3CDTF">2026-05-01T07:08:00Z</dcterms:modified>
</cp:coreProperties>
</file>