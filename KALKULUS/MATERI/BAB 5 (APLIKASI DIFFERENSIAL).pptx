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4" r:id="rId4"/>
    <p:sldId id="257" r:id="rId5"/>
    <p:sldId id="260" r:id="rId6"/>
    <p:sldId id="265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7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19CC4-D7D4-43F0-A6BF-CCEE31ED55D1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72D51-0B04-4F25-88B9-694C49909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072D51-0B04-4F25-88B9-694C499093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8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5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0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9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8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0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4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9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1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2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9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DA7A3-F291-4DCA-A981-8410921D07E3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8D695-8FE8-40C9-9D6B-ADC4AF82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5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0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46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599" y="240268"/>
            <a:ext cx="2667001" cy="369332"/>
          </a:xfrm>
          <a:prstGeom prst="rect">
            <a:avLst/>
          </a:prstGeom>
          <a:gradFill flip="none" rotWithShape="1">
            <a:gsLst>
              <a:gs pos="0">
                <a:srgbClr val="6699FF">
                  <a:tint val="66000"/>
                  <a:satMod val="160000"/>
                </a:srgbClr>
              </a:gs>
              <a:gs pos="50000">
                <a:srgbClr val="6699FF">
                  <a:tint val="44500"/>
                  <a:satMod val="160000"/>
                </a:srgbClr>
              </a:gs>
              <a:gs pos="100000">
                <a:srgbClr val="6699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APLIKASI TURUNAN: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685800"/>
            <a:ext cx="3538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Laju-laju yang saling berkaitan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09600" y="1078976"/>
                <a:ext cx="8077200" cy="12334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9025" indent="-1089025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1. Sebuah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kapal tanker mengalami kebocoran dan tumpahan minyaknya 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menyebar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 lautan dalam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bentuk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lingkaran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jari-jarinya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bertambah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 laju konstan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id-ID" b="0" i="1" smtClean="0">
                            <a:latin typeface="Cambria Math"/>
                          </a:rPr>
                          <m:t> </m:t>
                        </m:r>
                        <m:r>
                          <a:rPr lang="id-ID" b="0" i="1" smtClean="0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𝑚𝑒𝑛𝑖𝑡</m:t>
                        </m:r>
                      </m:den>
                    </m:f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Seberapa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cepatkah luas daerah tumpahan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bertambah ketika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jari-jari tumpahan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d-ID" b="0" i="1" smtClean="0">
                        <a:latin typeface="Cambria Math"/>
                      </a:rPr>
                      <m:t>0 </m:t>
                    </m:r>
                    <m:r>
                      <a:rPr lang="id-ID" b="0" i="1" smtClean="0">
                        <a:latin typeface="Cambria Math"/>
                      </a:rPr>
                      <m:t>𝑚</m:t>
                    </m:r>
                    <m:r>
                      <a:rPr lang="id-ID" i="1">
                        <a:latin typeface="Cambria Math"/>
                      </a:rPr>
                      <m:t> ?</m:t>
                    </m:r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078976"/>
                <a:ext cx="8077200" cy="1233415"/>
              </a:xfrm>
              <a:prstGeom prst="rect">
                <a:avLst/>
              </a:prstGeom>
              <a:blipFill>
                <a:blip r:embed="rId3"/>
                <a:stretch>
                  <a:fillRect l="-604" t="-2970" r="-906" b="-28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47800" y="2362200"/>
                <a:ext cx="7162800" cy="1206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31775" lvl="0" indent="-231775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Sebuah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tangga dengan panjang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5 </m:t>
                    </m:r>
                    <m:r>
                      <a:rPr lang="id-ID" i="1">
                        <a:latin typeface="Cambria Math"/>
                      </a:rPr>
                      <m:t>𝑚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bersandar pada dinding, tergelincir sedemikian hingga bagian bawahnya bergerak menjauhi dinding dengan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laju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i="1">
                            <a:latin typeface="Cambria Math"/>
                          </a:rPr>
                          <m:t> </m:t>
                        </m:r>
                        <m:r>
                          <a:rPr lang="id-ID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id-ID" i="1">
                            <a:latin typeface="Cambria Math"/>
                          </a:rPr>
                          <m:t>𝑑𝑒𝑡𝑖𝑘</m:t>
                        </m:r>
                      </m:den>
                    </m:f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ketika bagian bawah berjarak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id-ID" i="1">
                        <a:latin typeface="Cambria Math"/>
                      </a:rPr>
                      <m:t>𝑚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dari dinding, berapa cepatkah tangga bagian atas turun kebawah?.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362200"/>
                <a:ext cx="7162800" cy="1206099"/>
              </a:xfrm>
              <a:prstGeom prst="rect">
                <a:avLst/>
              </a:prstGeom>
              <a:blipFill>
                <a:blip r:embed="rId4"/>
                <a:stretch>
                  <a:fillRect l="-766" t="-3046" b="-3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28893" y="3581400"/>
            <a:ext cx="4717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Selang naik, selang turun dan kecekungan 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72836" y="4914941"/>
                <a:ext cx="677157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31775" lvl="0" indent="-23177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6" y="4914941"/>
                <a:ext cx="67715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57922" y="4038600"/>
                <a:ext cx="787647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9025" indent="-1089025"/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Teorema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Misal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suatu fungsi kontinu pada selang tertutup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dan dapat diturunkan pada selang terbuka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maka:</a:t>
                </a:r>
              </a:p>
              <a:p>
                <a:pPr marL="1320800" lvl="0" indent="-231775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&gt;0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untuk setiap nilai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dalam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naik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pada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22" y="4038600"/>
                <a:ext cx="7876478" cy="1200329"/>
              </a:xfrm>
              <a:prstGeom prst="rect">
                <a:avLst/>
              </a:prstGeom>
              <a:blipFill>
                <a:blip r:embed="rId6"/>
                <a:stretch>
                  <a:fillRect l="-697" t="-306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776761" y="5257800"/>
                <a:ext cx="668143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4813" lvl="0" indent="-404813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&lt;0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untuk setiap nilai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dalam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turun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4813" lvl="0" indent="-404813"/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pada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761" y="5257800"/>
                <a:ext cx="6681439" cy="646331"/>
              </a:xfrm>
              <a:prstGeom prst="rect">
                <a:avLst/>
              </a:prstGeom>
              <a:blipFill>
                <a:blip r:embed="rId7"/>
                <a:stretch>
                  <a:fillRect l="-729" t="-5660" r="-638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62822" y="5867400"/>
                <a:ext cx="67715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31775" lvl="0" indent="-231775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=0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untuk setiap nilai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dalam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konstan </a:t>
                </a:r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pada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𝑎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822" y="5867400"/>
                <a:ext cx="6771578" cy="646331"/>
              </a:xfrm>
              <a:prstGeom prst="rect">
                <a:avLst/>
              </a:prstGeom>
              <a:blipFill>
                <a:blip r:embed="rId8"/>
                <a:stretch>
                  <a:fillRect l="-720" t="-5660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74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  <p:bldP spid="5" grpId="0"/>
      <p:bldP spid="6" grpId="0"/>
      <p:bldP spid="8" grpId="0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85800" y="381000"/>
            <a:ext cx="2226981" cy="2067176"/>
            <a:chOff x="0" y="0"/>
            <a:chExt cx="1982533" cy="18384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5"/>
                <p:cNvSpPr txBox="1"/>
                <p:nvPr/>
              </p:nvSpPr>
              <p:spPr>
                <a:xfrm>
                  <a:off x="0" y="0"/>
                  <a:ext cx="307846" cy="28687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𝑌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5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307846" cy="28687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6250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6"/>
                <p:cNvSpPr txBox="1"/>
                <p:nvPr/>
              </p:nvSpPr>
              <p:spPr>
                <a:xfrm>
                  <a:off x="832207" y="215757"/>
                  <a:ext cx="307846" cy="28687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𝛼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6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207" y="215757"/>
                  <a:ext cx="307846" cy="28687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1923" b="-8333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4"/>
                <p:cNvSpPr txBox="1"/>
                <p:nvPr/>
              </p:nvSpPr>
              <p:spPr>
                <a:xfrm>
                  <a:off x="1674687" y="1284270"/>
                  <a:ext cx="307846" cy="286872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𝑋</m:t>
                        </m:r>
                      </m:oMath>
                    </m:oMathPara>
                  </a14:m>
                  <a:endParaRPr lang="en-US" sz="1100">
                    <a:effectLst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687" y="1284270"/>
                  <a:ext cx="307846" cy="28687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8333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9"/>
                <p:cNvSpPr txBox="1"/>
                <p:nvPr/>
              </p:nvSpPr>
              <p:spPr>
                <a:xfrm>
                  <a:off x="1356189" y="10274"/>
                  <a:ext cx="379571" cy="317971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8" name="Text 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6189" y="10274"/>
                  <a:ext cx="379571" cy="31797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r="-25397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c 13"/>
            <p:cNvSpPr/>
            <p:nvPr/>
          </p:nvSpPr>
          <p:spPr>
            <a:xfrm rot="16200000">
              <a:off x="734603" y="77056"/>
              <a:ext cx="1082982" cy="1411650"/>
            </a:xfrm>
            <a:prstGeom prst="arc">
              <a:avLst>
                <a:gd name="adj1" fmla="val 16136089"/>
                <a:gd name="adj2" fmla="val 65373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246580" y="10274"/>
              <a:ext cx="0" cy="13139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7"/>
                <p:cNvSpPr txBox="1"/>
                <p:nvPr/>
              </p:nvSpPr>
              <p:spPr>
                <a:xfrm>
                  <a:off x="441789" y="1263721"/>
                  <a:ext cx="307846" cy="28687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𝑎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89" y="1263721"/>
                  <a:ext cx="307846" cy="28687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8333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/>
            <p:cNvCxnSpPr/>
            <p:nvPr/>
          </p:nvCxnSpPr>
          <p:spPr>
            <a:xfrm flipV="1">
              <a:off x="462337" y="10274"/>
              <a:ext cx="821190" cy="6058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8"/>
                <p:cNvSpPr txBox="1"/>
                <p:nvPr/>
              </p:nvSpPr>
              <p:spPr>
                <a:xfrm>
                  <a:off x="1202076" y="1273996"/>
                  <a:ext cx="307846" cy="28687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𝑏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3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2076" y="1273996"/>
                  <a:ext cx="307846" cy="28687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6122"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20"/>
                <p:cNvSpPr txBox="1"/>
                <p:nvPr/>
              </p:nvSpPr>
              <p:spPr>
                <a:xfrm>
                  <a:off x="92467" y="1273996"/>
                  <a:ext cx="379571" cy="317971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chemeClr val="bg1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0</m:t>
                        </m:r>
                      </m:oMath>
                    </m:oMathPara>
                  </a14:m>
                  <a:endParaRPr lang="en-US" sz="11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4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7" y="1273996"/>
                  <a:ext cx="379571" cy="31797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/>
            <p:cNvCxnSpPr/>
            <p:nvPr/>
          </p:nvCxnSpPr>
          <p:spPr>
            <a:xfrm flipV="1">
              <a:off x="246580" y="1304818"/>
              <a:ext cx="1602100" cy="566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75353" y="791110"/>
              <a:ext cx="324" cy="5339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356189" y="236306"/>
              <a:ext cx="0" cy="108853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821932" y="400692"/>
              <a:ext cx="7497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60"/>
                <p:cNvSpPr txBox="1"/>
                <p:nvPr/>
              </p:nvSpPr>
              <p:spPr>
                <a:xfrm>
                  <a:off x="318499" y="1500027"/>
                  <a:ext cx="1324610" cy="338455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=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𝑡𝑔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 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𝛼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&gt;0</m:t>
                        </m:r>
                      </m:oMath>
                    </m:oMathPara>
                  </a14:m>
                  <a:endParaRPr lang="en-US" sz="1100" dirty="0">
                    <a:effectLst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9" name="Text 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499" y="1500027"/>
                  <a:ext cx="1324610" cy="33845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 w="6350">
                  <a:solidFill>
                    <a:schemeClr val="bg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/>
          <p:cNvGrpSpPr/>
          <p:nvPr/>
        </p:nvGrpSpPr>
        <p:grpSpPr>
          <a:xfrm>
            <a:off x="3170523" y="381000"/>
            <a:ext cx="2057553" cy="2067176"/>
            <a:chOff x="0" y="0"/>
            <a:chExt cx="1982523" cy="1828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68"/>
                <p:cNvSpPr txBox="1"/>
                <p:nvPr/>
              </p:nvSpPr>
              <p:spPr>
                <a:xfrm>
                  <a:off x="421240" y="1489753"/>
                  <a:ext cx="1324610" cy="338455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=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𝑡𝑔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 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𝛼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&lt;0</m:t>
                        </m:r>
                      </m:oMath>
                    </m:oMathPara>
                  </a14:m>
                  <a:endParaRPr lang="en-US" sz="11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1" name="Text 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40" y="1489753"/>
                  <a:ext cx="1324610" cy="33845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25"/>
                <p:cNvSpPr txBox="1"/>
                <p:nvPr/>
              </p:nvSpPr>
              <p:spPr>
                <a:xfrm>
                  <a:off x="0" y="0"/>
                  <a:ext cx="307836" cy="286868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𝑌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2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307836" cy="286868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6250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26"/>
                <p:cNvSpPr txBox="1"/>
                <p:nvPr/>
              </p:nvSpPr>
              <p:spPr>
                <a:xfrm>
                  <a:off x="1674687" y="1284269"/>
                  <a:ext cx="307836" cy="286868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𝑋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3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687" y="1284269"/>
                  <a:ext cx="307836" cy="286868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27"/>
                <p:cNvSpPr txBox="1"/>
                <p:nvPr/>
              </p:nvSpPr>
              <p:spPr>
                <a:xfrm>
                  <a:off x="1089060" y="246579"/>
                  <a:ext cx="307330" cy="286381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𝛼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4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060" y="246579"/>
                  <a:ext cx="307330" cy="286381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r="-1961"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28"/>
                <p:cNvSpPr txBox="1"/>
                <p:nvPr/>
              </p:nvSpPr>
              <p:spPr>
                <a:xfrm>
                  <a:off x="421240" y="1263721"/>
                  <a:ext cx="307330" cy="286381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𝑎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5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40" y="1263721"/>
                  <a:ext cx="307330" cy="286381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29"/>
                <p:cNvSpPr txBox="1"/>
                <p:nvPr/>
              </p:nvSpPr>
              <p:spPr>
                <a:xfrm>
                  <a:off x="1232898" y="1273995"/>
                  <a:ext cx="307330" cy="286381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𝑏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6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898" y="1273995"/>
                  <a:ext cx="307330" cy="286381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30"/>
                <p:cNvSpPr txBox="1"/>
                <p:nvPr/>
              </p:nvSpPr>
              <p:spPr>
                <a:xfrm>
                  <a:off x="349321" y="174660"/>
                  <a:ext cx="379083" cy="317496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7" name="Text 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21" y="174660"/>
                  <a:ext cx="379083" cy="317496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r="-25000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31"/>
                <p:cNvSpPr txBox="1"/>
                <p:nvPr/>
              </p:nvSpPr>
              <p:spPr>
                <a:xfrm>
                  <a:off x="92467" y="1273995"/>
                  <a:ext cx="379559" cy="317967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0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8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7" y="1273995"/>
                  <a:ext cx="379559" cy="31796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/>
            <p:cNvSpPr/>
            <p:nvPr/>
          </p:nvSpPr>
          <p:spPr>
            <a:xfrm rot="20432958">
              <a:off x="123289" y="400692"/>
              <a:ext cx="1292818" cy="1159494"/>
            </a:xfrm>
            <a:prstGeom prst="arc">
              <a:avLst>
                <a:gd name="adj1" fmla="val 16136089"/>
                <a:gd name="adj2" fmla="val 653733"/>
              </a:avLst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246579" y="10274"/>
              <a:ext cx="0" cy="131388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36" name="Straight Arrow Connector 35"/>
            <p:cNvCxnSpPr/>
            <p:nvPr/>
          </p:nvCxnSpPr>
          <p:spPr>
            <a:xfrm flipV="1">
              <a:off x="246579" y="1315092"/>
              <a:ext cx="1602048" cy="5669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37" name="Straight Connector 36"/>
            <p:cNvCxnSpPr/>
            <p:nvPr/>
          </p:nvCxnSpPr>
          <p:spPr>
            <a:xfrm>
              <a:off x="554804" y="431514"/>
              <a:ext cx="0" cy="892798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38" name="Straight Connector 37"/>
            <p:cNvCxnSpPr/>
            <p:nvPr/>
          </p:nvCxnSpPr>
          <p:spPr>
            <a:xfrm>
              <a:off x="1397285" y="873303"/>
              <a:ext cx="0" cy="45076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>
            <a:xfrm>
              <a:off x="667820" y="133564"/>
              <a:ext cx="728956" cy="4921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1232898" y="503433"/>
              <a:ext cx="6151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537202" y="555656"/>
            <a:ext cx="2158998" cy="1892520"/>
            <a:chOff x="0" y="0"/>
            <a:chExt cx="1930616" cy="16124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44"/>
                <p:cNvSpPr txBox="1"/>
                <p:nvPr/>
              </p:nvSpPr>
              <p:spPr>
                <a:xfrm>
                  <a:off x="0" y="0"/>
                  <a:ext cx="307299" cy="28635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𝑌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37" name="Text 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307299" cy="28635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45"/>
                <p:cNvSpPr txBox="1"/>
                <p:nvPr/>
              </p:nvSpPr>
              <p:spPr>
                <a:xfrm>
                  <a:off x="1623317" y="1068513"/>
                  <a:ext cx="307299" cy="286352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𝑋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38" name="Text 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3317" y="1068513"/>
                  <a:ext cx="307299" cy="28635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47"/>
                <p:cNvSpPr txBox="1"/>
                <p:nvPr/>
              </p:nvSpPr>
              <p:spPr>
                <a:xfrm>
                  <a:off x="421241" y="1047964"/>
                  <a:ext cx="307289" cy="286348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𝑎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39" name="Text 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41" y="1047964"/>
                  <a:ext cx="307289" cy="286348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48"/>
                <p:cNvSpPr txBox="1"/>
                <p:nvPr/>
              </p:nvSpPr>
              <p:spPr>
                <a:xfrm>
                  <a:off x="1232899" y="1058239"/>
                  <a:ext cx="307289" cy="286348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𝑏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40" name="Text 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899" y="1058239"/>
                  <a:ext cx="307289" cy="286348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b="-8333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49"/>
                <p:cNvSpPr txBox="1"/>
                <p:nvPr/>
              </p:nvSpPr>
              <p:spPr>
                <a:xfrm>
                  <a:off x="1345915" y="277403"/>
                  <a:ext cx="378410" cy="316828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41" name="Text 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915" y="277403"/>
                  <a:ext cx="378410" cy="316828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r="-26984"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50"/>
                <p:cNvSpPr txBox="1"/>
                <p:nvPr/>
              </p:nvSpPr>
              <p:spPr>
                <a:xfrm>
                  <a:off x="92468" y="1058239"/>
                  <a:ext cx="379508" cy="317930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0</m:t>
                        </m:r>
                      </m:oMath>
                    </m:oMathPara>
                  </a14:m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42" name="Text 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8" y="1058239"/>
                  <a:ext cx="379508" cy="31793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/>
            <p:cNvCxnSpPr/>
            <p:nvPr/>
          </p:nvCxnSpPr>
          <p:spPr>
            <a:xfrm flipV="1">
              <a:off x="246580" y="71919"/>
              <a:ext cx="0" cy="10362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49" name="Straight Arrow Connector 48"/>
            <p:cNvCxnSpPr/>
            <p:nvPr/>
          </p:nvCxnSpPr>
          <p:spPr>
            <a:xfrm>
              <a:off x="246580" y="1099335"/>
              <a:ext cx="1519988" cy="381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>
            <a:xfrm>
              <a:off x="554805" y="462337"/>
              <a:ext cx="0" cy="64508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>
            <a:xfrm>
              <a:off x="1397286" y="462337"/>
              <a:ext cx="0" cy="64508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>
            <a:xfrm>
              <a:off x="554805" y="462337"/>
              <a:ext cx="841898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63"/>
                <p:cNvSpPr txBox="1"/>
                <p:nvPr/>
              </p:nvSpPr>
              <p:spPr>
                <a:xfrm>
                  <a:off x="359596" y="1273996"/>
                  <a:ext cx="1324610" cy="338455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</m:d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=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𝑡𝑔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 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𝛼</m:t>
                        </m:r>
                        <m:r>
                          <a:rPr lang="en-US" sz="1100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=0</m:t>
                        </m:r>
                      </m:oMath>
                    </m:oMathPara>
                  </a14:m>
                  <a:endParaRPr lang="en-US" sz="1100" dirty="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48" name="Text 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596" y="1273996"/>
                  <a:ext cx="1324610" cy="338455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  <a:ln w="6350">
                  <a:solidFill>
                    <a:sysClr val="window" lastClr="FFFF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59540" y="2513577"/>
                <a:ext cx="7789274" cy="929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73138" indent="-973138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 1. Tentukan selang yang menyebabkan fungsi-fungsi berikut naik dan yang menyebabkan turun:</a:t>
                </a:r>
              </a:p>
              <a:p>
                <a:pPr marL="1262063" lvl="0" indent="-288925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d-ID" i="1">
                        <a:latin typeface="Cambria Math"/>
                      </a:rPr>
                      <m:t>−4</m:t>
                    </m:r>
                    <m:r>
                      <a:rPr lang="id-ID" i="1">
                        <a:latin typeface="Cambria Math"/>
                      </a:rPr>
                      <m:t>𝑥</m:t>
                    </m:r>
                    <m:r>
                      <a:rPr lang="id-ID" i="1">
                        <a:latin typeface="Cambria Math"/>
                      </a:rPr>
                      <m:t>+3</m:t>
                    </m:r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40" y="2513577"/>
                <a:ext cx="7789274" cy="929550"/>
              </a:xfrm>
              <a:prstGeom prst="rect">
                <a:avLst/>
              </a:prstGeom>
              <a:blipFill>
                <a:blip r:embed="rId24"/>
                <a:stretch>
                  <a:fillRect l="-626" t="-3268" r="-1252" b="-8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1581800" y="3429000"/>
                <a:ext cx="1557266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4625" lvl="0" indent="-174625">
                  <a:tabLst>
                    <a:tab pos="798513" algn="l"/>
                  </a:tabLst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b.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800" y="3429000"/>
                <a:ext cx="1557266" cy="375552"/>
              </a:xfrm>
              <a:prstGeom prst="rect">
                <a:avLst/>
              </a:prstGeom>
              <a:blipFill>
                <a:blip r:embed="rId2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1666572" y="3733985"/>
                <a:ext cx="2700266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90513" lvl="0" indent="-290513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572" y="3733985"/>
                <a:ext cx="2700266" cy="375552"/>
              </a:xfrm>
              <a:prstGeom prst="rect">
                <a:avLst/>
              </a:prstGeom>
              <a:blipFill>
                <a:blip r:embed="rId26"/>
                <a:stretch>
                  <a:fillRect l="-18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659540" y="4174938"/>
                <a:ext cx="779502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Definisi 2: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Misal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dapat diturunkan pada suatu selang, maka:</a:t>
                </a:r>
              </a:p>
              <a:p>
                <a:pPr marL="1320800" lvl="0" indent="-290513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disebut 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cekung ke atas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suatu selang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naik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selang tersebut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40" y="4174938"/>
                <a:ext cx="7795020" cy="923330"/>
              </a:xfrm>
              <a:prstGeom prst="rect">
                <a:avLst/>
              </a:prstGeom>
              <a:blipFill>
                <a:blip r:embed="rId27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1733121" y="5120018"/>
                <a:ext cx="657267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6400" lvl="0" indent="-406400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disebut 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cekung bawah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suatu selang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turun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406400" lvl="0" indent="-406400"/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pada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selang tersebut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121" y="5120018"/>
                <a:ext cx="6572679" cy="646331"/>
              </a:xfrm>
              <a:prstGeom prst="rect">
                <a:avLst/>
              </a:prstGeom>
              <a:blipFill>
                <a:blip r:embed="rId28"/>
                <a:stretch>
                  <a:fillRect l="-74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705011" y="5793351"/>
            <a:ext cx="76007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3138" indent="-973138"/>
            <a:r>
              <a:rPr lang="id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Contoh 2. Tentukan selang yang menyebabkan fungsi-fungsi cekung ke atas dan cekung ke bawah pada contoh 1 diatas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65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57200" y="5871639"/>
                <a:ext cx="7848600" cy="72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314450" algn="l"/>
                  </a:tabLs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Untuk fungsi rasional, memiliki garis asimtot  tegak, datar maupun miring karena biasanya terdapat  titik diskontinu pada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871639"/>
                <a:ext cx="7848600" cy="729430"/>
              </a:xfrm>
              <a:prstGeom prst="rect">
                <a:avLst/>
              </a:prstGeom>
              <a:blipFill>
                <a:blip r:embed="rId2"/>
                <a:stretch>
                  <a:fillRect t="-1667" r="-543" b="-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6805" y="5379061"/>
                <a:ext cx="2383922" cy="5997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257300" marR="0" indent="-10287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314450" algn="l"/>
                  </a:tabLs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Bentuk: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05" y="5379061"/>
                <a:ext cx="2383922" cy="599716"/>
              </a:xfrm>
              <a:prstGeom prst="rect">
                <a:avLst/>
              </a:prstGeom>
              <a:blipFill>
                <a:blip r:embed="rId3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66805" y="5166000"/>
            <a:ext cx="2999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lvl="0" indent="-404813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Grafik Fungsi Rasional</a:t>
            </a:r>
            <a:endParaRPr lang="id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9924" y="304800"/>
            <a:ext cx="5586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9025" indent="-1089025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Ekstrim Relatif: Uji Turunan Pertama dan Kedua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0" y="762579"/>
                <a:ext cx="76200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Teorema 3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(Uji turunan Pertama):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kontinu di titik kritis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maka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62579"/>
                <a:ext cx="7620000" cy="369332"/>
              </a:xfrm>
              <a:prstGeom prst="rect">
                <a:avLst/>
              </a:prstGeom>
              <a:blipFill>
                <a:blip r:embed="rId4"/>
                <a:stretch>
                  <a:fillRect l="-64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64366" y="1248067"/>
                <a:ext cx="8153400" cy="958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90513" lvl="0" indent="-290513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 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&gt;0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selang terbuka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disebelah kiri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&lt;0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selang terbuka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disebelah kanan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maka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d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d-ID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disebut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 maksimum relatif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dari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66" y="1248067"/>
                <a:ext cx="8153400" cy="958980"/>
              </a:xfrm>
              <a:prstGeom prst="rect">
                <a:avLst/>
              </a:prstGeom>
              <a:blipFill>
                <a:blip r:embed="rId5"/>
                <a:stretch>
                  <a:fillRect l="-673" t="-3822" r="-1047" b="-9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98114" y="2267525"/>
                <a:ext cx="8077200" cy="958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31775" lvl="0" indent="-231775">
                  <a:buAutoNum type="alphaLcPeriod" startAt="2"/>
                </a:pP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&lt;0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selang terbuka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disebelah kiri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&gt;0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selang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terbuka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disebelah kanan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maka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id-ID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d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d-ID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disebut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 minimum relatif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dari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/>
                      </a:rPr>
                      <m:t>.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14" y="2267525"/>
                <a:ext cx="8077200" cy="958980"/>
              </a:xfrm>
              <a:prstGeom prst="rect">
                <a:avLst/>
              </a:prstGeom>
              <a:blipFill>
                <a:blip r:embed="rId6"/>
                <a:stretch>
                  <a:fillRect l="-453" t="-3822" b="-9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57200" y="3200953"/>
                <a:ext cx="70104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Teorema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(Uji turunan Kedua):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Misal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dapat diturunkan dua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kali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di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 stationer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00953"/>
                <a:ext cx="7010400" cy="646331"/>
              </a:xfrm>
              <a:prstGeom prst="rect">
                <a:avLst/>
              </a:prstGeom>
              <a:blipFill>
                <a:blip r:embed="rId7"/>
                <a:stretch>
                  <a:fillRect l="-69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360114" y="3834900"/>
                <a:ext cx="65532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 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d-ID" i="1">
                        <a:latin typeface="Cambria Math"/>
                      </a:rPr>
                      <m:t>&gt;0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maka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mempunyai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 relatif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114" y="3834900"/>
                <a:ext cx="6553200" cy="646331"/>
              </a:xfrm>
              <a:prstGeom prst="rect">
                <a:avLst/>
              </a:prstGeom>
              <a:blipFill>
                <a:blip r:embed="rId8"/>
                <a:stretch>
                  <a:fillRect l="-74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60114" y="4320717"/>
                <a:ext cx="694568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id-ID" b="0" i="1" smtClean="0">
                            <a:latin typeface="Cambria Math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d-ID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d-ID" i="1">
                        <a:latin typeface="Cambria Math"/>
                      </a:rPr>
                      <m:t>&lt;0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maka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mempunyai </a:t>
                </a:r>
                <a:r>
                  <a:rPr lang="id-ID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maksimum relatif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114" y="4320717"/>
                <a:ext cx="6945686" cy="369332"/>
              </a:xfrm>
              <a:prstGeom prst="rect">
                <a:avLst/>
              </a:prstGeom>
              <a:blipFill>
                <a:blip r:embed="rId9"/>
                <a:stretch>
                  <a:fillRect l="-70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4690049"/>
            <a:ext cx="56291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3138" indent="-973138"/>
            <a:r>
              <a:rPr lang="id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Contoh 3. Tentukan ekstrem relatif  pada contoh 1 diatas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0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0500" y="252468"/>
                <a:ext cx="8572500" cy="1558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marR="0" indent="-6858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Definisi: a. Garis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disebut asimtot tegak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→+~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marR="0" indent="-6858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→−~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maka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mendekati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dari kanan atau dari kiri.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marR="0" indent="-6858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b. Garis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disebut asimtot datar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jika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d-ID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atau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marR="0" indent="-6858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d-ID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52468"/>
                <a:ext cx="8572500" cy="1558888"/>
              </a:xfrm>
              <a:prstGeom prst="rect">
                <a:avLst/>
              </a:prstGeom>
              <a:blipFill>
                <a:blip r:embed="rId2"/>
                <a:stretch>
                  <a:fillRect t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04800" y="1825211"/>
                <a:ext cx="8458200" cy="1236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Khusus asimtot miring dimiliki oleh fungsi rasional dengan derajat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lebih tinggi satu dibandingkan derajat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ubah fungsinya menjadi 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971550" algn="l"/>
                  </a:tabLs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825211"/>
                <a:ext cx="8458200" cy="1236813"/>
              </a:xfrm>
              <a:prstGeom prst="rect">
                <a:avLst/>
              </a:prstGeom>
              <a:blipFill>
                <a:blip r:embed="rId3"/>
                <a:stretch>
                  <a:fillRect t="-985" r="-504" b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381000" y="3048000"/>
                <a:ext cx="6019800" cy="5889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Sketsa grafik: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den>
                    </m:f>
                  </m:oMath>
                </a14:m>
                <a:r>
                  <a:rPr lang="en-US" dirty="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48000"/>
                <a:ext cx="6019800" cy="588944"/>
              </a:xfrm>
              <a:prstGeom prst="rect">
                <a:avLst/>
              </a:prstGeom>
              <a:blipFill>
                <a:blip r:embed="rId4"/>
                <a:stretch>
                  <a:fillRect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/>
          <p:cNvSpPr/>
          <p:nvPr/>
        </p:nvSpPr>
        <p:spPr>
          <a:xfrm>
            <a:off x="293592" y="3643997"/>
            <a:ext cx="3256020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Masalah </a:t>
            </a: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 yang lain: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533400" y="4054879"/>
                <a:ext cx="8001000" cy="729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marR="0" indent="-51435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Grafik sebuah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dikatakan mempunyai </a:t>
                </a: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garis singgung </a:t>
                </a:r>
                <a:r>
                  <a:rPr lang="id-ID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tegak</a:t>
                </a:r>
                <a:endParaRPr lang="en-US" b="1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marR="0" indent="-51435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id-ID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id-ID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kontinu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+~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bila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054879"/>
                <a:ext cx="8001000" cy="729430"/>
              </a:xfrm>
              <a:prstGeom prst="rect">
                <a:avLst/>
              </a:prstGeom>
              <a:blipFill>
                <a:blip r:embed="rId5"/>
                <a:stretch>
                  <a:fillRect t="-1667" b="-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54182" y="4736112"/>
                <a:ext cx="8001000" cy="1047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marR="0" indent="-5715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Definisi: Grafik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dikatakan memiliki </a:t>
                </a: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cups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id-ID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kontinu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marR="0" indent="-5715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+~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bila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dari satu sisi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dan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800100" marR="0" indent="-5715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−~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bila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menuju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dari satu sisi lainnya. </a:t>
                </a:r>
                <a:endParaRPr lang="en-US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82" y="4736112"/>
                <a:ext cx="8001000" cy="1047979"/>
              </a:xfrm>
              <a:prstGeom prst="rect">
                <a:avLst/>
              </a:prstGeom>
              <a:blipFill>
                <a:blip r:embed="rId6"/>
                <a:stretch>
                  <a:fillRect t="-1744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598493" y="5859811"/>
                <a:ext cx="4953000" cy="52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 Sketsa garifk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93" y="5859811"/>
                <a:ext cx="4953000" cy="528543"/>
              </a:xfrm>
              <a:prstGeom prst="rect">
                <a:avLst/>
              </a:prstGeom>
              <a:blipFill>
                <a:blip r:embed="rId7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62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4" grpId="0"/>
      <p:bldP spid="56" grpId="0"/>
      <p:bldP spid="57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2522824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 Aplikasi Masalah Maksimum dan Minimum: </a:t>
            </a:r>
            <a:endParaRPr lang="id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513"/>
            <a:r>
              <a:rPr lang="id-ID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Masalah-masalah yang terkait dengan selang tertutup berhingga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09600" y="3218221"/>
                <a:ext cx="709748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 1: Tentukan ukuran dari empat persegi panjang yang mempunyai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keliling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100 </m:t>
                    </m:r>
                    <m:r>
                      <a:rPr lang="id-ID" i="1">
                        <a:latin typeface="Cambria Math"/>
                      </a:rPr>
                      <m:t>𝑚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agar luasnya sebesar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mungkin</a:t>
                </a:r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218221"/>
                <a:ext cx="7097486" cy="646331"/>
              </a:xfrm>
              <a:prstGeom prst="rect">
                <a:avLst/>
              </a:prstGeom>
              <a:blipFill>
                <a:blip r:embed="rId2"/>
                <a:stretch>
                  <a:fillRect l="-68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47801" y="3913618"/>
                <a:ext cx="74676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90513" lvl="0" indent="-290513"/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Tambang </a:t>
                </a:r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minyak lepas pantai terletak di laut di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𝑊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berada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5 </m:t>
                    </m:r>
                    <m:r>
                      <a:rPr lang="id-ID" i="1">
                        <a:latin typeface="Cambria Math"/>
                      </a:rPr>
                      <m:t>𝑚𝑖𝑙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dari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𝐴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terdekat pada garis pantai. Minyak disalurkan melalui pipa ke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𝐵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ditepi pantai yang jaraknya dari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𝐴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adalah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8 </m:t>
                    </m:r>
                    <m:r>
                      <a:rPr lang="id-ID" i="1">
                        <a:latin typeface="Cambria Math"/>
                      </a:rPr>
                      <m:t>𝑚𝑖𝑙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pipa-pipa yang terletak di dasar laut adalah dari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𝑊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ke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𝑃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dengan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𝑃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terletak di antara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𝐴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𝐵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lalu ke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𝐵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melalui pipa sepanjang garis pantai. Jika biaya pemasangan pipa $ 100.000 per mil di dasar laut dan $ 75.000 per mil di atas tanah, dimanakah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/>
                      </a:rPr>
                      <m:t>𝑃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letakkan untuk meminimumkan biaya  pemasangan pipa?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1" y="3913618"/>
                <a:ext cx="7467600" cy="2308324"/>
              </a:xfrm>
              <a:prstGeom prst="rect">
                <a:avLst/>
              </a:prstGeom>
              <a:blipFill>
                <a:blip r:embed="rId3"/>
                <a:stretch>
                  <a:fillRect l="-735" t="-158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04800" y="76437"/>
            <a:ext cx="5334000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00050" algn="l"/>
                <a:tab pos="5305425" algn="l"/>
              </a:tabLst>
            </a:pP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Nilai Maksimum atau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Suatu Fungsi  </a:t>
            </a:r>
            <a:endParaRPr lang="id-ID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41219" y="487319"/>
                <a:ext cx="5278582" cy="787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Contoh:  Tentukan Nilai Maksimum dan Minimum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1.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−5,1</m:t>
                        </m:r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19" y="487319"/>
                <a:ext cx="5278582" cy="787652"/>
              </a:xfrm>
              <a:prstGeom prst="rect">
                <a:avLst/>
              </a:prstGeom>
              <a:blipFill>
                <a:blip r:embed="rId4"/>
                <a:stretch>
                  <a:fillRect l="-1039" t="-4651" b="-10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00201" y="1316021"/>
                <a:ext cx="2666999" cy="513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2.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−5,5</m:t>
                        </m:r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1" y="1316021"/>
                <a:ext cx="2666999" cy="513026"/>
              </a:xfrm>
              <a:prstGeom prst="rect">
                <a:avLst/>
              </a:prstGeom>
              <a:blipFill>
                <a:blip r:embed="rId5"/>
                <a:stretch>
                  <a:fillRect l="-205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00201" y="1946478"/>
                <a:ext cx="3581400" cy="378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id-ID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1" y="1946478"/>
                <a:ext cx="3581400" cy="378565"/>
              </a:xfrm>
              <a:prstGeom prst="rect">
                <a:avLst/>
              </a:prstGeom>
              <a:blipFill>
                <a:blip r:embed="rId6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62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57200" y="1981200"/>
                <a:ext cx="8202386" cy="1366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Teorema Rolle: Diasumsikan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terdiferensial pada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kontinu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pada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 mak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terdapat sedikitnya satu titik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b="0" i="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dengan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=0.</m:t>
                    </m:r>
                  </m:oMath>
                </a14:m>
                <a:endParaRPr lang="en-US" dirty="0" smtClean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Catatan: Boleh</a:t>
                </a:r>
                <a:r>
                  <a:rPr lang="en-US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id-ID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81200"/>
                <a:ext cx="8202386" cy="1366528"/>
              </a:xfrm>
              <a:prstGeom prst="rect">
                <a:avLst/>
              </a:prstGeom>
              <a:blipFill>
                <a:blip r:embed="rId2"/>
                <a:stretch>
                  <a:fillRect t="-893" b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57200" y="1442834"/>
            <a:ext cx="4572000" cy="3906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Teorema </a:t>
            </a: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Rolle; Teorema Nilai 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Rata-rata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833" y="381000"/>
            <a:ext cx="7195397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00050" algn="l"/>
                <a:tab pos="5305425" algn="l"/>
              </a:tabLst>
            </a:pP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Sebuah kerucut lingkaran tegak dibuat menyelubungi sebuah bola berjari-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00050" algn="l"/>
                <a:tab pos="5305425" algn="l"/>
              </a:tabLst>
            </a:pP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jari </a:t>
            </a:r>
            <a:r>
              <a:rPr lang="id-ID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lang="en-US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b="1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Dapatkan ukuran-ukuran dari kerucut itu agar supaya volumenya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400050" algn="l"/>
                <a:tab pos="530542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minimum.</a:t>
            </a:r>
            <a:endParaRPr lang="id-ID" b="1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46833" y="3508976"/>
                <a:ext cx="8458200" cy="781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eorema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Nilai Rata-rata: Jika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dapat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diturunkan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kontinu pada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maka terdapat sedikitnya satu titik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sehingga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3" y="3508976"/>
                <a:ext cx="8458200" cy="781945"/>
              </a:xfrm>
              <a:prstGeom prst="rect">
                <a:avLst/>
              </a:prstGeom>
              <a:blipFill>
                <a:blip r:embed="rId3"/>
                <a:stretch>
                  <a:fillRect l="-576" t="-4688" b="-3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95993" y="4452169"/>
                <a:ext cx="7924799" cy="7818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Tunjukkan bahwa  Teorema Rolle terpenuhi untuk selang yang diberikan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 tentukan semua  nilai 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memenuhi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id-ID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id-ID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id-ID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id-ID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93" y="4452169"/>
                <a:ext cx="7924799" cy="781817"/>
              </a:xfrm>
              <a:prstGeom prst="rect">
                <a:avLst/>
              </a:prstGeom>
              <a:blipFill>
                <a:blip r:embed="rId4"/>
                <a:stretch>
                  <a:fillRect l="-692" t="-3876" r="-538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95993" y="5378934"/>
                <a:ext cx="7924799" cy="959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2.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Tunjukkan bahwa  Teorema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Nilai Rata-rata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dipenuhi untuk selang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yang</a:t>
                </a:r>
              </a:p>
              <a:p>
                <a:r>
                  <a:rPr lang="id-ID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diberikan dan tentukan semua nilai 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 memenuhi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25−</m:t>
                        </m:r>
                        <m:sSup>
                          <m:sSupPr>
                            <m:ctrlPr>
                              <a:rPr lang="id-ID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pada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−5,3</m:t>
                        </m:r>
                      </m:e>
                    </m:d>
                  </m:oMath>
                </a14:m>
                <a:endParaRPr lang="id-ID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93" y="5378934"/>
                <a:ext cx="7924799" cy="959493"/>
              </a:xfrm>
              <a:prstGeom prst="rect">
                <a:avLst/>
              </a:prstGeom>
              <a:blipFill>
                <a:blip r:embed="rId5"/>
                <a:stretch>
                  <a:fillRect l="-692" t="-3165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80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" y="293608"/>
                <a:ext cx="784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Grafik: Nilai Maks &amp; Min lainnya: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i="1">
                        <a:latin typeface="Cambria Math" panose="02040503050406030204" pitchFamily="18" charset="0"/>
                      </a:rPr>
                      <m:t>−15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i="1">
                        <a:latin typeface="Cambria Math" panose="02040503050406030204" pitchFamily="18" charset="0"/>
                      </a:rPr>
                      <m:t>+36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id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pada</m:t>
                    </m:r>
                    <m:r>
                      <m:rPr>
                        <m:nor/>
                      </m:rPr>
                      <a:rPr lang="id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d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selang</m:t>
                    </m:r>
                    <m:r>
                      <m:rPr>
                        <m:nor/>
                      </m:rPr>
                      <a:rPr lang="id-ID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1,5</m:t>
                        </m:r>
                      </m:e>
                    </m:d>
                  </m:oMath>
                </a14:m>
                <a:r>
                  <a:rPr lang="id-ID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93608"/>
                <a:ext cx="7848600" cy="369332"/>
              </a:xfrm>
              <a:prstGeom prst="rect">
                <a:avLst/>
              </a:prstGeom>
              <a:blipFill>
                <a:blip r:embed="rId2"/>
                <a:stretch>
                  <a:fillRect l="-69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C:\Users\Amanda\Desktop\2Untitled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73" t="2223" r="29427" b="34031"/>
          <a:stretch/>
        </p:blipFill>
        <p:spPr bwMode="auto">
          <a:xfrm>
            <a:off x="685800" y="1073051"/>
            <a:ext cx="2743200" cy="48298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"/>
              <p:cNvSpPr txBox="1"/>
              <p:nvPr/>
            </p:nvSpPr>
            <p:spPr>
              <a:xfrm>
                <a:off x="2438400" y="1143000"/>
                <a:ext cx="5791200" cy="423207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schemeClr val="bg1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5,55</m:t>
                        </m:r>
                      </m:e>
                    </m:d>
                    <m:r>
                      <a:rPr lang="id-ID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Nilai maksimum absolut </a:t>
                </a:r>
                <a14:m>
                  <m:oMath xmlns:m="http://schemas.openxmlformats.org/officeDocument/2006/math">
                    <m:r>
                      <a:rPr lang="id-ID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(5)=55</m:t>
                    </m:r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14:m>
                  <m:oMath xmlns:m="http://schemas.openxmlformats.org/officeDocument/2006/math">
                    <m:r>
                      <a:rPr lang="id-ID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143000"/>
                <a:ext cx="5791200" cy="423207"/>
              </a:xfrm>
              <a:prstGeom prst="rect">
                <a:avLst/>
              </a:prstGeom>
              <a:blipFill>
                <a:blip r:embed="rId4"/>
                <a:stretch>
                  <a:fillRect t="-8571" b="-7143"/>
                </a:stretch>
              </a:blipFill>
              <a:ln w="635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6"/>
              <p:cNvSpPr txBox="1"/>
              <p:nvPr/>
            </p:nvSpPr>
            <p:spPr>
              <a:xfrm>
                <a:off x="2590800" y="3655476"/>
                <a:ext cx="3886200" cy="38312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3,27</m:t>
                        </m:r>
                      </m:e>
                    </m:d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Titik ekstrim maksimum relatif</a:t>
                </a:r>
                <a:endParaRPr lang="en-US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655476"/>
                <a:ext cx="3886200" cy="383124"/>
              </a:xfrm>
              <a:prstGeom prst="rect">
                <a:avLst/>
              </a:prstGeom>
              <a:blipFill>
                <a:blip r:embed="rId5"/>
                <a:stretch>
                  <a:fillRect t="-9375" b="-18750"/>
                </a:stretch>
              </a:blipFill>
              <a:ln w="6350">
                <a:solidFill>
                  <a:sysClr val="window" lastClr="FFFF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7"/>
              <p:cNvSpPr txBox="1"/>
              <p:nvPr/>
            </p:nvSpPr>
            <p:spPr>
              <a:xfrm>
                <a:off x="2667000" y="4388148"/>
                <a:ext cx="4100513" cy="36195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2,28</m:t>
                        </m:r>
                      </m:e>
                    </m:d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Titik ekstrim minimum relatif</a:t>
                </a:r>
                <a:endParaRPr lang="en-US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388148"/>
                <a:ext cx="4100513" cy="361950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  <a:ln w="6350">
                <a:solidFill>
                  <a:sysClr val="window" lastClr="FFFF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"/>
              <p:cNvSpPr txBox="1"/>
              <p:nvPr/>
            </p:nvSpPr>
            <p:spPr>
              <a:xfrm>
                <a:off x="2438400" y="4839534"/>
                <a:ext cx="5638800" cy="367763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1,23</m:t>
                        </m:r>
                      </m:e>
                    </m:d>
                    <m:r>
                      <a:rPr lang="id-ID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Nilai minimum absolut </a:t>
                </a:r>
                <a14:m>
                  <m:oMath xmlns:m="http://schemas.openxmlformats.org/officeDocument/2006/math">
                    <m:r>
                      <a:rPr lang="id-ID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id-ID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(1)=23</m:t>
                    </m:r>
                  </m:oMath>
                </a14:m>
                <a:r>
                  <a:rPr lang="id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pada </a:t>
                </a:r>
                <a14:m>
                  <m:oMath xmlns:m="http://schemas.openxmlformats.org/officeDocument/2006/math">
                    <m:r>
                      <a:rPr lang="id-ID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839534"/>
                <a:ext cx="5638800" cy="367763"/>
              </a:xfrm>
              <a:prstGeom prst="rect">
                <a:avLst/>
              </a:prstGeom>
              <a:blipFill>
                <a:blip r:embed="rId7"/>
                <a:stretch>
                  <a:fillRect t="-9836" b="-24590"/>
                </a:stretch>
              </a:blipFill>
              <a:ln w="6350">
                <a:solidFill>
                  <a:sysClr val="window" lastClr="FFFF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1828800" y="3890526"/>
            <a:ext cx="762000" cy="452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057400" y="4495800"/>
            <a:ext cx="609600" cy="391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>
            <a:off x="1706880" y="4931341"/>
            <a:ext cx="731520" cy="92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8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535</Words>
  <Application>Microsoft Office PowerPoint</Application>
  <PresentationFormat>On-screen Show (4:3)</PresentationFormat>
  <Paragraphs>100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Amanda</cp:lastModifiedBy>
  <cp:revision>57</cp:revision>
  <dcterms:created xsi:type="dcterms:W3CDTF">2014-11-17T04:59:51Z</dcterms:created>
  <dcterms:modified xsi:type="dcterms:W3CDTF">2026-04-18T16:32:59Z</dcterms:modified>
</cp:coreProperties>
</file>