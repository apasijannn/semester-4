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>
      <p:cViewPr varScale="1">
        <p:scale>
          <a:sx n="67" d="100"/>
          <a:sy n="67" d="100"/>
        </p:scale>
        <p:origin x="1278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C48403-D1C4-4C75-89CC-6215FC3D1886}" type="datetimeFigureOut">
              <a:rPr lang="en-US" smtClean="0"/>
              <a:t>02-Mar-26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069B0F-F632-4F25-A82E-CC0AE32C5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849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069B0F-F632-4F25-A82E-CC0AE32C55B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4070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069B0F-F632-4F25-A82E-CC0AE32C55B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107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27463-A37F-440A-B5BB-181B91C68CF8}" type="datetimeFigureOut">
              <a:rPr lang="en-US" smtClean="0"/>
              <a:t>02-Mar-26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344DA-ED84-4733-A6E3-5622A0D1F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826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27463-A37F-440A-B5BB-181B91C68CF8}" type="datetimeFigureOut">
              <a:rPr lang="en-US" smtClean="0"/>
              <a:t>02-Mar-26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344DA-ED84-4733-A6E3-5622A0D1F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063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27463-A37F-440A-B5BB-181B91C68CF8}" type="datetimeFigureOut">
              <a:rPr lang="en-US" smtClean="0"/>
              <a:t>02-Mar-26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344DA-ED84-4733-A6E3-5622A0D1F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816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27463-A37F-440A-B5BB-181B91C68CF8}" type="datetimeFigureOut">
              <a:rPr lang="en-US" smtClean="0"/>
              <a:t>02-Mar-26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344DA-ED84-4733-A6E3-5622A0D1F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072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27463-A37F-440A-B5BB-181B91C68CF8}" type="datetimeFigureOut">
              <a:rPr lang="en-US" smtClean="0"/>
              <a:t>02-Mar-26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344DA-ED84-4733-A6E3-5622A0D1F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938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27463-A37F-440A-B5BB-181B91C68CF8}" type="datetimeFigureOut">
              <a:rPr lang="en-US" smtClean="0"/>
              <a:t>02-Mar-26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344DA-ED84-4733-A6E3-5622A0D1F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066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27463-A37F-440A-B5BB-181B91C68CF8}" type="datetimeFigureOut">
              <a:rPr lang="en-US" smtClean="0"/>
              <a:t>02-Mar-26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344DA-ED84-4733-A6E3-5622A0D1F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536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27463-A37F-440A-B5BB-181B91C68CF8}" type="datetimeFigureOut">
              <a:rPr lang="en-US" smtClean="0"/>
              <a:t>02-Mar-26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344DA-ED84-4733-A6E3-5622A0D1F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099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27463-A37F-440A-B5BB-181B91C68CF8}" type="datetimeFigureOut">
              <a:rPr lang="en-US" smtClean="0"/>
              <a:t>02-Mar-26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344DA-ED84-4733-A6E3-5622A0D1F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732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27463-A37F-440A-B5BB-181B91C68CF8}" type="datetimeFigureOut">
              <a:rPr lang="en-US" smtClean="0"/>
              <a:t>02-Mar-26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344DA-ED84-4733-A6E3-5622A0D1F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687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27463-A37F-440A-B5BB-181B91C68CF8}" type="datetimeFigureOut">
              <a:rPr lang="en-US" smtClean="0"/>
              <a:t>02-Mar-26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344DA-ED84-4733-A6E3-5622A0D1F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322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E27463-A37F-440A-B5BB-181B91C68CF8}" type="datetimeFigureOut">
              <a:rPr lang="en-US" smtClean="0"/>
              <a:t>02-Mar-26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2344DA-ED84-4733-A6E3-5622A0D1F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612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640080" y="964287"/>
                <a:ext cx="8199120" cy="70788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1203325" indent="-1203325"/>
                <a:r>
                  <a:rPr lang="en-US" sz="2000" b="1" dirty="0" err="1" smtClean="0">
                    <a:latin typeface="Times New Roman" pitchFamily="18" charset="0"/>
                    <a:cs typeface="Times New Roman" pitchFamily="18" charset="0"/>
                  </a:rPr>
                  <a:t>Definisi</a:t>
                </a:r>
                <a:r>
                  <a:rPr lang="en-US" sz="2000" b="1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b="1" dirty="0">
                    <a:latin typeface="Times New Roman" pitchFamily="18" charset="0"/>
                    <a:cs typeface="Times New Roman" pitchFamily="18" charset="0"/>
                  </a:rPr>
                  <a:t>1: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Suatu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𝑦</m:t>
                    </m:r>
                    <m:r>
                      <a:rPr lang="en-US" sz="2000" i="1">
                        <a:latin typeface="Cambria Math"/>
                      </a:rPr>
                      <m:t>=</m:t>
                    </m:r>
                    <m:r>
                      <a:rPr lang="en-US" sz="2000" i="1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atau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𝑓</m:t>
                    </m:r>
                    <m:r>
                      <a:rPr lang="en-US" sz="2000" i="1">
                        <a:latin typeface="Cambria Math"/>
                      </a:rPr>
                      <m:t>:</m:t>
                    </m:r>
                    <m:r>
                      <a:rPr lang="en-US" sz="2000" i="1">
                        <a:latin typeface="Cambria Math"/>
                      </a:rPr>
                      <m:t>𝑋</m:t>
                    </m:r>
                    <m:r>
                      <a:rPr lang="en-US" sz="2000" i="1">
                        <a:latin typeface="Cambria Math"/>
                      </a:rPr>
                      <m:t>→</m:t>
                    </m:r>
                    <m:r>
                      <a:rPr lang="en-US" sz="2000" i="1">
                        <a:latin typeface="Cambria Math"/>
                      </a:rPr>
                      <m:t>𝑌</m:t>
                    </m:r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dikatakan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fungsi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jika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pemetaan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𝑓</m:t>
                    </m:r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memetakan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/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mengkawankan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b="1" dirty="0" err="1">
                    <a:latin typeface="Times New Roman" pitchFamily="18" charset="0"/>
                    <a:cs typeface="Times New Roman" pitchFamily="18" charset="0"/>
                  </a:rPr>
                  <a:t>setiap</a:t>
                </a:r>
                <a:r>
                  <a:rPr lang="en-US" sz="20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/>
                      </a:rPr>
                      <m:t>𝒙</m:t>
                    </m:r>
                    <m:r>
                      <a:rPr lang="en-US" sz="2000" b="1" i="1">
                        <a:latin typeface="Cambria Math"/>
                      </a:rPr>
                      <m:t>∈</m:t>
                    </m:r>
                    <m:r>
                      <a:rPr lang="en-US" sz="2000" b="1" i="1">
                        <a:latin typeface="Cambria Math"/>
                      </a:rPr>
                      <m:t>𝑿</m:t>
                    </m:r>
                  </m:oMath>
                </a14:m>
                <a:r>
                  <a:rPr lang="en-US" sz="20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b="1" dirty="0" err="1">
                    <a:latin typeface="Times New Roman" pitchFamily="18" charset="0"/>
                    <a:cs typeface="Times New Roman" pitchFamily="18" charset="0"/>
                  </a:rPr>
                  <a:t>tepat</a:t>
                </a:r>
                <a:r>
                  <a:rPr lang="en-US" sz="20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b="1" dirty="0" err="1">
                    <a:latin typeface="Times New Roman" pitchFamily="18" charset="0"/>
                    <a:cs typeface="Times New Roman" pitchFamily="18" charset="0"/>
                  </a:rPr>
                  <a:t>ke</a:t>
                </a:r>
                <a:r>
                  <a:rPr lang="en-US" sz="20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b="1" dirty="0" err="1">
                    <a:latin typeface="Times New Roman" pitchFamily="18" charset="0"/>
                    <a:cs typeface="Times New Roman" pitchFamily="18" charset="0"/>
                  </a:rPr>
                  <a:t>satu</a:t>
                </a:r>
                <a:r>
                  <a:rPr lang="en-US" sz="20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/>
                      </a:rPr>
                      <m:t>𝒚</m:t>
                    </m:r>
                    <m:r>
                      <a:rPr lang="en-US" sz="2000" b="1" i="1">
                        <a:latin typeface="Cambria Math"/>
                      </a:rPr>
                      <m:t>∈</m:t>
                    </m:r>
                    <m:r>
                      <a:rPr lang="en-US" sz="2000" b="1" i="1">
                        <a:latin typeface="Cambria Math"/>
                      </a:rPr>
                      <m:t>𝒀</m:t>
                    </m:r>
                    <m:r>
                      <a:rPr lang="en-US" sz="2000" b="1" i="1">
                        <a:latin typeface="Cambria Math"/>
                      </a:rPr>
                      <m:t>.</m:t>
                    </m:r>
                  </m:oMath>
                </a14:m>
                <a:r>
                  <a:rPr lang="en-US" sz="2000" b="1" dirty="0">
                    <a:latin typeface="Times New Roman" pitchFamily="18" charset="0"/>
                    <a:cs typeface="Times New Roman" pitchFamily="18" charset="0"/>
                  </a:rPr>
                  <a:t>  </a:t>
                </a:r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964287"/>
                <a:ext cx="8199120" cy="707886"/>
              </a:xfrm>
              <a:prstGeom prst="rect">
                <a:avLst/>
              </a:prstGeom>
              <a:blipFill rotWithShape="1">
                <a:blip r:embed="rId3"/>
                <a:stretch>
                  <a:fillRect l="-668" t="-3390" r="-1633" b="-1355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3048000" y="147935"/>
            <a:ext cx="2590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BAB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id-ID" sz="2000" b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FUNGSI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9600" y="533400"/>
            <a:ext cx="3733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Definisi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dan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Notasi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Fungsi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640080" y="1752600"/>
                <a:ext cx="7970520" cy="7571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Himpunan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𝑋</m:t>
                    </m:r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disebut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domain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dari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𝑓</m:t>
                    </m:r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atau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𝑓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=</m:t>
                    </m:r>
                    <m:r>
                      <a:rPr lang="en-US" sz="2000" i="1">
                        <a:latin typeface="Cambria Math"/>
                      </a:rPr>
                      <m:t>𝑋</m:t>
                    </m:r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himpunan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𝑌</m:t>
                    </m:r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disebut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range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dari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𝑓</m:t>
                    </m:r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atau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𝑓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=</m:t>
                    </m:r>
                    <m:r>
                      <a:rPr lang="en-US" sz="2000" i="1">
                        <a:latin typeface="Cambria Math"/>
                      </a:rPr>
                      <m:t>𝑌</m:t>
                    </m:r>
                    <m:r>
                      <a:rPr lang="en-US" sz="2000" i="1">
                        <a:latin typeface="Cambria Math"/>
                      </a:rPr>
                      <m:t>.</m:t>
                    </m:r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1752600"/>
                <a:ext cx="7970520" cy="757130"/>
              </a:xfrm>
              <a:prstGeom prst="rect">
                <a:avLst/>
              </a:prstGeom>
              <a:blipFill>
                <a:blip r:embed="rId4"/>
                <a:stretch>
                  <a:fillRect l="-765" t="-4839"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640080" y="2438400"/>
            <a:ext cx="819912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Konsep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Fungsi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Pengertian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fungsi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adalah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menyatakan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ketergantungan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suatu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besaran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terhadap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besaran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lain.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670560" y="3146286"/>
                <a:ext cx="8092440" cy="13234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Contoh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: </a:t>
                </a:r>
              </a:p>
              <a:p>
                <a:pPr marL="228600" lvl="0" indent="-228600"/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1. </a:t>
                </a:r>
                <a:r>
                  <a:rPr lang="en-US" sz="2000" dirty="0" err="1" smtClean="0">
                    <a:latin typeface="Times New Roman" pitchFamily="18" charset="0"/>
                    <a:cs typeface="Times New Roman" pitchFamily="18" charset="0"/>
                  </a:rPr>
                  <a:t>Dalam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pembiakan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bakteri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,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banyaknya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bakteri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𝑁</m:t>
                        </m:r>
                      </m:e>
                    </m:d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setelah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satu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jam 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   </a:t>
                </a:r>
                <a:r>
                  <a:rPr lang="en-US" sz="2000" dirty="0" err="1" smtClean="0">
                    <a:latin typeface="Times New Roman" pitchFamily="18" charset="0"/>
                    <a:cs typeface="Times New Roman" pitchFamily="18" charset="0"/>
                  </a:rPr>
                  <a:t>pertumbuhan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bergantung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pada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banyaknya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bakteri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mula-mula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𝑁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𝑜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/>
                      </a:rPr>
                      <m:t>,</m:t>
                    </m:r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oleh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karena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itu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dikatakan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bahwa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 “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𝑁</m:t>
                    </m:r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fungsi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dari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𝑁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𝑜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.</m:t>
                    </m:r>
                  </m:oMath>
                </a14:m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60" y="3146286"/>
                <a:ext cx="8092440" cy="1323439"/>
              </a:xfrm>
              <a:prstGeom prst="rect">
                <a:avLst/>
              </a:prstGeom>
              <a:blipFill>
                <a:blip r:embed="rId5"/>
                <a:stretch>
                  <a:fillRect l="-753" t="-2304" b="-7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609600" y="4446657"/>
                <a:ext cx="8458200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8925" lvl="0" indent="-288925"/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2. </a:t>
                </a:r>
                <a:r>
                  <a:rPr lang="en-US" sz="2000" dirty="0" err="1" smtClean="0">
                    <a:latin typeface="Times New Roman" pitchFamily="18" charset="0"/>
                    <a:cs typeface="Times New Roman" pitchFamily="18" charset="0"/>
                  </a:rPr>
                  <a:t>Banyaknya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persedian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obat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tergantung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dari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dari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permintaan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di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pasaran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latin typeface="Cambria Math"/>
                      </a:rPr>
                      <m:t>,</m:t>
                    </m:r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dikatakan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bahwa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𝑦</m:t>
                    </m:r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fungsi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dari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𝑥</m:t>
                    </m:r>
                    <m:r>
                      <a:rPr lang="en-US" sz="2000" i="1">
                        <a:latin typeface="Cambria Math"/>
                      </a:rPr>
                      <m:t>.</m:t>
                    </m:r>
                  </m:oMath>
                </a14:m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4446657"/>
                <a:ext cx="8458200" cy="707886"/>
              </a:xfrm>
              <a:prstGeom prst="rect">
                <a:avLst/>
              </a:prstGeom>
              <a:blipFill>
                <a:blip r:embed="rId6"/>
                <a:stretch>
                  <a:fillRect l="-720" t="-4274" b="-136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670560" y="5181600"/>
            <a:ext cx="8168640" cy="70788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Domain (Daerah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Asal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):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Pembatasan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peubah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bebas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menentukan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domain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fungsi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sebagai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akibat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dari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pertimbangan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fisis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dan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geometri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991" y="53927"/>
            <a:ext cx="7742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  <a:t>Slide 1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9147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/>
      <p:bldP spid="8" grpId="0"/>
      <p:bldP spid="9" grpId="0"/>
      <p:bldP spid="10" grpId="0"/>
      <p:bldP spid="1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533400" y="228600"/>
                <a:ext cx="8382000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 err="1" smtClean="0">
                    <a:latin typeface="Times New Roman" pitchFamily="18" charset="0"/>
                    <a:cs typeface="Times New Roman" pitchFamily="18" charset="0"/>
                  </a:rPr>
                  <a:t>Contoh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: 3 </a:t>
                </a:r>
              </a:p>
              <a:p>
                <a:r>
                  <a:rPr lang="en-US" sz="2000" dirty="0" err="1" smtClean="0">
                    <a:latin typeface="Times New Roman" pitchFamily="18" charset="0"/>
                    <a:cs typeface="Times New Roman" pitchFamily="18" charset="0"/>
                  </a:rPr>
                  <a:t>Suatu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karton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persegi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dengan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sisi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0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 </m:t>
                    </m:r>
                    <m:r>
                      <a:rPr lang="en-US" sz="2000" i="1">
                        <a:latin typeface="Cambria Math"/>
                      </a:rPr>
                      <m:t>𝑐𝑚</m:t>
                    </m:r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yang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diperoleh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dengan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memotong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masing-masing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pojok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selebar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/>
                      </a:rPr>
                      <m:t>𝑐𝑚</m:t>
                    </m:r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,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misalkan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sisa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luas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karton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𝑦</m:t>
                    </m:r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𝑐𝑚</m:t>
                            </m:r>
                          </m:e>
                          <m:sup>
                            <m:r>
                              <a:rPr lang="en-US" sz="2000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2000" i="1">
                        <a:latin typeface="Cambria Math"/>
                      </a:rPr>
                      <m:t>.</m:t>
                    </m:r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Maka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luas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sisa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karton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,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dapat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dinyatakan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dengan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: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𝑦</m:t>
                    </m:r>
                    <m:r>
                      <a:rPr lang="en-US" sz="2000" i="1">
                        <a:latin typeface="Cambria Math"/>
                      </a:rPr>
                      <m:t>=100−4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/>
                      </a:rPr>
                      <m:t>.</m:t>
                    </m:r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Bagaimanapun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juga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𝑥</m:t>
                    </m:r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tidak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dapat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negatif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,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sebab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𝑥</m:t>
                    </m:r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menyatakan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panjang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tidak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melebihi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5 </m:t>
                    </m:r>
                    <m:r>
                      <a:rPr lang="en-US" sz="2000" i="1">
                        <a:latin typeface="Cambria Math"/>
                      </a:rPr>
                      <m:t>𝑐𝑚</m:t>
                    </m:r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 (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mengapa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?).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228600"/>
                <a:ext cx="8382000" cy="1938992"/>
              </a:xfrm>
              <a:prstGeom prst="rect">
                <a:avLst/>
              </a:prstGeom>
              <a:blipFill>
                <a:blip r:embed="rId2"/>
                <a:stretch>
                  <a:fillRect l="-800" t="-1887" b="-44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676400" y="2663983"/>
                <a:ext cx="6705600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id-ID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berarti nilai </a:t>
                </a:r>
                <a14:m>
                  <m:oMath xmlns:m="http://schemas.openxmlformats.org/officeDocument/2006/math">
                    <m:r>
                      <a:rPr lang="id-ID" sz="2000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id-ID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terdefinisi atau ada nilainya disetiap </a:t>
                </a:r>
                <a14:m>
                  <m:oMath xmlns:m="http://schemas.openxmlformats.org/officeDocument/2006/math">
                    <m:r>
                      <a:rPr lang="id-ID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id-ID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kecuali di </a:t>
                </a:r>
                <a14:m>
                  <m:oMath xmlns:m="http://schemas.openxmlformats.org/officeDocument/2006/math">
                    <m:r>
                      <a:rPr lang="id-ID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id-ID" sz="2000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id-ID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dan </a:t>
                </a:r>
                <a14:m>
                  <m:oMath xmlns:m="http://schemas.openxmlformats.org/officeDocument/2006/math">
                    <m:r>
                      <a:rPr lang="id-ID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id-ID" sz="2000" i="1">
                        <a:latin typeface="Cambria Math" panose="02040503050406030204" pitchFamily="18" charset="0"/>
                      </a:rPr>
                      <m:t>=−2</m:t>
                    </m:r>
                  </m:oMath>
                </a14:m>
                <a:r>
                  <a:rPr lang="id-ID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400" y="2663983"/>
                <a:ext cx="6705600" cy="707886"/>
              </a:xfrm>
              <a:prstGeom prst="rect">
                <a:avLst/>
              </a:prstGeom>
              <a:blipFill>
                <a:blip r:embed="rId3"/>
                <a:stretch>
                  <a:fillRect l="-909" t="-4310" r="-909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533400" y="2159913"/>
                <a:ext cx="4724400" cy="5291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lvl="1"/>
                <a:r>
                  <a:rPr lang="id-ID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Contoh: </a:t>
                </a: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 </a:t>
                </a:r>
                <a:r>
                  <a:rPr lang="id-ID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Diberikan </a:t>
                </a:r>
                <a:r>
                  <a:rPr lang="id-ID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fungsi: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+2</m:t>
                        </m:r>
                      </m:num>
                      <m:den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−4</m:t>
                        </m:r>
                      </m:den>
                    </m:f>
                  </m:oMath>
                </a14:m>
                <a:endParaRPr lang="en-US" sz="20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2159913"/>
                <a:ext cx="4724400" cy="529184"/>
              </a:xfrm>
              <a:prstGeom prst="rect">
                <a:avLst/>
              </a:prstGeom>
              <a:blipFill>
                <a:blip r:embed="rId4"/>
                <a:stretch>
                  <a:fillRect l="-1419" b="-6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63991" y="53927"/>
            <a:ext cx="7742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  <a:t>Slide 2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568036" y="3438756"/>
                <a:ext cx="7585364" cy="12854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id-ID" sz="20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Contoh: </a:t>
                </a:r>
                <a:r>
                  <a:rPr lang="en-US" sz="2000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5. </a:t>
                </a:r>
                <a:r>
                  <a:rPr lang="id-ID" sz="2000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Apakah </a:t>
                </a:r>
                <a:r>
                  <a:rPr lang="id-ID" sz="20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persamaan </a:t>
                </a:r>
                <a14:m>
                  <m:oMath xmlns:m="http://schemas.openxmlformats.org/officeDocument/2006/math">
                    <m:r>
                      <a:rPr lang="id-ID" sz="20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id-ID" sz="20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id-ID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id-ID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id-ID" sz="20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+1</m:t>
                    </m:r>
                  </m:oMath>
                </a14:m>
                <a:r>
                  <a:rPr lang="id-ID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merupakan fungsi jika ya </a:t>
                </a:r>
                <a:r>
                  <a:rPr lang="en-US" sz="20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20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          </a:t>
                </a:r>
                <a:r>
                  <a:rPr lang="id-ID" sz="20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tentukan </a:t>
                </a:r>
                <a:r>
                  <a:rPr lang="id-ID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fungsi inversnya. Apabila tidak mempunyai invers</a:t>
                </a:r>
                <a:r>
                  <a:rPr lang="id-ID" sz="20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endParaRPr lang="en-US" sz="2000" dirty="0" smtClean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        </a:t>
                </a:r>
                <a:r>
                  <a:rPr lang="id-ID" sz="20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d-ID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bagaimana persamaan tersebut agar memiliki fungsi invers.</a:t>
                </a:r>
                <a:endParaRPr lang="en-US" sz="20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036" y="3438756"/>
                <a:ext cx="7585364" cy="1285480"/>
              </a:xfrm>
              <a:prstGeom prst="rect">
                <a:avLst/>
              </a:prstGeom>
              <a:blipFill>
                <a:blip r:embed="rId5"/>
                <a:stretch>
                  <a:fillRect l="-803" t="-2370" r="-321" b="-56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568036" y="4738091"/>
                <a:ext cx="7128164" cy="57349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id-ID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Contoh: </a:t>
                </a:r>
                <a:r>
                  <a:rPr lang="en-US" sz="20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6. </a:t>
                </a:r>
                <a:r>
                  <a:rPr lang="id-ID" sz="20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Tentukan </a:t>
                </a:r>
                <a:r>
                  <a:rPr lang="id-ID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domain dan range dari fungsi </a:t>
                </a:r>
                <a14:m>
                  <m:oMath xmlns:m="http://schemas.openxmlformats.org/officeDocument/2006/math"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id-ID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id-ID" sz="20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id-ID" sz="20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id-ID" sz="2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−9</m:t>
                            </m:r>
                          </m:e>
                        </m:rad>
                      </m:den>
                    </m:f>
                  </m:oMath>
                </a14:m>
                <a:endParaRPr lang="en-US" sz="20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036" y="4738091"/>
                <a:ext cx="7128164" cy="573490"/>
              </a:xfrm>
              <a:prstGeom prst="rect">
                <a:avLst/>
              </a:prstGeom>
              <a:blipFill>
                <a:blip r:embed="rId6"/>
                <a:stretch>
                  <a:fillRect l="-855" b="-4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568036" y="5445355"/>
                <a:ext cx="7432964" cy="4216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id-ID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Contoh: </a:t>
                </a:r>
                <a:r>
                  <a:rPr lang="en-US" sz="20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7. </a:t>
                </a:r>
                <a:r>
                  <a:rPr lang="id-ID" sz="20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Tulis </a:t>
                </a:r>
                <a:r>
                  <a:rPr lang="id-ID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kembali tanpa nilai mutlak dari </a:t>
                </a:r>
                <a14:m>
                  <m:oMath xmlns:m="http://schemas.openxmlformats.org/officeDocument/2006/math"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d>
                      <m:dPr>
                        <m:begChr m:val="|"/>
                        <m:endChr m:val="|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id-ID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−2</m:t>
                        </m:r>
                      </m:e>
                    </m:d>
                  </m:oMath>
                </a14:m>
                <a:endParaRPr lang="en-US" sz="20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036" y="5445355"/>
                <a:ext cx="7432964" cy="421654"/>
              </a:xfrm>
              <a:prstGeom prst="rect">
                <a:avLst/>
              </a:prstGeom>
              <a:blipFill>
                <a:blip r:embed="rId7"/>
                <a:stretch>
                  <a:fillRect l="-820" t="-7246" b="-20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7068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2" grpId="0"/>
      <p:bldP spid="3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609600" y="218605"/>
            <a:ext cx="2743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id-ID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Operasi pada Fungsi</a:t>
            </a:r>
            <a:r>
              <a:rPr lang="id-ID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624840" y="742890"/>
                <a:ext cx="6004560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d-ID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Definisi</m:t>
                      </m:r>
                      <m:r>
                        <m:rPr>
                          <m:nor/>
                        </m:rPr>
                        <a:rPr lang="id-ID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: </m:t>
                      </m:r>
                      <m:r>
                        <m:rPr>
                          <m:nor/>
                        </m:rPr>
                        <a:rPr lang="id-ID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Diberikan</m:t>
                      </m:r>
                      <m:r>
                        <m:rPr>
                          <m:nor/>
                        </m:rPr>
                        <a:rPr lang="id-ID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 </m:t>
                      </m:r>
                      <m:r>
                        <m:rPr>
                          <m:nor/>
                        </m:rPr>
                        <a:rPr lang="id-ID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fungsi</m:t>
                      </m:r>
                      <m:r>
                        <m:rPr>
                          <m:nor/>
                        </m:rPr>
                        <a:rPr lang="id-ID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id-ID" sz="20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m:rPr>
                          <m:nor/>
                        </m:rPr>
                        <a:rPr lang="id-ID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d-ID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dan</m:t>
                      </m:r>
                      <m:r>
                        <m:rPr>
                          <m:nor/>
                        </m:rPr>
                        <a:rPr lang="id-ID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 </m:t>
                      </m:r>
                      <m:r>
                        <a:rPr lang="id-ID" sz="2000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m:rPr>
                          <m:nor/>
                        </m:rPr>
                        <a:rPr lang="id-ID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d-ID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maka</m:t>
                      </m:r>
                      <m:r>
                        <m:rPr>
                          <m:nor/>
                        </m:rPr>
                        <a:rPr lang="id-ID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d-ID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didefinisikan</m:t>
                      </m:r>
                      <m:r>
                        <m:rPr>
                          <m:nor/>
                        </m:rPr>
                        <a:rPr lang="id-ID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:</m:t>
                      </m:r>
                    </m:oMath>
                  </m:oMathPara>
                </a14:m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40" y="742890"/>
                <a:ext cx="6004560" cy="400110"/>
              </a:xfrm>
              <a:prstGeom prst="rect">
                <a:avLst/>
              </a:prstGeom>
              <a:blipFill>
                <a:blip r:embed="rId3"/>
                <a:stretch>
                  <a:fillRect l="-102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666403" y="4549914"/>
                <a:ext cx="7258398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id-ID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Definisi: Grafik suatu fungsi </a:t>
                </a:r>
                <a14:m>
                  <m:oMath xmlns:m="http://schemas.openxmlformats.org/officeDocument/2006/math">
                    <m:r>
                      <a:rPr lang="id-ID" sz="20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id-ID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pada bidang </a:t>
                </a:r>
                <a14:m>
                  <m:oMath xmlns:m="http://schemas.openxmlformats.org/officeDocument/2006/math">
                    <m:r>
                      <a:rPr lang="id-ID" sz="2000" i="1">
                        <a:latin typeface="Cambria Math" panose="02040503050406030204" pitchFamily="18" charset="0"/>
                      </a:rPr>
                      <m:t>𝑥𝑦</m:t>
                    </m:r>
                  </m:oMath>
                </a14:m>
                <a:r>
                  <a:rPr lang="id-ID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didefinisikan sebagai </a:t>
                </a:r>
                <a:endParaRPr lang="en-US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</a:t>
                </a:r>
                <a:r>
                  <a:rPr lang="id-ID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grafik </a:t>
                </a:r>
                <a:r>
                  <a:rPr lang="id-ID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persamaan </a:t>
                </a:r>
                <a14:m>
                  <m:oMath xmlns:m="http://schemas.openxmlformats.org/officeDocument/2006/math">
                    <m:r>
                      <a:rPr lang="id-ID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id-ID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id-ID" sz="2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id-ID" sz="20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403" y="4549914"/>
                <a:ext cx="7258398" cy="707886"/>
              </a:xfrm>
              <a:prstGeom prst="rect">
                <a:avLst/>
              </a:prstGeom>
              <a:blipFill>
                <a:blip r:embed="rId4"/>
                <a:stretch>
                  <a:fillRect l="-840" t="-4274" r="-252" b="-136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631767" y="1311734"/>
                <a:ext cx="6759634" cy="8980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id-ID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id-ID" sz="2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id-ID" sz="2000" i="1">
                        <a:latin typeface="Cambria Math" panose="02040503050406030204" pitchFamily="18" charset="0"/>
                      </a:rPr>
                      <m:t>±</m:t>
                    </m:r>
                    <m:r>
                      <a:rPr lang="id-ID" sz="20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000" dirty="0" smtClean="0"/>
                  <a:t>    </a:t>
                </a: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2.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id-ID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id-ID" sz="2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id-ID" sz="20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id-ID" sz="20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sz="2000" i="1" dirty="0" smtClean="0"/>
              </a:p>
              <a:p>
                <a:pPr lvl="0"/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id-ID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d-ID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d-ID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den>
                    </m:f>
                    <m:r>
                      <a:rPr lang="id-ID" sz="2000" i="1">
                        <a:latin typeface="Cambria Math" panose="02040503050406030204" pitchFamily="18" charset="0"/>
                      </a:rPr>
                      <m:t>  ; </m:t>
                    </m:r>
                    <m:r>
                      <a:rPr lang="id-ID" sz="20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id-ID" sz="2000" i="1">
                        <a:latin typeface="Cambria Math" panose="02040503050406030204" pitchFamily="18" charset="0"/>
                      </a:rPr>
                      <m:t>≠0  </m:t>
                    </m:r>
                  </m:oMath>
                </a14:m>
                <a:r>
                  <a:rPr lang="en-US" sz="2000" dirty="0" smtClean="0"/>
                  <a:t>      </a:t>
                </a: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∘</m:t>
                        </m:r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id-ID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id-ID" sz="2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d-ID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endParaRPr lang="en-US" sz="2000" b="1" dirty="0">
                  <a:latin typeface="Times New Roman" pitchFamily="18" charset="0"/>
                  <a:ea typeface="SimSun-ExtB" pitchFamily="49" charset="-122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767" y="1311734"/>
                <a:ext cx="6759634" cy="898066"/>
              </a:xfrm>
              <a:prstGeom prst="rect">
                <a:avLst/>
              </a:prstGeom>
              <a:blipFill>
                <a:blip r:embed="rId5"/>
                <a:stretch>
                  <a:fillRect l="-992" t="-40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609600" y="3070155"/>
                <a:ext cx="7620000" cy="10446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id-ID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Contoh: Diberikan fungsi </a:t>
                </a:r>
                <a14:m>
                  <m:oMath xmlns:m="http://schemas.openxmlformats.org/officeDocument/2006/math">
                    <m:r>
                      <a:rPr lang="id-ID" sz="2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id-ID" sz="2000" i="1">
                        <a:latin typeface="Cambria Math" panose="02040503050406030204" pitchFamily="18" charset="0"/>
                      </a:rPr>
                      <m:t>=1+</m:t>
                    </m:r>
                    <m:rad>
                      <m:radPr>
                        <m:deg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rad>
                  </m:oMath>
                </a14:m>
                <a:r>
                  <a:rPr lang="id-ID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dan  </a:t>
                </a:r>
                <a14:m>
                  <m:oMath xmlns:m="http://schemas.openxmlformats.org/officeDocument/2006/math">
                    <m:r>
                      <a:rPr lang="id-ID" sz="20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id-ID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id-ID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id-ID" sz="2000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id-ID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id-ID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</a:t>
                </a: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d-ID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id-ID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Tentukan fungsi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id-ID" sz="2000" i="1">
                        <a:latin typeface="Cambria Math" panose="02040503050406030204" pitchFamily="18" charset="0"/>
                      </a:rPr>
                      <m:t>; </m:t>
                    </m:r>
                  </m:oMath>
                </a14:m>
                <a:r>
                  <a:rPr lang="id-ID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id-ID" sz="2000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id-ID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id-ID" sz="2000" i="1">
                        <a:latin typeface="Cambria Math" panose="02040503050406030204" pitchFamily="18" charset="0"/>
                      </a:rPr>
                      <m:t>; 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∘</m:t>
                        </m:r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</a:t>
                </a:r>
                <a:r>
                  <a:rPr lang="id-ID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:r>
                  <a:rPr lang="id-ID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serta domainnya</a:t>
                </a:r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3070155"/>
                <a:ext cx="7620000" cy="1044645"/>
              </a:xfrm>
              <a:prstGeom prst="rect">
                <a:avLst/>
              </a:prstGeom>
              <a:blipFill>
                <a:blip r:embed="rId6"/>
                <a:stretch>
                  <a:fillRect l="-800" t="-585" b="-9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631767" y="2260540"/>
                <a:ext cx="6607233" cy="7874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id-ID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id-ID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id-ID" sz="2000" i="1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m:rPr>
                        <m:nor/>
                      </m:rPr>
                      <a:rPr lang="id-ID" sz="2000"/>
                      <m:t>  </m:t>
                    </m:r>
                    <m:r>
                      <m:rPr>
                        <m:nor/>
                      </m:rPr>
                      <a:rPr lang="en-US" sz="2000" b="0" i="0" smtClean="0"/>
                      <m:t>;</m:t>
                    </m:r>
                    <m:r>
                      <m:rPr>
                        <m:nor/>
                      </m:rPr>
                      <a:rPr lang="id-ID" sz="2000"/>
                      <m:t> 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id-ID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id-ID" sz="2000" i="1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id-ID" sz="2000" i="1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: </m:t>
                        </m:r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d-ID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</m:oMath>
                </a14:m>
                <a:r>
                  <a:rPr lang="en-US" sz="2000" dirty="0" smtClean="0"/>
                  <a:t> </a:t>
                </a:r>
              </a:p>
              <a:p>
                <a:r>
                  <a:rPr lang="en-US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dan</a:t>
                </a: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∘</m:t>
                        </m:r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id-ID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𝜖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20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id-ID" sz="20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d-ID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𝜖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20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id-ID" sz="20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e>
                    </m:d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767" y="2260540"/>
                <a:ext cx="6607233" cy="787460"/>
              </a:xfrm>
              <a:prstGeom prst="rect">
                <a:avLst/>
              </a:prstGeom>
              <a:blipFill>
                <a:blip r:embed="rId7"/>
                <a:stretch>
                  <a:fillRect l="-1015"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631767" y="4171890"/>
            <a:ext cx="3108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Sifat-Sifat </a:t>
            </a:r>
            <a:r>
              <a:rPr lang="id-ID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Grafik </a:t>
            </a:r>
            <a:r>
              <a:rPr lang="id-ID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Fungsi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991" y="53927"/>
            <a:ext cx="7742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  <a:t>Slide 3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666403" y="5257800"/>
                <a:ext cx="7182197" cy="4290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id-ID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Contoh: Gambarlah grafik </a:t>
                </a:r>
                <a14:m>
                  <m:oMath xmlns:m="http://schemas.openxmlformats.org/officeDocument/2006/math">
                    <m:r>
                      <a:rPr lang="id-ID" sz="2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id-ID" sz="2000" i="1">
                        <a:latin typeface="Cambria Math" panose="02040503050406030204" pitchFamily="18" charset="0"/>
                      </a:rPr>
                      <m:t>=1+</m:t>
                    </m:r>
                    <m:rad>
                      <m:radPr>
                        <m:deg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rad>
                  </m:oMath>
                </a14:m>
                <a:r>
                  <a:rPr lang="id-ID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dan  </a:t>
                </a:r>
                <a14:m>
                  <m:oMath xmlns:m="http://schemas.openxmlformats.org/officeDocument/2006/math">
                    <m:r>
                      <a:rPr lang="id-ID" sz="20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id-ID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id-ID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id-ID" sz="2000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403" y="5257800"/>
                <a:ext cx="7182197" cy="429092"/>
              </a:xfrm>
              <a:prstGeom prst="rect">
                <a:avLst/>
              </a:prstGeom>
              <a:blipFill>
                <a:blip r:embed="rId8"/>
                <a:stretch>
                  <a:fillRect l="-848" t="-1429" b="-2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8957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2" grpId="0"/>
      <p:bldP spid="3" grpId="0"/>
      <p:bldP spid="10" grpId="0"/>
      <p:bldP spid="11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4964" y="287178"/>
            <a:ext cx="155863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Sifat-Sifat</a:t>
            </a:r>
            <a:r>
              <a:rPr lang="id-ID" sz="2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7828" y="674012"/>
            <a:ext cx="52795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id-ID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Pergeseran </a:t>
            </a:r>
            <a:r>
              <a:rPr lang="id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arah horizontal dan vertikal </a:t>
            </a:r>
            <a:r>
              <a:rPr lang="id-ID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grafik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587828" y="4034815"/>
                <a:ext cx="7717972" cy="14773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</a:t>
                </a:r>
                <a:r>
                  <a:rPr lang="id-ID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Simetri</a:t>
                </a:r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id-ID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Suatu kurva bidang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id-ID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id-ID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simetri terhadap: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/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a. </a:t>
                </a:r>
                <a:r>
                  <a:rPr lang="id-ID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Sumbu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jika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diganti dengan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</a:rPr>
                      <m:t>–</m:t>
                    </m:r>
                    <m:r>
                      <a:rPr lang="id-ID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menghasilkan </a:t>
                </a:r>
                <a:r>
                  <a:rPr lang="id-ID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persamaan </a:t>
                </a:r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yang ekivalen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/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b. </a:t>
                </a:r>
                <a:r>
                  <a:rPr lang="id-ID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Sumbu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jika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diganti dengan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</a:rPr>
                      <m:t>–</m:t>
                    </m:r>
                    <m:r>
                      <a:rPr lang="id-ID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menghasilkan </a:t>
                </a:r>
                <a:r>
                  <a:rPr lang="id-ID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persamaan </a:t>
                </a:r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yang ekivalen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/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c. </a:t>
                </a:r>
                <a:r>
                  <a:rPr lang="id-ID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Titik </a:t>
                </a:r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asal jika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diganti dengan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</a:rPr>
                      <m:t>–</m:t>
                    </m:r>
                    <m:r>
                      <a:rPr lang="id-ID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dan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diganti dengan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</a:rPr>
                      <m:t>–</m:t>
                    </m:r>
                    <m:r>
                      <a:rPr lang="id-ID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d-ID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menghasilkan </a:t>
                </a:r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</a:t>
                </a:r>
                <a:r>
                  <a:rPr lang="id-ID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persamaan yang ekivalen</a:t>
                </a:r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828" y="4034815"/>
                <a:ext cx="7717972" cy="1477328"/>
              </a:xfrm>
              <a:prstGeom prst="rect">
                <a:avLst/>
              </a:prstGeom>
              <a:blipFill>
                <a:blip r:embed="rId2"/>
                <a:stretch>
                  <a:fillRect l="-631" t="-2479" b="-57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8445990" y="53927"/>
            <a:ext cx="7742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  <a:t>Slide 4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695026" y="1108758"/>
                <a:ext cx="8144174" cy="29260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71450" marR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Diberikan persamaan 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dan bilangan konstan 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&gt;0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maka: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R="0" lvl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a. </a:t>
                </a:r>
                <a:r>
                  <a:rPr lang="id-ID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Grafik 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diperoleh menggeser grafik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ke atas </a:t>
                </a:r>
                <a:r>
                  <a:rPr lang="id-ID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sejauh</a:t>
                </a:r>
                <a:endParaRPr lang="en-US" dirty="0" smtClean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R="0" lvl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  <a:r>
                  <a:rPr lang="id-ID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satuan</a:t>
                </a:r>
                <a:endParaRPr lang="en-US" dirty="0"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R="0" lvl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b. </a:t>
                </a:r>
                <a:r>
                  <a:rPr lang="id-ID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Grafik 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diperoleh menggeser grafik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ke bawah sejauh </a:t>
                </a:r>
                <a:endParaRPr lang="en-US" dirty="0" smtClean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R="0" lvl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satuan</a:t>
                </a:r>
                <a:endParaRPr lang="en-US" dirty="0"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R="0" lvl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c. </a:t>
                </a:r>
                <a:r>
                  <a:rPr lang="id-ID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Grafik 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diperoleh menggeser grafik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ke kiri </a:t>
                </a:r>
                <a:r>
                  <a:rPr lang="id-ID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sejauh</a:t>
                </a:r>
                <a:endParaRPr lang="en-US" dirty="0" smtClean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R="0" lvl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</a:t>
                </a:r>
                <a:r>
                  <a:rPr lang="id-ID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satuan</a:t>
                </a:r>
                <a:endParaRPr lang="en-US" dirty="0"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en-US" dirty="0" smtClean="0">
                    <a:latin typeface="Times New Roman" panose="02020603050405020304" pitchFamily="18" charset="0"/>
                    <a:ea typeface="Calibri" panose="020F0502020204030204" pitchFamily="34" charset="0"/>
                  </a:rPr>
                  <a:t>  d. </a:t>
                </a:r>
                <a:r>
                  <a:rPr lang="id-ID" dirty="0" smtClean="0">
                    <a:latin typeface="Times New Roman" panose="02020603050405020304" pitchFamily="18" charset="0"/>
                    <a:ea typeface="Calibri" panose="020F0502020204030204" pitchFamily="34" charset="0"/>
                  </a:rPr>
                  <a:t>Grafik 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id-ID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id-ID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id-ID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id-ID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diperoleh menggeser grafik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ke kanan </a:t>
                </a:r>
                <a:r>
                  <a:rPr lang="id-ID" dirty="0" smtClean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sejauh</a:t>
                </a:r>
                <a:endParaRPr lang="en-US" dirty="0" smtClean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dirty="0" smtClean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   </a:t>
                </a:r>
                <a:r>
                  <a:rPr lang="id-ID" dirty="0" smtClean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satuan </a:t>
                </a:r>
                <a:endParaRPr lang="en-US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026" y="1108758"/>
                <a:ext cx="8144174" cy="2926057"/>
              </a:xfrm>
              <a:prstGeom prst="rect">
                <a:avLst/>
              </a:prstGeom>
              <a:blipFill>
                <a:blip r:embed="rId3"/>
                <a:stretch>
                  <a:fillRect t="-1250" b="-2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574964" y="5532925"/>
                <a:ext cx="8035636" cy="9814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R="0" lvl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3. </a:t>
                </a:r>
                <a:r>
                  <a:rPr lang="id-ID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Penskalaan/dilatasi grafik</a:t>
                </a:r>
                <a:r>
                  <a:rPr lang="en-US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17145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d-ID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Diberikan </a:t>
                </a:r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persamaan 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maka grafik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𝑐𝑓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merupakan peregangan untuk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0&lt;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&lt;1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atau </a:t>
                </a:r>
                <a:r>
                  <a:rPr lang="id-ID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pemampatan</a:t>
                </a:r>
                <a:r>
                  <a:rPr lang="en-US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d-ID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untuk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&gt;1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pada arah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964" y="5532925"/>
                <a:ext cx="8035636" cy="981423"/>
              </a:xfrm>
              <a:prstGeom prst="rect">
                <a:avLst/>
              </a:prstGeom>
              <a:blipFill>
                <a:blip r:embed="rId4"/>
                <a:stretch>
                  <a:fillRect l="-607" t="-3727" b="-68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63991" y="53927"/>
            <a:ext cx="7742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  <a:t>Slide 4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9522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  <p:bldP spid="5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74073" y="1622632"/>
            <a:ext cx="7624630" cy="368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id-ID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Contoh: Gambarlah grafik </a:t>
            </a:r>
            <a:r>
              <a:rPr lang="id-ID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fungsi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sifat-sifat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diatas</a:t>
            </a:r>
            <a:r>
              <a:rPr lang="id-ID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374073" y="304800"/>
                <a:ext cx="7851570" cy="12777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R="0" lvl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4. </a:t>
                </a:r>
                <a:r>
                  <a:rPr lang="id-ID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Pencerminan</a:t>
                </a:r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171450" marR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Diberikan persamaan 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maka: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R="0" lvl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dirty="0" smtClean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a.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dicerminkan terhadap sumbu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didapat persamaannya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R="0" lvl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dirty="0" smtClean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b.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dicerminkan terhadap sumbu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didapat persamaannya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=−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073" y="304800"/>
                <a:ext cx="7851570" cy="1277786"/>
              </a:xfrm>
              <a:prstGeom prst="rect">
                <a:avLst/>
              </a:prstGeom>
              <a:blipFill>
                <a:blip r:embed="rId2"/>
                <a:stretch>
                  <a:fillRect l="-621" t="-2381" b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63991" y="53927"/>
            <a:ext cx="7742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  <a:t>Slide 5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1096" y="2037958"/>
            <a:ext cx="1835759" cy="4216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id-ID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Fungsi Invers: </a:t>
            </a: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430314" y="2420190"/>
                <a:ext cx="7795329" cy="121078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Definisi: Jika dua buah fungsi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dan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𝑔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memenuhi dua sifat: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∘</m:t>
                        </m:r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</m:d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untuk setiap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𝜖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b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dan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∘</m:t>
                        </m:r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</m:d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d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untuk setiap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𝜖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b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sub>
                    </m:sSub>
                  </m:oMath>
                </a14:m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       maka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dikatakan invers dari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𝑔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atau sebaliknya.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314" y="2420190"/>
                <a:ext cx="7795329" cy="1210781"/>
              </a:xfrm>
              <a:prstGeom prst="rect">
                <a:avLst/>
              </a:prstGeom>
              <a:blipFill>
                <a:blip r:embed="rId3"/>
                <a:stretch>
                  <a:fillRect l="-704" t="-2513" b="-55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451096" y="3587322"/>
                <a:ext cx="6324600" cy="5108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id-ID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Contoh: Buktikan 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d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merupakan invers dari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=2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096" y="3587322"/>
                <a:ext cx="6324600" cy="510845"/>
              </a:xfrm>
              <a:prstGeom prst="rect">
                <a:avLst/>
              </a:prstGeom>
              <a:blipFill>
                <a:blip r:embed="rId4"/>
                <a:stretch>
                  <a:fillRect l="-868" b="-5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423387" y="4098167"/>
                <a:ext cx="6961086" cy="3886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Pada contoh diatas jika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𝑔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dinotasikan dengan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p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maka memenuhi juga 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387" y="4098167"/>
                <a:ext cx="6961086" cy="388696"/>
              </a:xfrm>
              <a:prstGeom prst="rect">
                <a:avLst/>
              </a:prstGeom>
              <a:blipFill>
                <a:blip r:embed="rId5"/>
                <a:stretch>
                  <a:fillRect l="-701" t="-7813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374073" y="4503431"/>
                <a:ext cx="7335160" cy="4049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p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untuk setiap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𝜖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b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dan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sup>
                        </m:s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untuk setiap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𝜖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sup>
                        </m:sSup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073" y="4503431"/>
                <a:ext cx="7335160" cy="404983"/>
              </a:xfrm>
              <a:prstGeom prst="rect">
                <a:avLst/>
              </a:prstGeom>
              <a:blipFill>
                <a:blip r:embed="rId6"/>
                <a:stretch>
                  <a:fillRect t="-7576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451096" y="4970627"/>
                <a:ext cx="8388104" cy="83227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Karena kedua fungsi pada satu sistem koordinat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𝑋𝑂𝑌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maka sebagai variabel bebas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dan variabel tak bebas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sehinggga akan selalu memenuhi: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id-ID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𝒇</m:t>
                        </m:r>
                      </m:e>
                      <m:sup>
                        <m:r>
                          <a:rPr lang="id-ID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id-ID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p>
                    </m:sSup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𝒇</m:t>
                        </m:r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id-ID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</m:d>
                      </m:e>
                    </m:d>
                    <m:r>
                      <a:rPr lang="id-ID" b="1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id-ID" b="1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𝒇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id-ID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𝒇</m:t>
                            </m:r>
                          </m:e>
                          <m:sup>
                            <m:r>
                              <a:rPr lang="id-ID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id-ID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p>
                        </m:sSup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id-ID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</m:d>
                      </m:e>
                    </m:d>
                    <m:r>
                      <a:rPr lang="id-ID" b="1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id-ID" b="1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𝒙</m:t>
                    </m:r>
                  </m:oMath>
                </a14:m>
                <a:r>
                  <a:rPr lang="id-ID" b="1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b="1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096" y="4970627"/>
                <a:ext cx="8388104" cy="832279"/>
              </a:xfrm>
              <a:prstGeom prst="rect">
                <a:avLst/>
              </a:prstGeom>
              <a:blipFill>
                <a:blip r:embed="rId7"/>
                <a:stretch>
                  <a:fillRect l="-654" t="-3650" r="-291" b="-2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430314" y="5865119"/>
                <a:ext cx="6739413" cy="42518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Dari definisi diperoleh hubungan bahwa: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b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sub>
                    </m:sSub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sup>
                        </m:sSup>
                      </m:sub>
                    </m:sSub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dan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sub>
                    </m:sSub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sup>
                        </m:sSup>
                      </m:sub>
                    </m:sSub>
                  </m:oMath>
                </a14:m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314" y="5865119"/>
                <a:ext cx="6739413" cy="425181"/>
              </a:xfrm>
              <a:prstGeom prst="rect">
                <a:avLst/>
              </a:prstGeom>
              <a:blipFill>
                <a:blip r:embed="rId8"/>
                <a:stretch>
                  <a:fillRect l="-814" t="-2857" b="-1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6005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E:\GAMBAR\8zpkl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53" y="4370954"/>
            <a:ext cx="8965709" cy="2487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14331" y="361704"/>
                <a:ext cx="7286669" cy="7876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Grafik fungsi invers diperoleh dengan cara mencerminkan grafik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dirty="0" smtClean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id-ID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terhadap persamaan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331" y="361704"/>
                <a:ext cx="7286669" cy="787652"/>
              </a:xfrm>
              <a:prstGeom prst="rect">
                <a:avLst/>
              </a:prstGeom>
              <a:blipFill>
                <a:blip r:embed="rId3"/>
                <a:stretch>
                  <a:fillRect l="-669" t="-3846" b="-8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63991" y="53927"/>
            <a:ext cx="7742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  <a:t>Slide 6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14331" y="1199948"/>
            <a:ext cx="3288080" cy="3886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id-ID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Cara mendapatkan fungsi invers: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693960" y="1625381"/>
                <a:ext cx="191507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Tulis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960" y="1625381"/>
                <a:ext cx="1915076" cy="369332"/>
              </a:xfrm>
              <a:prstGeom prst="rect">
                <a:avLst/>
              </a:prstGeom>
              <a:blipFill>
                <a:blip r:embed="rId4"/>
                <a:stretch>
                  <a:fillRect l="-2866" t="-1166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2438400" y="1625381"/>
                <a:ext cx="509235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id-ID" dirty="0" smtClean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Selesaikan</a:t>
                </a:r>
                <a:r>
                  <a:rPr lang="en-US" dirty="0" smtClean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(</a:t>
                </a:r>
                <a:r>
                  <a:rPr lang="en-US" dirty="0" err="1" smtClean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kalau</a:t>
                </a:r>
                <a:r>
                  <a:rPr lang="en-US" dirty="0" smtClean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dirty="0" err="1" smtClean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mungkin</a:t>
                </a:r>
                <a:r>
                  <a:rPr lang="en-US" dirty="0" smtClean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) </a:t>
                </a:r>
                <a:r>
                  <a:rPr lang="id-ID" dirty="0" smtClean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d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p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d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0" y="1625381"/>
                <a:ext cx="5092356" cy="369332"/>
              </a:xfrm>
              <a:prstGeom prst="rect">
                <a:avLst/>
              </a:prstGeom>
              <a:blipFill>
                <a:blip r:embed="rId5"/>
                <a:stretch>
                  <a:fillRect l="-958" t="-1166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714331" y="2064669"/>
                <a:ext cx="207274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tukar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dengan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331" y="2064669"/>
                <a:ext cx="2072747" cy="369332"/>
              </a:xfrm>
              <a:prstGeom prst="rect">
                <a:avLst/>
              </a:prstGeom>
              <a:blipFill>
                <a:blip r:embed="rId6"/>
                <a:stretch>
                  <a:fillRect l="-2353" t="-1166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2752442" y="2064669"/>
                <a:ext cx="230556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sehinggga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p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2442" y="2064669"/>
                <a:ext cx="2305568" cy="369332"/>
              </a:xfrm>
              <a:prstGeom prst="rect">
                <a:avLst/>
              </a:prstGeom>
              <a:blipFill>
                <a:blip r:embed="rId7"/>
                <a:stretch>
                  <a:fillRect l="-2381" t="-1166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693960" y="2471163"/>
                <a:ext cx="8069040" cy="8156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id-ID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Contoh: Dapatkan fungsi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p>
                        <m:r>
                          <a:rPr lang="id-ID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dan tentukan </a:t>
                </a:r>
                <a:r>
                  <a:rPr lang="id-ID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pula domain </a:t>
                </a:r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dan </a:t>
                </a:r>
                <a:r>
                  <a:rPr lang="id-ID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rangenya serta sketsa</a:t>
                </a:r>
                <a:endParaRPr lang="en-US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R="0" lvl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dirty="0" smtClean="0">
                    <a:ea typeface="Calibri" panose="020F0502020204030204" pitchFamily="34" charset="0"/>
                    <a:cs typeface="Times New Roman" panose="02020603050405020304" pitchFamily="18" charset="0"/>
                  </a:rPr>
                  <a:t>1.  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id-ID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id-ID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4</m:t>
                        </m:r>
                      </m:sup>
                    </m:sSup>
                    <m:r>
                      <a:rPr lang="id-ID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+2 ;</m:t>
                    </m:r>
                    <m:r>
                      <a:rPr lang="id-ID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id-ID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≥0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  2.  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id-ID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=−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id-ID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2−7</m:t>
                        </m:r>
                        <m:r>
                          <a:rPr lang="id-ID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rad>
                  </m:oMath>
                </a14:m>
                <a:endParaRPr lang="en-US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960" y="2471163"/>
                <a:ext cx="8069040" cy="815608"/>
              </a:xfrm>
              <a:prstGeom prst="rect">
                <a:avLst/>
              </a:prstGeom>
              <a:blipFill>
                <a:blip r:embed="rId8"/>
                <a:stretch>
                  <a:fillRect l="-680" t="-3731" r="-302" b="-82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693960" y="3291533"/>
                <a:ext cx="8450040" cy="12520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0"/>
                  </a:spcAft>
                </a:pPr>
                <a:r>
                  <a:rPr lang="id-ID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Kerjakan dan kumpulkan:</a:t>
                </a:r>
                <a:endParaRPr lang="en-US" b="1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spcAft>
                    <a:spcPts val="0"/>
                  </a:spcAft>
                </a:pPr>
                <a:r>
                  <a:rPr lang="id-ID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Dapatkan fungsi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id-ID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𝒇</m:t>
                        </m:r>
                      </m:e>
                      <m:sup>
                        <m:r>
                          <a:rPr lang="id-ID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−</m:t>
                        </m:r>
                        <m:r>
                          <a:rPr lang="id-ID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𝟏</m:t>
                        </m:r>
                      </m:sup>
                    </m:sSup>
                    <m:d>
                      <m:dPr>
                        <m:ctrlPr>
                          <a:rPr lang="en-US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id-ID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id-ID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dan tentukan </a:t>
                </a:r>
                <a:r>
                  <a:rPr lang="id-ID" b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pula domain </a:t>
                </a:r>
                <a:r>
                  <a:rPr lang="id-ID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dan rangenya serta sketsa</a:t>
                </a:r>
                <a:endParaRPr lang="en-US" b="1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lvl="0">
                  <a:spcAft>
                    <a:spcPts val="0"/>
                  </a:spcAft>
                  <a:buClr>
                    <a:srgbClr val="000000"/>
                  </a:buClr>
                </a:pPr>
                <a:r>
                  <a:rPr lang="id-ID" b="1" dirty="0" smtClean="0">
                    <a:ea typeface="Times New Roman" panose="02020603050405020304" pitchFamily="18" charset="0"/>
                  </a:rPr>
                  <a:t>1.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𝒇</m:t>
                    </m:r>
                    <m:r>
                      <a:rPr lang="en-US" b="1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(</m:t>
                    </m:r>
                    <m:r>
                      <a:rPr lang="en-US" b="1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)=</m:t>
                    </m:r>
                    <m:r>
                      <a:rPr lang="en-US" b="1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𝟑</m:t>
                    </m:r>
                    <m:r>
                      <a:rPr lang="en-US" b="1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;</m:t>
                    </m:r>
                    <m:r>
                      <a:rPr lang="en-US" b="1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≥</m:t>
                    </m:r>
                    <m:r>
                      <a:rPr lang="en-US" b="1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lang="en-US" b="1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id-ID" b="1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  2.  </a:t>
                </a:r>
                <a14:m>
                  <m:oMath xmlns:m="http://schemas.openxmlformats.org/officeDocument/2006/math">
                    <m:r>
                      <a:rPr lang="id-ID" b="1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𝒇</m:t>
                    </m:r>
                    <m:r>
                      <a:rPr lang="id-ID" b="1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(</m:t>
                    </m:r>
                    <m:r>
                      <a:rPr lang="id-ID" b="1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𝒙</m:t>
                    </m:r>
                    <m:r>
                      <a:rPr lang="id-ID" b="1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)=</m:t>
                    </m:r>
                    <m:rad>
                      <m:radPr>
                        <m:degHide m:val="on"/>
                        <m:ctrlPr>
                          <a:rPr lang="en-US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id-ID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𝒙</m:t>
                        </m:r>
                        <m:r>
                          <a:rPr lang="id-ID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−</m:t>
                        </m:r>
                        <m:r>
                          <a:rPr lang="id-ID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𝟑</m:t>
                        </m:r>
                      </m:e>
                    </m:rad>
                  </m:oMath>
                </a14:m>
                <a:r>
                  <a:rPr lang="id-ID" b="1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endParaRPr lang="en-US" b="1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US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960" y="3291533"/>
                <a:ext cx="8450040" cy="1252009"/>
              </a:xfrm>
              <a:prstGeom prst="rect">
                <a:avLst/>
              </a:prstGeom>
              <a:blipFill>
                <a:blip r:embed="rId9"/>
                <a:stretch>
                  <a:fillRect l="-649" t="-29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349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0" grpId="0"/>
      <p:bldP spid="11" grpId="0"/>
      <p:bldP spid="2" grpId="0"/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1148</TotalTime>
  <Words>360</Words>
  <Application>Microsoft Office PowerPoint</Application>
  <PresentationFormat>On-screen Show (4:3)</PresentationFormat>
  <Paragraphs>86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SimSun-ExtB</vt:lpstr>
      <vt:lpstr>Arial</vt:lpstr>
      <vt:lpstr>Calibri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Amanda</cp:lastModifiedBy>
  <cp:revision>55</cp:revision>
  <dcterms:created xsi:type="dcterms:W3CDTF">2015-01-22T04:15:32Z</dcterms:created>
  <dcterms:modified xsi:type="dcterms:W3CDTF">2026-03-02T15:06:39Z</dcterms:modified>
</cp:coreProperties>
</file>