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6" r:id="rId4"/>
    <p:sldId id="267" r:id="rId5"/>
    <p:sldId id="268" r:id="rId6"/>
    <p:sldId id="270" r:id="rId7"/>
    <p:sldId id="27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4" autoAdjust="0"/>
    <p:restoredTop sz="94660"/>
  </p:normalViewPr>
  <p:slideViewPr>
    <p:cSldViewPr>
      <p:cViewPr varScale="1">
        <p:scale>
          <a:sx n="78" d="100"/>
          <a:sy n="78" d="100"/>
        </p:scale>
        <p:origin x="10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54918-885F-44EE-89E7-41C8545073A6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ADD9F-2A47-422A-A7F7-32EDCAE6D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3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ADD9F-2A47-422A-A7F7-32EDCAE6D3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9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3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7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7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4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7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0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8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3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8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0115A-3449-48E5-8332-85930E1D768B}" type="datetimeFigureOut">
              <a:rPr lang="en-US" smtClean="0"/>
              <a:t>03-Sep-24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2651" y="168689"/>
            <a:ext cx="47385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2000" b="1" dirty="0" smtClean="0">
                <a:latin typeface="Times New Roman" pitchFamily="18" charset="0"/>
                <a:cs typeface="Times New Roman" pitchFamily="18" charset="0"/>
              </a:rPr>
              <a:t>BAB 3.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 DAN KEKONTINUAN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1310" y="511146"/>
            <a:ext cx="40158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marR="1270" indent="-285750" algn="just">
              <a:spcBef>
                <a:spcPts val="0"/>
              </a:spcBef>
              <a:tabLst>
                <a:tab pos="114300" algn="l"/>
              </a:tabLs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Pengantar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Notasi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Limit: </a:t>
            </a:r>
          </a:p>
          <a:p>
            <a:pPr marL="114300" marR="1270" indent="-285750" algn="just">
              <a:spcBef>
                <a:spcPts val="0"/>
              </a:spcBef>
              <a:tabLst>
                <a:tab pos="114300" algn="l"/>
              </a:tabLst>
            </a:pP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Kemiringan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garis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singgung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991" y="53927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1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47119" y="1098343"/>
                <a:ext cx="6860674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4300" marR="1270" indent="-1143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114300" algn="l"/>
                  </a:tabLst>
                </a:pP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Perhatikan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suatu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garis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singgung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fungsi</a:t>
                </a:r>
                <a:r>
                  <a:rPr lang="en-US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pada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gambar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dibawah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19" y="1098343"/>
                <a:ext cx="6860674" cy="388696"/>
              </a:xfrm>
              <a:prstGeom prst="rect">
                <a:avLst/>
              </a:prstGeom>
              <a:blipFill>
                <a:blip r:embed="rId2"/>
                <a:stretch>
                  <a:fillRect l="-800" t="-7813" r="-62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4974863" y="1673844"/>
            <a:ext cx="2849245" cy="2045971"/>
            <a:chOff x="0" y="-15746"/>
            <a:chExt cx="2849494" cy="2046417"/>
          </a:xfrm>
        </p:grpSpPr>
        <p:grpSp>
          <p:nvGrpSpPr>
            <p:cNvPr id="38" name="Group 37"/>
            <p:cNvGrpSpPr/>
            <p:nvPr/>
          </p:nvGrpSpPr>
          <p:grpSpPr>
            <a:xfrm>
              <a:off x="0" y="0"/>
              <a:ext cx="2849494" cy="2016056"/>
              <a:chOff x="0" y="0"/>
              <a:chExt cx="2849494" cy="2006267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 flipV="1">
                <a:off x="219394" y="1774492"/>
                <a:ext cx="2467223" cy="27258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49" name="Straight Arrow Connector 48"/>
              <p:cNvCxnSpPr/>
              <p:nvPr/>
            </p:nvCxnSpPr>
            <p:spPr>
              <a:xfrm flipV="1">
                <a:off x="219394" y="0"/>
                <a:ext cx="0" cy="180685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393876" y="393425"/>
                <a:ext cx="1882755" cy="1057178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1689750" y="972922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512366" y="246606"/>
                <a:ext cx="381092" cy="142513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sp>
            <p:nvSpPr>
              <p:cNvPr id="53" name="Arc 52"/>
              <p:cNvSpPr/>
              <p:nvPr/>
            </p:nvSpPr>
            <p:spPr>
              <a:xfrm rot="14246727">
                <a:off x="750727" y="489708"/>
                <a:ext cx="1169736" cy="1524667"/>
              </a:xfrm>
              <a:prstGeom prst="arc">
                <a:avLst>
                  <a:gd name="adj1" fmla="val 16474814"/>
                  <a:gd name="adj2" fmla="val 5720008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Text Box 23"/>
              <p:cNvSpPr txBox="1"/>
              <p:nvPr/>
            </p:nvSpPr>
            <p:spPr>
              <a:xfrm>
                <a:off x="453156" y="878114"/>
                <a:ext cx="352478" cy="72368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5" name="Text Box 153"/>
              <p:cNvSpPr txBox="1"/>
              <p:nvPr/>
            </p:nvSpPr>
            <p:spPr>
              <a:xfrm>
                <a:off x="0" y="5306"/>
                <a:ext cx="289560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6" name="Text Box 27"/>
              <p:cNvSpPr txBox="1"/>
              <p:nvPr/>
            </p:nvSpPr>
            <p:spPr>
              <a:xfrm>
                <a:off x="2552949" y="1764967"/>
                <a:ext cx="296545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 Box 155"/>
                  <p:cNvSpPr txBox="1"/>
                  <p:nvPr/>
                </p:nvSpPr>
                <p:spPr>
                  <a:xfrm>
                    <a:off x="685424" y="1123263"/>
                    <a:ext cx="343814" cy="248717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Text Box 1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5424" y="1123263"/>
                    <a:ext cx="343814" cy="248717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 Box 156"/>
                  <p:cNvSpPr txBox="1"/>
                  <p:nvPr/>
                </p:nvSpPr>
                <p:spPr>
                  <a:xfrm>
                    <a:off x="1730849" y="887491"/>
                    <a:ext cx="927955" cy="248716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 Box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0849" y="887491"/>
                    <a:ext cx="927955" cy="24871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" name="Text Box 157"/>
              <p:cNvSpPr txBox="1"/>
              <p:nvPr/>
            </p:nvSpPr>
            <p:spPr>
              <a:xfrm>
                <a:off x="34215" y="1721077"/>
                <a:ext cx="197510" cy="24139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 Box 321"/>
                  <p:cNvSpPr txBox="1"/>
                  <p:nvPr/>
                </p:nvSpPr>
                <p:spPr>
                  <a:xfrm>
                    <a:off x="354786" y="1161004"/>
                    <a:ext cx="359213" cy="226772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 Box 3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4786" y="1161004"/>
                    <a:ext cx="359213" cy="22677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322"/>
                  <p:cNvSpPr txBox="1"/>
                  <p:nvPr/>
                </p:nvSpPr>
                <p:spPr>
                  <a:xfrm>
                    <a:off x="1656464" y="419931"/>
                    <a:ext cx="270662" cy="241402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 Box 3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6464" y="419931"/>
                    <a:ext cx="270662" cy="241402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2500"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324"/>
                  <p:cNvSpPr txBox="1"/>
                  <p:nvPr/>
                </p:nvSpPr>
                <p:spPr>
                  <a:xfrm>
                    <a:off x="1880311" y="653404"/>
                    <a:ext cx="672638" cy="234087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3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0311" y="653404"/>
                    <a:ext cx="672638" cy="234087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Arc 62"/>
              <p:cNvSpPr/>
              <p:nvPr/>
            </p:nvSpPr>
            <p:spPr>
              <a:xfrm>
                <a:off x="893458" y="1155337"/>
                <a:ext cx="58115" cy="309133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324"/>
                <p:cNvSpPr txBox="1"/>
                <p:nvPr/>
              </p:nvSpPr>
              <p:spPr>
                <a:xfrm>
                  <a:off x="476250" y="-15746"/>
                  <a:ext cx="1001101" cy="23482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𝐺𝑎𝑟𝑖𝑠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𝑠𝑖𝑛𝑔𝑔𝑢𝑛𝑔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50" y="-15746"/>
                  <a:ext cx="1001101" cy="2348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324"/>
                <p:cNvSpPr txBox="1"/>
                <p:nvPr/>
              </p:nvSpPr>
              <p:spPr>
                <a:xfrm>
                  <a:off x="1730849" y="160525"/>
                  <a:ext cx="773993" cy="23482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𝐺𝑎𝑟𝑖𝑠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𝑠𝑒𝑐𝑎𝑛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849" y="160525"/>
                  <a:ext cx="773993" cy="2348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/>
            <p:cNvCxnSpPr/>
            <p:nvPr/>
          </p:nvCxnSpPr>
          <p:spPr>
            <a:xfrm flipV="1">
              <a:off x="1790700" y="657225"/>
              <a:ext cx="0" cy="11182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>
            <a:xfrm flipV="1">
              <a:off x="638175" y="1295400"/>
              <a:ext cx="1200150" cy="3252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>
            <a:xfrm>
              <a:off x="609600" y="1352550"/>
              <a:ext cx="0" cy="4583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156"/>
                <p:cNvSpPr txBox="1"/>
                <p:nvPr/>
              </p:nvSpPr>
              <p:spPr>
                <a:xfrm>
                  <a:off x="981075" y="1295400"/>
                  <a:ext cx="607456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75" y="1295400"/>
                  <a:ext cx="607456" cy="249496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56"/>
                <p:cNvSpPr txBox="1"/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56"/>
                <p:cNvSpPr txBox="1"/>
                <p:nvPr/>
              </p:nvSpPr>
              <p:spPr>
                <a:xfrm>
                  <a:off x="1657350" y="1781175"/>
                  <a:ext cx="315300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350" y="1781175"/>
                  <a:ext cx="315300" cy="24949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 Box 23"/>
            <p:cNvSpPr txBox="1"/>
            <p:nvPr/>
          </p:nvSpPr>
          <p:spPr>
            <a:xfrm>
              <a:off x="1647828" y="219125"/>
              <a:ext cx="307875" cy="69679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36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56256" y="1525189"/>
                <a:ext cx="439674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adalah</a:t>
                </a:r>
              </a:p>
              <a:p>
                <a:r>
                  <a:rPr lang="en-US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dua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berbeda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pada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fungsi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6" y="1525189"/>
                <a:ext cx="4396744" cy="646331"/>
              </a:xfrm>
              <a:prstGeom prst="rect">
                <a:avLst/>
              </a:prstGeom>
              <a:blipFill>
                <a:blip r:embed="rId13"/>
                <a:stretch>
                  <a:fillRect l="-1108" t="-4717" r="-1108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534440" y="2171520"/>
                <a:ext cx="440765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maka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menghubungkan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en-US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memiliki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kemiringan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40" y="2171520"/>
                <a:ext cx="4407652" cy="646331"/>
              </a:xfrm>
              <a:prstGeom prst="rect">
                <a:avLst/>
              </a:prstGeom>
              <a:blipFill>
                <a:blip r:embed="rId14"/>
                <a:stretch>
                  <a:fillRect l="-1245" t="-471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621477" y="2916576"/>
                <a:ext cx="2350323" cy="67691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𝑃𝑄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77" y="2916576"/>
                <a:ext cx="2350323" cy="67691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58682" y="3852572"/>
                <a:ext cx="744231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bergerak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mendekati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maka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akan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bergerak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pada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fungsi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82" y="3852572"/>
                <a:ext cx="7442318" cy="369332"/>
              </a:xfrm>
              <a:prstGeom prst="rect">
                <a:avLst/>
              </a:prstGeom>
              <a:blipFill>
                <a:blip r:embed="rId16"/>
                <a:stretch>
                  <a:fillRect l="-737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534440" y="4202431"/>
                <a:ext cx="792480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mendekati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yang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melalui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akan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menghampiri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singgung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di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ditulis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40" y="4202431"/>
                <a:ext cx="7924801" cy="646331"/>
              </a:xfrm>
              <a:prstGeom prst="rect">
                <a:avLst/>
              </a:prstGeom>
              <a:blipFill>
                <a:blip r:embed="rId17"/>
                <a:stretch>
                  <a:fillRect l="-69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3521582" y="4805158"/>
                <a:ext cx="2862835" cy="67691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𝑡𝑔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82" y="4805158"/>
                <a:ext cx="2862835" cy="67691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47119" y="5606484"/>
                <a:ext cx="8233411" cy="3736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Contoh: Dapatkan kemiringan garis singgung pada kurva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 titik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 smtClean="0"/>
                  <a:t>               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19" y="5606484"/>
                <a:ext cx="8233411" cy="373692"/>
              </a:xfrm>
              <a:prstGeom prst="rect">
                <a:avLst/>
              </a:prstGeom>
              <a:blipFill>
                <a:blip r:embed="rId19"/>
                <a:stretch>
                  <a:fillRect l="-66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00362" y="6151923"/>
                <a:ext cx="3666838" cy="409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kemiringan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𝑃𝑄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2" y="6151923"/>
                <a:ext cx="3666838" cy="409664"/>
              </a:xfrm>
              <a:prstGeom prst="rect">
                <a:avLst/>
              </a:prstGeom>
              <a:blipFill>
                <a:blip r:embed="rId20"/>
                <a:stretch>
                  <a:fillRect l="-1329" t="-447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093431" y="6123217"/>
                <a:ext cx="4898169" cy="409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Jadi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mendekati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maka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𝑃𝑄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mendekati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31" y="6123217"/>
                <a:ext cx="4898169" cy="409664"/>
              </a:xfrm>
              <a:prstGeom prst="rect">
                <a:avLst/>
              </a:prstGeom>
              <a:blipFill>
                <a:blip r:embed="rId21"/>
                <a:stretch>
                  <a:fillRect l="-995" t="-4412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60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64" grpId="0"/>
      <p:bldP spid="65" grpId="0"/>
      <p:bldP spid="66" grpId="0" animBg="1"/>
      <p:bldP spid="67" grpId="0"/>
      <p:bldP spid="68" grpId="0"/>
      <p:bldP spid="69" grpId="0" animBg="1"/>
      <p:bldP spid="2" grpId="0"/>
      <p:bldP spid="3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991" y="53927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2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472189"/>
                  </p:ext>
                </p:extLst>
              </p:nvPr>
            </p:nvGraphicFramePr>
            <p:xfrm>
              <a:off x="667361" y="254643"/>
              <a:ext cx="3048000" cy="293827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4297">
                      <a:extLst>
                        <a:ext uri="{9D8B030D-6E8A-4147-A177-3AD203B41FA5}">
                          <a16:colId xmlns:a16="http://schemas.microsoft.com/office/drawing/2014/main" val="2304943516"/>
                        </a:ext>
                      </a:extLst>
                    </a:gridCol>
                    <a:gridCol w="1583703">
                      <a:extLst>
                        <a:ext uri="{9D8B030D-6E8A-4147-A177-3AD203B41FA5}">
                          <a16:colId xmlns:a16="http://schemas.microsoft.com/office/drawing/2014/main" val="42126178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18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5101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2.828427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2.915476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2.949576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2.983287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2.998333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2.999833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2.999983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2.999998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8056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472189"/>
                  </p:ext>
                </p:extLst>
              </p:nvPr>
            </p:nvGraphicFramePr>
            <p:xfrm>
              <a:off x="667361" y="254643"/>
              <a:ext cx="3048000" cy="293827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4297">
                      <a:extLst>
                        <a:ext uri="{9D8B030D-6E8A-4147-A177-3AD203B41FA5}">
                          <a16:colId xmlns:a16="http://schemas.microsoft.com/office/drawing/2014/main" val="2304943516"/>
                        </a:ext>
                      </a:extLst>
                    </a:gridCol>
                    <a:gridCol w="1583703">
                      <a:extLst>
                        <a:ext uri="{9D8B030D-6E8A-4147-A177-3AD203B41FA5}">
                          <a16:colId xmlns:a16="http://schemas.microsoft.com/office/drawing/2014/main" val="4212617829"/>
                        </a:ext>
                      </a:extLst>
                    </a:gridCol>
                  </a:tblGrid>
                  <a:tr h="2967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15" t="-2041" r="-109544" b="-9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93077" t="-2041" r="-1538" b="-9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510100"/>
                      </a:ext>
                    </a:extLst>
                  </a:tr>
                  <a:tr h="26414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2.828427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2.915476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2.949576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2.983287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2.998333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2.999833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2.999983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2.999998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2.999999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8056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2133291"/>
                  </p:ext>
                </p:extLst>
              </p:nvPr>
            </p:nvGraphicFramePr>
            <p:xfrm>
              <a:off x="4551218" y="289045"/>
              <a:ext cx="2446338" cy="293827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93667">
                      <a:extLst>
                        <a:ext uri="{9D8B030D-6E8A-4147-A177-3AD203B41FA5}">
                          <a16:colId xmlns:a16="http://schemas.microsoft.com/office/drawing/2014/main" val="4137823899"/>
                        </a:ext>
                      </a:extLst>
                    </a:gridCol>
                    <a:gridCol w="1452671">
                      <a:extLst>
                        <a:ext uri="{9D8B030D-6E8A-4147-A177-3AD203B41FA5}">
                          <a16:colId xmlns:a16="http://schemas.microsoft.com/office/drawing/2014/main" val="132509539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18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441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3.162278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3.082207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3.049590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3.016621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3.001666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3.000167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3.000167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3.000017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3.000002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275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2133291"/>
                  </p:ext>
                </p:extLst>
              </p:nvPr>
            </p:nvGraphicFramePr>
            <p:xfrm>
              <a:off x="4551218" y="289045"/>
              <a:ext cx="2446338" cy="293827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93667">
                      <a:extLst>
                        <a:ext uri="{9D8B030D-6E8A-4147-A177-3AD203B41FA5}">
                          <a16:colId xmlns:a16="http://schemas.microsoft.com/office/drawing/2014/main" val="4137823899"/>
                        </a:ext>
                      </a:extLst>
                    </a:gridCol>
                    <a:gridCol w="1452671">
                      <a:extLst>
                        <a:ext uri="{9D8B030D-6E8A-4147-A177-3AD203B41FA5}">
                          <a16:colId xmlns:a16="http://schemas.microsoft.com/office/drawing/2014/main" val="1325095397"/>
                        </a:ext>
                      </a:extLst>
                    </a:gridCol>
                  </a:tblGrid>
                  <a:tr h="2967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13" t="-2041" r="-149693" b="-9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619" t="-2041" r="-2092" b="-9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441330"/>
                      </a:ext>
                    </a:extLst>
                  </a:tr>
                  <a:tr h="26414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9.5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9.3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9.00001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3.162278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3.082207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3.049590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3.016621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3.001666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3.000167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3.000167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3.000017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3.000002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2758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491538" y="4688983"/>
                <a:ext cx="8246096" cy="111889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1262063" indent="-1262063"/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 smtClean="0">
                    <a:latin typeface="Times New Roman" pitchFamily="18" charset="0"/>
                    <a:cs typeface="Times New Roman" pitchFamily="18" charset="0"/>
                  </a:rPr>
                  <a:t>Definisi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Suatu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fungsi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mempunyai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limit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untuk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menuju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jika</a:t>
                </a:r>
              </a:p>
              <a:p>
                <a:pPr marL="1262063" indent="-1262063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           limit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kiri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sama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limit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kanan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 marL="1262063" indent="-1262063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→ 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𝑎𝑑𝑎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38" y="4688983"/>
                <a:ext cx="8246096" cy="1118896"/>
              </a:xfrm>
              <a:prstGeom prst="rect">
                <a:avLst/>
              </a:prstGeom>
              <a:blipFill>
                <a:blip r:embed="rId4"/>
                <a:stretch>
                  <a:fillRect t="-2151" r="-6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48784" y="3501848"/>
                <a:ext cx="6063391" cy="464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US" i="0">
                            <a:latin typeface="Cambria Math" panose="02040503050406030204" pitchFamily="18" charset="0"/>
                          </a:rPr>
                          <m:t>=2.999999…….≈3</m:t>
                        </m:r>
                      </m:e>
                    </m:func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disebut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limit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84" y="3501848"/>
                <a:ext cx="6063391" cy="464166"/>
              </a:xfrm>
              <a:prstGeom prst="rect">
                <a:avLst/>
              </a:prstGeom>
              <a:blipFill>
                <a:blip r:embed="rId5"/>
                <a:stretch>
                  <a:fillRect t="-5195" r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Down Arrow 63"/>
          <p:cNvSpPr/>
          <p:nvPr/>
        </p:nvSpPr>
        <p:spPr>
          <a:xfrm>
            <a:off x="1798392" y="3199446"/>
            <a:ext cx="228600" cy="32296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5537849" y="3200400"/>
            <a:ext cx="177151" cy="93368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23831" y="4016100"/>
                <a:ext cx="6305444" cy="4715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US" i="0">
                            <a:latin typeface="Cambria Math" panose="02040503050406030204" pitchFamily="18" charset="0"/>
                          </a:rPr>
                          <m:t>=3.000002…….≈3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disebut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limit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kanan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31" y="4016100"/>
                <a:ext cx="6305444" cy="471539"/>
              </a:xfrm>
              <a:prstGeom prst="rect">
                <a:avLst/>
              </a:prstGeom>
              <a:blipFill>
                <a:blip r:embed="rId6"/>
                <a:stretch>
                  <a:fillRect t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/>
          <p:cNvSpPr txBox="1"/>
          <p:nvPr/>
        </p:nvSpPr>
        <p:spPr>
          <a:xfrm>
            <a:off x="50135" y="531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2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48784" y="6009223"/>
                <a:ext cx="4335482" cy="5000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Jadi </a:t>
                </a:r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rad>
                        <m:r>
                          <a:rPr lang="en-US" b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𝒍𝒊𝒎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e>
                                  <m: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rad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𝒍𝒊𝒎</m:t>
                                    </m:r>
                                  </m:e>
                                  <m:lim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sSup>
                                      <m:s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𝟗</m:t>
                                        </m:r>
                                      </m:e>
                                      <m:sup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lim>
                                </m:limLow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rad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</m:func>
                          </m:e>
                        </m:fun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</m:oMath>
                </a14:m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endParaRPr lang="en-US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84" y="6009223"/>
                <a:ext cx="4335482" cy="500073"/>
              </a:xfrm>
              <a:prstGeom prst="rect">
                <a:avLst/>
              </a:prstGeom>
              <a:blipFill>
                <a:blip r:embed="rId7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44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37" grpId="0"/>
      <p:bldP spid="64" grpId="0" animBg="1"/>
      <p:bldP spid="65" grpId="0" animBg="1"/>
      <p:bldP spid="6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33400" y="203975"/>
            <a:ext cx="5953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800" dirty="0" smtClean="0">
                <a:cs typeface="Times New Roman" panose="02020603050405020304" pitchFamily="18" charset="0"/>
              </a:rPr>
              <a:t>Limit suatu fungsi tidak bergantung pada nilai fungsi tersebut.</a:t>
            </a:r>
            <a:endParaRPr lang="id-ID" altLang="en-US" sz="1800" dirty="0">
              <a:cs typeface="Times New Roman" panose="02020603050405020304" pitchFamily="18" charset="0"/>
            </a:endParaRPr>
          </a:p>
        </p:txBody>
      </p:sp>
      <p:pic>
        <p:nvPicPr>
          <p:cNvPr id="5" name="Picture 37" descr="Gb-slide-10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4" y="702900"/>
            <a:ext cx="3418882" cy="205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4345483" y="706031"/>
            <a:ext cx="45699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Untuk 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 mendekati 2 dari kiri,</a:t>
            </a:r>
            <a:r>
              <a:rPr lang="en-US" altLang="en-US" sz="1600" dirty="0">
                <a:cs typeface="Times New Roman" panose="02020603050405020304" pitchFamily="18" charset="0"/>
              </a:rPr>
              <a:t>  </a:t>
            </a:r>
            <a:r>
              <a:rPr lang="id-ID" altLang="en-US" sz="1600" i="1" dirty="0">
                <a:cs typeface="Times New Roman" panose="02020603050405020304" pitchFamily="18" charset="0"/>
              </a:rPr>
              <a:t>f</a:t>
            </a:r>
            <a:r>
              <a:rPr lang="id-ID" altLang="en-US" sz="1600" dirty="0">
                <a:cs typeface="Times New Roman" panose="02020603050405020304" pitchFamily="18" charset="0"/>
              </a:rPr>
              <a:t>(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) mendekati 1, yang berarti</a:t>
            </a:r>
          </a:p>
        </p:txBody>
      </p:sp>
      <p:pic>
        <p:nvPicPr>
          <p:cNvPr id="7" name="Picture 38" descr="limit0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442" y="1384473"/>
            <a:ext cx="2286000" cy="68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67767" y="2888228"/>
            <a:ext cx="6162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Limit suatu fungsi tidak bergantung pada nilai fungsi tersebut.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9" name="Picture 6" descr="Gb-slide-10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23" y="3701271"/>
            <a:ext cx="3431083" cy="205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455021" y="3457581"/>
            <a:ext cx="435084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Untuk 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x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 mendekati 2 dari kanan, 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f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(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x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) mende-kati 3,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yang berarti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1" name="Picture 8" descr="limit0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854" y="4273155"/>
            <a:ext cx="2543175" cy="7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609637" y="5401148"/>
            <a:ext cx="17556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Sedangkan </a:t>
            </a:r>
            <a:r>
              <a:rPr lang="id-ID" altLang="en-US" sz="1600" i="1" dirty="0">
                <a:cs typeface="Times New Roman" panose="02020603050405020304" pitchFamily="18" charset="0"/>
              </a:rPr>
              <a:t>f</a:t>
            </a:r>
            <a:r>
              <a:rPr lang="id-ID" altLang="en-US" sz="1600" dirty="0">
                <a:cs typeface="Times New Roman" panose="02020603050405020304" pitchFamily="18" charset="0"/>
              </a:rPr>
              <a:t>(2)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5016" y="57051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3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3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14400" y="304800"/>
            <a:ext cx="5413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Perhatikan pula fungsi yang disajikan dalam gambar berikut.</a:t>
            </a:r>
          </a:p>
        </p:txBody>
      </p:sp>
      <p:pic>
        <p:nvPicPr>
          <p:cNvPr id="5" name="Picture 29" descr="Gb-slide-1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838200"/>
            <a:ext cx="3937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6058093" y="294243"/>
            <a:ext cx="1488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Tampak bahwa:</a:t>
            </a:r>
          </a:p>
        </p:txBody>
      </p:sp>
      <p:pic>
        <p:nvPicPr>
          <p:cNvPr id="7" name="Picture 30" descr="limit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811" y="953422"/>
            <a:ext cx="2514600" cy="664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1" descr="limit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811" y="1905000"/>
            <a:ext cx="2543175" cy="671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5972561" y="2693130"/>
            <a:ext cx="18694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 yang berarti bahwa:</a:t>
            </a:r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5140384" y="3130535"/>
            <a:ext cx="3533775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800" dirty="0">
                <a:cs typeface="Times New Roman" panose="02020603050405020304" pitchFamily="18" charset="0"/>
              </a:rPr>
              <a:t>limit kiri sama dengan limit kanan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031802" y="3691446"/>
            <a:ext cx="52959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Perhatikan pula fungsi yang disajikan dalam gambar berikut.</a:t>
            </a:r>
          </a:p>
        </p:txBody>
      </p:sp>
      <p:pic>
        <p:nvPicPr>
          <p:cNvPr id="13" name="Picture 7" descr="Gb-slide-1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114800"/>
            <a:ext cx="3965575" cy="237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5526146" y="4146828"/>
            <a:ext cx="16366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Dapat dituliskan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5" name="Picture 10" descr="limit0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811" y="4602210"/>
            <a:ext cx="2438594" cy="696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903787" y="5523719"/>
            <a:ext cx="4271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Padahal di 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x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 = 3 sendiri nilai 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g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(</a:t>
            </a:r>
            <a:r>
              <a:rPr lang="id-ID" altLang="en-US" sz="1600" i="1" dirty="0" smtClean="0">
                <a:cs typeface="Times New Roman" panose="02020603050405020304" pitchFamily="18" charset="0"/>
              </a:rPr>
              <a:t>x</a:t>
            </a:r>
            <a:r>
              <a:rPr lang="id-ID" altLang="en-US" sz="1600" dirty="0" smtClean="0">
                <a:cs typeface="Times New Roman" panose="02020603050405020304" pitchFamily="18" charset="0"/>
              </a:rPr>
              <a:t>) tak terdefinisi.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35" y="531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4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2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1" grpId="0" animBg="1"/>
      <p:bldP spid="12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135" y="531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5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67206" y="332311"/>
            <a:ext cx="14253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Contoh osilasi:</a:t>
            </a:r>
          </a:p>
        </p:txBody>
      </p:sp>
      <p:pic>
        <p:nvPicPr>
          <p:cNvPr id="6" name="Picture 20" descr="limit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06" y="838200"/>
            <a:ext cx="2866594" cy="71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71600" y="1655716"/>
            <a:ext cx="14061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800" b="1" dirty="0">
                <a:cs typeface="Times New Roman" panose="02020603050405020304" pitchFamily="18" charset="0"/>
              </a:rPr>
              <a:t>untuk </a:t>
            </a:r>
            <a:r>
              <a:rPr lang="id-ID" altLang="en-US" sz="1800" b="1" i="1" dirty="0">
                <a:cs typeface="Times New Roman" panose="02020603050405020304" pitchFamily="18" charset="0"/>
              </a:rPr>
              <a:t>x </a:t>
            </a:r>
            <a:r>
              <a:rPr lang="en-AU" altLang="en-US" sz="1800" b="1" dirty="0">
                <a:cs typeface="Times New Roman" panose="02020603050405020304" pitchFamily="18" charset="0"/>
                <a:sym typeface="Symbol" panose="05050102010706020507" pitchFamily="18" charset="2"/>
              </a:rPr>
              <a:t> 0</a:t>
            </a:r>
            <a:endParaRPr lang="id-ID" altLang="en-US" sz="1800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8" name="Picture 19" descr="gblimit0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73791"/>
            <a:ext cx="3276600" cy="2216094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852918" y="2957220"/>
            <a:ext cx="53158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Contoh fungsi yang naik atau turun tak terbatas di titik 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 = 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baseline="-25000" dirty="0">
                <a:cs typeface="Times New Roman" panose="02020603050405020304" pitchFamily="18" charset="0"/>
              </a:rPr>
              <a:t>0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0" name="Picture 39" descr="Gb-slide-14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1" y="3463109"/>
            <a:ext cx="3048000" cy="2437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1" descr="limit0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31" y="3638550"/>
            <a:ext cx="2757056" cy="67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2" descr="limit03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31" y="4621382"/>
            <a:ext cx="2818969" cy="70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915262" y="5553554"/>
            <a:ext cx="15103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>
                <a:cs typeface="Times New Roman" panose="02020603050405020304" pitchFamily="18" charset="0"/>
              </a:rPr>
              <a:t>Dalam kasus ini</a:t>
            </a:r>
          </a:p>
        </p:txBody>
      </p:sp>
      <p:pic>
        <p:nvPicPr>
          <p:cNvPr id="14" name="Picture 43" descr="limit03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536" y="5430686"/>
            <a:ext cx="1852064" cy="637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30"/>
          <p:cNvSpPr txBox="1">
            <a:spLocks noChangeArrowheads="1"/>
          </p:cNvSpPr>
          <p:nvPr/>
        </p:nvSpPr>
        <p:spPr bwMode="auto">
          <a:xfrm>
            <a:off x="862561" y="6214646"/>
            <a:ext cx="9845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dikatakan</a:t>
            </a:r>
          </a:p>
        </p:txBody>
      </p: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1847126" y="6214646"/>
            <a:ext cx="9669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 b="1" i="1" dirty="0">
                <a:cs typeface="Times New Roman" panose="02020603050405020304" pitchFamily="18" charset="0"/>
              </a:rPr>
              <a:t>tidak ada</a:t>
            </a:r>
            <a:endParaRPr lang="id-ID" altLang="en-US" sz="1600" b="1" dirty="0">
              <a:cs typeface="Times New Roman" panose="02020603050405020304" pitchFamily="18" charset="0"/>
            </a:endParaRP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2799769" y="6061912"/>
            <a:ext cx="2672343" cy="49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90000"/>
              </a:lnSpc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Akan tetapi,  untuk kasus ini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18" name="Text Box 46"/>
          <p:cNvSpPr txBox="1">
            <a:spLocks noChangeArrowheads="1"/>
          </p:cNvSpPr>
          <p:nvPr/>
        </p:nvSpPr>
        <p:spPr bwMode="auto">
          <a:xfrm>
            <a:off x="5228243" y="6169739"/>
            <a:ext cx="1371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dapat ditulis</a:t>
            </a:r>
            <a:endParaRPr lang="en-US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9" name="Picture 44" descr="limit03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843" y="6000378"/>
            <a:ext cx="2282800" cy="573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119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3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1771650" y="701258"/>
            <a:ext cx="5888037" cy="402314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>
            <a:off x="2135188" y="4038600"/>
            <a:ext cx="536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 flipV="1">
            <a:off x="2787650" y="838200"/>
            <a:ext cx="0" cy="350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Freeform 8"/>
          <p:cNvSpPr>
            <a:spLocks/>
          </p:cNvSpPr>
          <p:nvPr/>
        </p:nvSpPr>
        <p:spPr bwMode="auto">
          <a:xfrm>
            <a:off x="3319463" y="1447800"/>
            <a:ext cx="3295650" cy="2346325"/>
          </a:xfrm>
          <a:custGeom>
            <a:avLst/>
            <a:gdLst>
              <a:gd name="T0" fmla="*/ 0 w 2180"/>
              <a:gd name="T1" fmla="*/ 2147483646 h 1453"/>
              <a:gd name="T2" fmla="*/ 2147483646 w 2180"/>
              <a:gd name="T3" fmla="*/ 2147483646 h 1453"/>
              <a:gd name="T4" fmla="*/ 2147483646 w 2180"/>
              <a:gd name="T5" fmla="*/ 2147483646 h 1453"/>
              <a:gd name="T6" fmla="*/ 2147483646 w 2180"/>
              <a:gd name="T7" fmla="*/ 0 h 1453"/>
              <a:gd name="T8" fmla="*/ 0 60000 65536"/>
              <a:gd name="T9" fmla="*/ 0 60000 65536"/>
              <a:gd name="T10" fmla="*/ 0 60000 65536"/>
              <a:gd name="T11" fmla="*/ 0 60000 65536"/>
              <a:gd name="T12" fmla="*/ 0 w 2180"/>
              <a:gd name="T13" fmla="*/ 0 h 1453"/>
              <a:gd name="T14" fmla="*/ 2180 w 2180"/>
              <a:gd name="T15" fmla="*/ 1453 h 1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80" h="1453">
                <a:moveTo>
                  <a:pt x="0" y="1453"/>
                </a:moveTo>
                <a:cubicBezTo>
                  <a:pt x="67" y="1349"/>
                  <a:pt x="213" y="1021"/>
                  <a:pt x="390" y="832"/>
                </a:cubicBezTo>
                <a:cubicBezTo>
                  <a:pt x="567" y="643"/>
                  <a:pt x="766" y="455"/>
                  <a:pt x="1064" y="316"/>
                </a:cubicBezTo>
                <a:cubicBezTo>
                  <a:pt x="1362" y="177"/>
                  <a:pt x="1947" y="66"/>
                  <a:pt x="2180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 rot="-772386">
            <a:off x="6042025" y="955675"/>
            <a:ext cx="112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latin typeface="Arial" panose="020B0604020202020204" pitchFamily="34" charset="0"/>
              </a:rPr>
              <a:t>y</a:t>
            </a:r>
            <a:r>
              <a:rPr lang="id-ID" altLang="en-US" sz="2400">
                <a:latin typeface="Arial" panose="020B0604020202020204" pitchFamily="34" charset="0"/>
              </a:rPr>
              <a:t> = </a:t>
            </a:r>
            <a:r>
              <a:rPr lang="id-ID" altLang="en-US" sz="2400" i="1">
                <a:latin typeface="Arial" panose="020B0604020202020204" pitchFamily="34" charset="0"/>
              </a:rPr>
              <a:t>f</a:t>
            </a:r>
            <a:r>
              <a:rPr lang="id-ID" altLang="en-US" sz="2400">
                <a:latin typeface="Arial" panose="020B0604020202020204" pitchFamily="34" charset="0"/>
              </a:rPr>
              <a:t>(</a:t>
            </a:r>
            <a:r>
              <a:rPr lang="id-ID" altLang="en-US" sz="2400" i="1">
                <a:latin typeface="Arial" panose="020B0604020202020204" pitchFamily="34" charset="0"/>
              </a:rPr>
              <a:t>x</a:t>
            </a:r>
            <a:r>
              <a:rPr lang="id-ID" altLang="en-US" sz="240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7315200" y="36036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latin typeface="Arial" panose="020B0604020202020204" pitchFamily="34" charset="0"/>
              </a:rPr>
              <a:t>x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45067" name="Text Box 11"/>
          <p:cNvSpPr txBox="1">
            <a:spLocks noChangeArrowheads="1"/>
          </p:cNvSpPr>
          <p:nvPr/>
        </p:nvSpPr>
        <p:spPr bwMode="auto">
          <a:xfrm>
            <a:off x="2860675" y="5873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latin typeface="Arial" panose="020B0604020202020204" pitchFamily="34" charset="0"/>
              </a:rPr>
              <a:t>y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>
            <a:off x="2771775" y="3279775"/>
            <a:ext cx="838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>
            <a:off x="2743200" y="1524000"/>
            <a:ext cx="3365500" cy="381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>
            <a:off x="3590925" y="3267075"/>
            <a:ext cx="0" cy="7620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3457575" y="3902075"/>
            <a:ext cx="44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latin typeface="Arial" panose="020B0604020202020204" pitchFamily="34" charset="0"/>
              </a:rPr>
              <a:t>x</a:t>
            </a:r>
            <a:r>
              <a:rPr lang="id-ID" altLang="en-US" sz="2400" baseline="-25000">
                <a:latin typeface="Arial" panose="020B0604020202020204" pitchFamily="34" charset="0"/>
              </a:rPr>
              <a:t>0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45072" name="Text Box 16"/>
          <p:cNvSpPr txBox="1">
            <a:spLocks noChangeArrowheads="1"/>
          </p:cNvSpPr>
          <p:nvPr/>
        </p:nvSpPr>
        <p:spPr bwMode="auto">
          <a:xfrm>
            <a:off x="5943600" y="3902075"/>
            <a:ext cx="44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latin typeface="Arial" panose="020B0604020202020204" pitchFamily="34" charset="0"/>
              </a:rPr>
              <a:t>x</a:t>
            </a:r>
            <a:r>
              <a:rPr lang="id-ID" altLang="en-US" sz="2400" baseline="-25000">
                <a:latin typeface="Arial" panose="020B0604020202020204" pitchFamily="34" charset="0"/>
              </a:rPr>
              <a:t>1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4171950" y="39020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endParaRPr lang="id-ID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6096000" y="1562100"/>
            <a:ext cx="0" cy="24384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5" name="Line 19"/>
          <p:cNvSpPr>
            <a:spLocks noChangeShapeType="1"/>
          </p:cNvSpPr>
          <p:nvPr/>
        </p:nvSpPr>
        <p:spPr bwMode="auto">
          <a:xfrm>
            <a:off x="2781300" y="2362200"/>
            <a:ext cx="1524000" cy="0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6" name="Line 20"/>
          <p:cNvSpPr>
            <a:spLocks noChangeShapeType="1"/>
          </p:cNvSpPr>
          <p:nvPr/>
        </p:nvSpPr>
        <p:spPr bwMode="auto">
          <a:xfrm rot="5393166">
            <a:off x="3463131" y="3193257"/>
            <a:ext cx="1700213" cy="0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Text Box 21"/>
          <p:cNvSpPr txBox="1">
            <a:spLocks noChangeArrowheads="1"/>
          </p:cNvSpPr>
          <p:nvPr/>
        </p:nvSpPr>
        <p:spPr bwMode="auto">
          <a:xfrm>
            <a:off x="2339975" y="3005138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 dirty="0">
                <a:solidFill>
                  <a:srgbClr val="000066"/>
                </a:solidFill>
                <a:latin typeface="Arial" panose="020B0604020202020204" pitchFamily="34" charset="0"/>
              </a:rPr>
              <a:t>L-</a:t>
            </a:r>
            <a:r>
              <a:rPr lang="id-ID" altLang="en-US" sz="2000" dirty="0">
                <a:solidFill>
                  <a:srgbClr val="000066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id-ID" altLang="en-US" sz="2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45078" name="Text Box 22"/>
          <p:cNvSpPr txBox="1">
            <a:spLocks noChangeArrowheads="1"/>
          </p:cNvSpPr>
          <p:nvPr/>
        </p:nvSpPr>
        <p:spPr bwMode="auto">
          <a:xfrm>
            <a:off x="2306638" y="1290638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latin typeface="Arial" panose="020B0604020202020204" pitchFamily="34" charset="0"/>
              </a:rPr>
              <a:t>L</a:t>
            </a:r>
            <a:r>
              <a:rPr lang="id-ID" altLang="en-US" sz="2000">
                <a:latin typeface="Arial" panose="020B0604020202020204" pitchFamily="34" charset="0"/>
              </a:rPr>
              <a:t>+</a:t>
            </a:r>
            <a:r>
              <a:rPr lang="id-ID" altLang="en-US" sz="20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id-ID" altLang="en-US" sz="2000">
              <a:latin typeface="Arial" panose="020B0604020202020204" pitchFamily="34" charset="0"/>
            </a:endParaRPr>
          </a:p>
        </p:txBody>
      </p:sp>
      <p:sp>
        <p:nvSpPr>
          <p:cNvPr id="45079" name="Text Box 23"/>
          <p:cNvSpPr txBox="1">
            <a:spLocks noChangeArrowheads="1"/>
          </p:cNvSpPr>
          <p:nvPr/>
        </p:nvSpPr>
        <p:spPr bwMode="auto">
          <a:xfrm>
            <a:off x="2438400" y="20574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endParaRPr lang="id-ID" altLang="en-US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5080" name="Text Box 24"/>
          <p:cNvSpPr txBox="1">
            <a:spLocks noChangeArrowheads="1"/>
          </p:cNvSpPr>
          <p:nvPr/>
        </p:nvSpPr>
        <p:spPr bwMode="auto">
          <a:xfrm>
            <a:off x="3165266" y="4822409"/>
            <a:ext cx="29434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1600" dirty="0" smtClean="0">
                <a:cs typeface="Times New Roman" panose="02020603050405020304" pitchFamily="18" charset="0"/>
              </a:rPr>
              <a:t>Artinya: diberikan </a:t>
            </a:r>
            <a:r>
              <a:rPr lang="id-ID" altLang="en-US" sz="1600" b="1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id-ID" altLang="en-US" sz="1600" dirty="0" smtClean="0">
                <a:cs typeface="Times New Roman" panose="02020603050405020304" pitchFamily="18" charset="0"/>
                <a:sym typeface="Symbol" panose="05050102010706020507" pitchFamily="18" charset="2"/>
              </a:rPr>
              <a:t> &gt; 0 sebarang</a:t>
            </a:r>
            <a:endParaRPr lang="id-ID" altLang="en-US" sz="16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 flipV="1">
            <a:off x="2209800" y="1524000"/>
            <a:ext cx="0" cy="2698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3" name="Line 27"/>
          <p:cNvSpPr>
            <a:spLocks noChangeShapeType="1"/>
          </p:cNvSpPr>
          <p:nvPr/>
        </p:nvSpPr>
        <p:spPr bwMode="auto">
          <a:xfrm>
            <a:off x="2209800" y="2092325"/>
            <a:ext cx="0" cy="2698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4" name="Line 28"/>
          <p:cNvSpPr>
            <a:spLocks noChangeShapeType="1"/>
          </p:cNvSpPr>
          <p:nvPr/>
        </p:nvSpPr>
        <p:spPr bwMode="auto">
          <a:xfrm flipV="1">
            <a:off x="2209800" y="2362200"/>
            <a:ext cx="0" cy="2698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>
            <a:off x="2209800" y="2971800"/>
            <a:ext cx="0" cy="2698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6" name="Text Box 30"/>
          <p:cNvSpPr txBox="1">
            <a:spLocks noChangeArrowheads="1"/>
          </p:cNvSpPr>
          <p:nvPr/>
        </p:nvSpPr>
        <p:spPr bwMode="auto">
          <a:xfrm>
            <a:off x="2074863" y="1738313"/>
            <a:ext cx="295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b="1">
                <a:solidFill>
                  <a:srgbClr val="6600CC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087" name="Text Box 31"/>
          <p:cNvSpPr txBox="1">
            <a:spLocks noChangeArrowheads="1"/>
          </p:cNvSpPr>
          <p:nvPr/>
        </p:nvSpPr>
        <p:spPr bwMode="auto">
          <a:xfrm>
            <a:off x="2060575" y="2568575"/>
            <a:ext cx="295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b="1">
                <a:solidFill>
                  <a:srgbClr val="6600CC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 flipV="1">
            <a:off x="5346700" y="1790700"/>
            <a:ext cx="0" cy="2209800"/>
          </a:xfrm>
          <a:prstGeom prst="line">
            <a:avLst/>
          </a:prstGeom>
          <a:noFill/>
          <a:ln w="19050">
            <a:solidFill>
              <a:srgbClr val="6666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0" name="Line 34"/>
          <p:cNvSpPr>
            <a:spLocks noChangeShapeType="1"/>
          </p:cNvSpPr>
          <p:nvPr/>
        </p:nvSpPr>
        <p:spPr bwMode="auto">
          <a:xfrm flipH="1">
            <a:off x="2819400" y="1790700"/>
            <a:ext cx="2482850" cy="0"/>
          </a:xfrm>
          <a:prstGeom prst="line">
            <a:avLst/>
          </a:prstGeom>
          <a:noFill/>
          <a:ln w="19050">
            <a:solidFill>
              <a:srgbClr val="6666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1" name="Text Box 35"/>
          <p:cNvSpPr txBox="1">
            <a:spLocks noChangeArrowheads="1"/>
          </p:cNvSpPr>
          <p:nvPr/>
        </p:nvSpPr>
        <p:spPr bwMode="auto">
          <a:xfrm>
            <a:off x="5211763" y="39084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  <a:endParaRPr lang="id-ID" altLang="en-US" sz="2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45092" name="Text Box 36"/>
          <p:cNvSpPr txBox="1">
            <a:spLocks noChangeArrowheads="1"/>
          </p:cNvSpPr>
          <p:nvPr/>
        </p:nvSpPr>
        <p:spPr bwMode="auto">
          <a:xfrm>
            <a:off x="2311400" y="1574800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solidFill>
                  <a:srgbClr val="000066"/>
                </a:solidFill>
                <a:latin typeface="Arial" panose="020B0604020202020204" pitchFamily="34" charset="0"/>
              </a:rPr>
              <a:t>f(x)</a:t>
            </a:r>
            <a:endParaRPr lang="id-ID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45093" name="Text Box 37"/>
          <p:cNvSpPr txBox="1">
            <a:spLocks noChangeArrowheads="1"/>
          </p:cNvSpPr>
          <p:nvPr/>
        </p:nvSpPr>
        <p:spPr bwMode="auto">
          <a:xfrm>
            <a:off x="3162300" y="5203825"/>
            <a:ext cx="510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terdapat selang terbuka (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baseline="-25000" dirty="0">
                <a:cs typeface="Times New Roman" panose="02020603050405020304" pitchFamily="18" charset="0"/>
              </a:rPr>
              <a:t>0</a:t>
            </a:r>
            <a:r>
              <a:rPr lang="id-ID" altLang="en-US" sz="1600" dirty="0">
                <a:cs typeface="Times New Roman" panose="02020603050405020304" pitchFamily="18" charset="0"/>
              </a:rPr>
              <a:t>,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baseline="-25000" dirty="0">
                <a:cs typeface="Times New Roman" panose="02020603050405020304" pitchFamily="18" charset="0"/>
              </a:rPr>
              <a:t>1</a:t>
            </a:r>
            <a:r>
              <a:rPr lang="id-ID" altLang="en-US" sz="1600" dirty="0">
                <a:cs typeface="Times New Roman" panose="02020603050405020304" pitchFamily="18" charset="0"/>
              </a:rPr>
              <a:t>) yang memuat </a:t>
            </a:r>
            <a:r>
              <a:rPr lang="id-ID" altLang="en-US" sz="1600" i="1" dirty="0">
                <a:cs typeface="Times New Roman" panose="02020603050405020304" pitchFamily="18" charset="0"/>
              </a:rPr>
              <a:t>a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45094" name="Text Box 38"/>
          <p:cNvSpPr txBox="1">
            <a:spLocks noChangeArrowheads="1"/>
          </p:cNvSpPr>
          <p:nvPr/>
        </p:nvSpPr>
        <p:spPr bwMode="auto">
          <a:xfrm>
            <a:off x="420687" y="5753685"/>
            <a:ext cx="7239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1600" dirty="0">
                <a:cs typeface="Times New Roman" panose="02020603050405020304" pitchFamily="18" charset="0"/>
              </a:rPr>
              <a:t>sehingga untuk semua 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 dalam selang (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0,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1), kecuali mungkin di </a:t>
            </a:r>
            <a:r>
              <a:rPr lang="id-ID" altLang="en-US" sz="1600" i="1" dirty="0">
                <a:cs typeface="Times New Roman" panose="02020603050405020304" pitchFamily="18" charset="0"/>
              </a:rPr>
              <a:t>x</a:t>
            </a:r>
            <a:r>
              <a:rPr lang="id-ID" altLang="en-US" sz="1600" dirty="0">
                <a:cs typeface="Times New Roman" panose="02020603050405020304" pitchFamily="18" charset="0"/>
              </a:rPr>
              <a:t>=</a:t>
            </a:r>
            <a:r>
              <a:rPr lang="id-ID" altLang="en-US" sz="1600" i="1" dirty="0">
                <a:cs typeface="Times New Roman" panose="02020603050405020304" pitchFamily="18" charset="0"/>
              </a:rPr>
              <a:t>a</a:t>
            </a:r>
            <a:r>
              <a:rPr lang="en-US" altLang="en-US" sz="1600" dirty="0"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cs typeface="Times New Roman" panose="02020603050405020304" pitchFamily="18" charset="0"/>
              </a:rPr>
              <a:t>berlaku</a:t>
            </a:r>
            <a:endParaRPr lang="id-ID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45096" name="Picture 40" descr="limit1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01" y="4919663"/>
            <a:ext cx="2524125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97" name="Picture 41" descr="limit1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925" y="6234697"/>
            <a:ext cx="26384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500689" y="220247"/>
            <a:ext cx="2541921" cy="338554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d-ID" altLang="en-US" sz="1600">
                <a:cs typeface="Times New Roman" panose="02020603050405020304" pitchFamily="18" charset="0"/>
              </a:rPr>
              <a:t>Teknik Penghitungan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8600" y="81747"/>
            <a:ext cx="101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 6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70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0" dur="500"/>
                                        <p:tgtEl>
                                          <p:spTgt spid="4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6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nimBg="1"/>
      <p:bldP spid="45065" grpId="0"/>
      <p:bldP spid="45066" grpId="0"/>
      <p:bldP spid="45067" grpId="0"/>
      <p:bldP spid="45071" grpId="0"/>
      <p:bldP spid="45072" grpId="0"/>
      <p:bldP spid="45073" grpId="0"/>
      <p:bldP spid="45077" grpId="0"/>
      <p:bldP spid="45078" grpId="0"/>
      <p:bldP spid="45079" grpId="0"/>
      <p:bldP spid="45080" grpId="0"/>
      <p:bldP spid="45086" grpId="0"/>
      <p:bldP spid="45087" grpId="0"/>
      <p:bldP spid="45091" grpId="0"/>
      <p:bldP spid="45092" grpId="0"/>
      <p:bldP spid="45093" grpId="0"/>
      <p:bldP spid="450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905002" y="1806577"/>
            <a:ext cx="5257802" cy="3222626"/>
            <a:chOff x="1200" y="2146"/>
            <a:chExt cx="3312" cy="2030"/>
          </a:xfrm>
        </p:grpSpPr>
        <p:sp>
          <p:nvSpPr>
            <p:cNvPr id="19493" name="Rectangle 11"/>
            <p:cNvSpPr>
              <a:spLocks noChangeArrowheads="1"/>
            </p:cNvSpPr>
            <p:nvPr/>
          </p:nvSpPr>
          <p:spPr bwMode="auto">
            <a:xfrm>
              <a:off x="1200" y="2160"/>
              <a:ext cx="3312" cy="2016"/>
            </a:xfrm>
            <a:prstGeom prst="rect">
              <a:avLst/>
            </a:prstGeom>
            <a:solidFill>
              <a:srgbClr val="66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9494" name="Line 12"/>
            <p:cNvSpPr>
              <a:spLocks noChangeShapeType="1"/>
            </p:cNvSpPr>
            <p:nvPr/>
          </p:nvSpPr>
          <p:spPr bwMode="auto">
            <a:xfrm>
              <a:off x="1632" y="3888"/>
              <a:ext cx="268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13"/>
            <p:cNvSpPr>
              <a:spLocks noChangeShapeType="1"/>
            </p:cNvSpPr>
            <p:nvPr/>
          </p:nvSpPr>
          <p:spPr bwMode="auto">
            <a:xfrm flipV="1">
              <a:off x="1872" y="2304"/>
              <a:ext cx="0" cy="177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Text Box 14"/>
            <p:cNvSpPr txBox="1">
              <a:spLocks noChangeArrowheads="1"/>
            </p:cNvSpPr>
            <p:nvPr/>
          </p:nvSpPr>
          <p:spPr bwMode="auto">
            <a:xfrm>
              <a:off x="4195" y="358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i="1">
                  <a:solidFill>
                    <a:schemeClr val="bg1"/>
                  </a:solidFill>
                  <a:latin typeface="Arial" panose="020B0604020202020204" pitchFamily="34" charset="0"/>
                </a:rPr>
                <a:t>x</a:t>
              </a:r>
              <a:endParaRPr lang="id-ID" altLang="en-US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7" name="Text Box 15"/>
            <p:cNvSpPr txBox="1">
              <a:spLocks noChangeArrowheads="1"/>
            </p:cNvSpPr>
            <p:nvPr/>
          </p:nvSpPr>
          <p:spPr bwMode="auto">
            <a:xfrm>
              <a:off x="1902" y="214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i="1">
                  <a:solidFill>
                    <a:schemeClr val="bg1"/>
                  </a:solidFill>
                  <a:latin typeface="Arial" panose="020B0604020202020204" pitchFamily="34" charset="0"/>
                </a:rPr>
                <a:t>y</a:t>
              </a:r>
              <a:endParaRPr lang="id-ID" altLang="en-US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8" name="Freeform 16"/>
            <p:cNvSpPr>
              <a:spLocks/>
            </p:cNvSpPr>
            <p:nvPr/>
          </p:nvSpPr>
          <p:spPr bwMode="auto">
            <a:xfrm>
              <a:off x="2010" y="2400"/>
              <a:ext cx="2244" cy="1236"/>
            </a:xfrm>
            <a:custGeom>
              <a:avLst/>
              <a:gdLst>
                <a:gd name="T0" fmla="*/ 0 w 2244"/>
                <a:gd name="T1" fmla="*/ 1236 h 1236"/>
                <a:gd name="T2" fmla="*/ 372 w 2244"/>
                <a:gd name="T3" fmla="*/ 906 h 1236"/>
                <a:gd name="T4" fmla="*/ 1290 w 2244"/>
                <a:gd name="T5" fmla="*/ 354 h 1236"/>
                <a:gd name="T6" fmla="*/ 2244 w 2244"/>
                <a:gd name="T7" fmla="*/ 0 h 12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44"/>
                <a:gd name="T13" fmla="*/ 0 h 1236"/>
                <a:gd name="T14" fmla="*/ 2244 w 2244"/>
                <a:gd name="T15" fmla="*/ 1236 h 12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44" h="1236">
                  <a:moveTo>
                    <a:pt x="0" y="1236"/>
                  </a:moveTo>
                  <a:cubicBezTo>
                    <a:pt x="62" y="1181"/>
                    <a:pt x="157" y="1053"/>
                    <a:pt x="372" y="906"/>
                  </a:cubicBezTo>
                  <a:cubicBezTo>
                    <a:pt x="587" y="759"/>
                    <a:pt x="978" y="505"/>
                    <a:pt x="1290" y="354"/>
                  </a:cubicBezTo>
                  <a:cubicBezTo>
                    <a:pt x="1602" y="203"/>
                    <a:pt x="2045" y="74"/>
                    <a:pt x="2244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9" name="Text Box 17"/>
            <p:cNvSpPr txBox="1">
              <a:spLocks noChangeArrowheads="1"/>
            </p:cNvSpPr>
            <p:nvPr/>
          </p:nvSpPr>
          <p:spPr bwMode="auto">
            <a:xfrm rot="20887136">
              <a:off x="3688" y="2171"/>
              <a:ext cx="7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i="1">
                  <a:solidFill>
                    <a:schemeClr val="bg1"/>
                  </a:solidFill>
                  <a:latin typeface="Arial" panose="020B0604020202020204" pitchFamily="34" charset="0"/>
                </a:rPr>
                <a:t>y </a:t>
              </a:r>
              <a:r>
                <a:rPr lang="id-ID" altLang="en-US" sz="2400">
                  <a:solidFill>
                    <a:schemeClr val="bg1"/>
                  </a:solidFill>
                  <a:latin typeface="Arial" panose="020B0604020202020204" pitchFamily="34" charset="0"/>
                </a:rPr>
                <a:t>= </a:t>
              </a:r>
              <a:r>
                <a:rPr lang="id-ID" altLang="en-US" sz="2400" i="1">
                  <a:solidFill>
                    <a:schemeClr val="bg1"/>
                  </a:solidFill>
                  <a:latin typeface="Arial" panose="020B0604020202020204" pitchFamily="34" charset="0"/>
                </a:rPr>
                <a:t>f</a:t>
              </a:r>
              <a:r>
                <a:rPr lang="id-ID" altLang="en-US" sz="2400">
                  <a:solidFill>
                    <a:schemeClr val="bg1"/>
                  </a:solidFill>
                  <a:latin typeface="Arial" panose="020B0604020202020204" pitchFamily="34" charset="0"/>
                </a:rPr>
                <a:t>(</a:t>
              </a:r>
              <a:r>
                <a:rPr lang="id-ID" altLang="en-US" sz="2400" i="1">
                  <a:solidFill>
                    <a:schemeClr val="bg1"/>
                  </a:solidFill>
                  <a:latin typeface="Arial" panose="020B0604020202020204" pitchFamily="34" charset="0"/>
                </a:rPr>
                <a:t>x</a:t>
              </a:r>
              <a:r>
                <a:rPr lang="id-ID" altLang="en-US" sz="2400">
                  <a:solidFill>
                    <a:schemeClr val="bg1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69650" name="Line 18"/>
          <p:cNvSpPr>
            <a:spLocks noChangeShapeType="1"/>
          </p:cNvSpPr>
          <p:nvPr/>
        </p:nvSpPr>
        <p:spPr bwMode="auto">
          <a:xfrm flipV="1">
            <a:off x="4267200" y="3352800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1" name="Line 19"/>
          <p:cNvSpPr>
            <a:spLocks noChangeShapeType="1"/>
          </p:cNvSpPr>
          <p:nvPr/>
        </p:nvSpPr>
        <p:spPr bwMode="auto">
          <a:xfrm flipH="1">
            <a:off x="2971800" y="3352800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2" name="Text Box 20"/>
          <p:cNvSpPr txBox="1">
            <a:spLocks noChangeArrowheads="1"/>
          </p:cNvSpPr>
          <p:nvPr/>
        </p:nvSpPr>
        <p:spPr bwMode="auto">
          <a:xfrm>
            <a:off x="4114800" y="45212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latin typeface="Arial" panose="020B0604020202020204" pitchFamily="34" charset="0"/>
              </a:rPr>
              <a:t>a</a:t>
            </a:r>
            <a:endParaRPr lang="id-ID" altLang="en-US" sz="2000">
              <a:latin typeface="Arial" panose="020B0604020202020204" pitchFamily="34" charset="0"/>
            </a:endParaRPr>
          </a:p>
        </p:txBody>
      </p:sp>
      <p:sp>
        <p:nvSpPr>
          <p:cNvPr id="69653" name="Text Box 21"/>
          <p:cNvSpPr txBox="1">
            <a:spLocks noChangeArrowheads="1"/>
          </p:cNvSpPr>
          <p:nvPr/>
        </p:nvSpPr>
        <p:spPr bwMode="auto">
          <a:xfrm>
            <a:off x="2590800" y="31178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latin typeface="Arial" panose="020B0604020202020204" pitchFamily="34" charset="0"/>
              </a:rPr>
              <a:t>L</a:t>
            </a:r>
            <a:endParaRPr lang="id-ID" altLang="en-US" sz="2000">
              <a:latin typeface="Arial" panose="020B0604020202020204" pitchFamily="34" charset="0"/>
            </a:endParaRP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952625" y="2667000"/>
            <a:ext cx="336550" cy="1238250"/>
            <a:chOff x="1230" y="2706"/>
            <a:chExt cx="212" cy="780"/>
          </a:xfrm>
        </p:grpSpPr>
        <p:sp>
          <p:nvSpPr>
            <p:cNvPr id="19489" name="Line 23"/>
            <p:cNvSpPr>
              <a:spLocks noChangeShapeType="1"/>
            </p:cNvSpPr>
            <p:nvPr/>
          </p:nvSpPr>
          <p:spPr bwMode="auto">
            <a:xfrm>
              <a:off x="1392" y="3102"/>
              <a:ext cx="0" cy="384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4"/>
            <p:cNvSpPr>
              <a:spLocks noChangeShapeType="1"/>
            </p:cNvSpPr>
            <p:nvPr/>
          </p:nvSpPr>
          <p:spPr bwMode="auto">
            <a:xfrm>
              <a:off x="1392" y="2706"/>
              <a:ext cx="0" cy="384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Text Box 25"/>
            <p:cNvSpPr txBox="1">
              <a:spLocks noChangeArrowheads="1"/>
            </p:cNvSpPr>
            <p:nvPr/>
          </p:nvSpPr>
          <p:spPr bwMode="auto">
            <a:xfrm>
              <a:off x="1242" y="3103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b="1">
                  <a:solidFill>
                    <a:srgbClr val="00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9492" name="Text Box 26"/>
            <p:cNvSpPr txBox="1">
              <a:spLocks noChangeArrowheads="1"/>
            </p:cNvSpPr>
            <p:nvPr/>
          </p:nvSpPr>
          <p:spPr bwMode="auto">
            <a:xfrm>
              <a:off x="1230" y="2728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b="1">
                  <a:solidFill>
                    <a:srgbClr val="00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69659" name="Text Box 27"/>
          <p:cNvSpPr txBox="1">
            <a:spLocks noChangeArrowheads="1"/>
          </p:cNvSpPr>
          <p:nvPr/>
        </p:nvSpPr>
        <p:spPr bwMode="auto">
          <a:xfrm>
            <a:off x="2466975" y="3760788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solidFill>
                  <a:srgbClr val="FFFF00"/>
                </a:solidFill>
                <a:latin typeface="Arial" panose="020B0604020202020204" pitchFamily="34" charset="0"/>
              </a:rPr>
              <a:t>L</a:t>
            </a:r>
            <a:r>
              <a:rPr lang="id-ID" altLang="en-US" sz="2000">
                <a:solidFill>
                  <a:srgbClr val="FFFF00"/>
                </a:solidFill>
                <a:latin typeface="Arial" panose="020B0604020202020204" pitchFamily="34" charset="0"/>
              </a:rPr>
              <a:t>-</a:t>
            </a:r>
            <a:r>
              <a:rPr lang="id-ID" altLang="en-US" sz="2000">
                <a:solidFill>
                  <a:srgbClr val="FFFF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69660" name="Line 28"/>
          <p:cNvSpPr>
            <a:spLocks noChangeShapeType="1"/>
          </p:cNvSpPr>
          <p:nvPr/>
        </p:nvSpPr>
        <p:spPr bwMode="auto">
          <a:xfrm>
            <a:off x="2971800" y="3962400"/>
            <a:ext cx="3810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1" name="Line 29"/>
          <p:cNvSpPr>
            <a:spLocks noChangeShapeType="1"/>
          </p:cNvSpPr>
          <p:nvPr/>
        </p:nvSpPr>
        <p:spPr bwMode="auto">
          <a:xfrm>
            <a:off x="3381375" y="3962400"/>
            <a:ext cx="0" cy="6096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2" name="Text Box 30"/>
          <p:cNvSpPr txBox="1">
            <a:spLocks noChangeArrowheads="1"/>
          </p:cNvSpPr>
          <p:nvPr/>
        </p:nvSpPr>
        <p:spPr bwMode="auto">
          <a:xfrm>
            <a:off x="3590925" y="4473575"/>
            <a:ext cx="690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00FFFF"/>
                </a:solidFill>
                <a:latin typeface="Arial" panose="020B0604020202020204" pitchFamily="34" charset="0"/>
              </a:rPr>
              <a:t>a- </a:t>
            </a:r>
            <a:r>
              <a:rPr lang="id-ID" altLang="en-US" sz="2400">
                <a:solidFill>
                  <a:srgbClr val="00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</a:p>
        </p:txBody>
      </p:sp>
      <p:sp>
        <p:nvSpPr>
          <p:cNvPr id="69663" name="Text Box 31"/>
          <p:cNvSpPr txBox="1">
            <a:spLocks noChangeArrowheads="1"/>
          </p:cNvSpPr>
          <p:nvPr/>
        </p:nvSpPr>
        <p:spPr bwMode="auto">
          <a:xfrm>
            <a:off x="4659313" y="4473575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00FFFF"/>
                </a:solidFill>
                <a:latin typeface="Arial" panose="020B0604020202020204" pitchFamily="34" charset="0"/>
              </a:rPr>
              <a:t>a+</a:t>
            </a:r>
            <a:r>
              <a:rPr lang="id-ID" altLang="en-US" sz="2400">
                <a:solidFill>
                  <a:srgbClr val="00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</a:p>
        </p:txBody>
      </p:sp>
      <p:sp>
        <p:nvSpPr>
          <p:cNvPr id="69664" name="Line 32"/>
          <p:cNvSpPr>
            <a:spLocks noChangeShapeType="1"/>
          </p:cNvSpPr>
          <p:nvPr/>
        </p:nvSpPr>
        <p:spPr bwMode="auto">
          <a:xfrm>
            <a:off x="2971800" y="2667000"/>
            <a:ext cx="25146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5" name="Text Box 33"/>
          <p:cNvSpPr txBox="1">
            <a:spLocks noChangeArrowheads="1"/>
          </p:cNvSpPr>
          <p:nvPr/>
        </p:nvSpPr>
        <p:spPr bwMode="auto">
          <a:xfrm>
            <a:off x="2438400" y="2389188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solidFill>
                  <a:srgbClr val="FFFF00"/>
                </a:solidFill>
                <a:latin typeface="Arial" panose="020B0604020202020204" pitchFamily="34" charset="0"/>
              </a:rPr>
              <a:t>L</a:t>
            </a:r>
            <a:r>
              <a:rPr lang="id-ID" altLang="en-US" sz="2000">
                <a:solidFill>
                  <a:srgbClr val="FFFF00"/>
                </a:solidFill>
                <a:latin typeface="Arial" panose="020B0604020202020204" pitchFamily="34" charset="0"/>
              </a:rPr>
              <a:t>+</a:t>
            </a:r>
            <a:r>
              <a:rPr lang="id-ID" altLang="en-US" sz="2000">
                <a:solidFill>
                  <a:srgbClr val="FFFF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69666" name="Line 34"/>
          <p:cNvSpPr>
            <a:spLocks noChangeShapeType="1"/>
          </p:cNvSpPr>
          <p:nvPr/>
        </p:nvSpPr>
        <p:spPr bwMode="auto">
          <a:xfrm>
            <a:off x="5486400" y="2667000"/>
            <a:ext cx="0" cy="19050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3846513" y="3368675"/>
            <a:ext cx="841375" cy="457200"/>
            <a:chOff x="2423" y="3418"/>
            <a:chExt cx="530" cy="288"/>
          </a:xfrm>
        </p:grpSpPr>
        <p:sp>
          <p:nvSpPr>
            <p:cNvPr id="19485" name="Line 36"/>
            <p:cNvSpPr>
              <a:spLocks noChangeShapeType="1"/>
            </p:cNvSpPr>
            <p:nvPr/>
          </p:nvSpPr>
          <p:spPr bwMode="auto">
            <a:xfrm flipH="1">
              <a:off x="2423" y="3696"/>
              <a:ext cx="265" cy="0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Rectangle 37"/>
            <p:cNvSpPr>
              <a:spLocks noChangeArrowheads="1"/>
            </p:cNvSpPr>
            <p:nvPr/>
          </p:nvSpPr>
          <p:spPr bwMode="auto">
            <a:xfrm>
              <a:off x="2485" y="3418"/>
              <a:ext cx="2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b="1">
                  <a:solidFill>
                    <a:srgbClr val="00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19487" name="Rectangle 38"/>
            <p:cNvSpPr>
              <a:spLocks noChangeArrowheads="1"/>
            </p:cNvSpPr>
            <p:nvPr/>
          </p:nvSpPr>
          <p:spPr bwMode="auto">
            <a:xfrm>
              <a:off x="2736" y="3418"/>
              <a:ext cx="2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d-ID" altLang="en-US" sz="2400" b="1">
                  <a:solidFill>
                    <a:srgbClr val="00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19488" name="Line 39"/>
            <p:cNvSpPr>
              <a:spLocks noChangeShapeType="1"/>
            </p:cNvSpPr>
            <p:nvPr/>
          </p:nvSpPr>
          <p:spPr bwMode="auto">
            <a:xfrm flipH="1">
              <a:off x="2688" y="3696"/>
              <a:ext cx="265" cy="0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72" name="Line 40"/>
          <p:cNvSpPr>
            <a:spLocks noChangeShapeType="1"/>
          </p:cNvSpPr>
          <p:nvPr/>
        </p:nvSpPr>
        <p:spPr bwMode="auto">
          <a:xfrm>
            <a:off x="3838575" y="3886200"/>
            <a:ext cx="0" cy="685800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73" name="Line 41"/>
          <p:cNvSpPr>
            <a:spLocks noChangeShapeType="1"/>
          </p:cNvSpPr>
          <p:nvPr/>
        </p:nvSpPr>
        <p:spPr bwMode="auto">
          <a:xfrm>
            <a:off x="4695825" y="3886200"/>
            <a:ext cx="0" cy="685800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74" name="Text Box 42"/>
          <p:cNvSpPr txBox="1">
            <a:spLocks noChangeArrowheads="1"/>
          </p:cNvSpPr>
          <p:nvPr/>
        </p:nvSpPr>
        <p:spPr bwMode="auto">
          <a:xfrm>
            <a:off x="3200400" y="4473575"/>
            <a:ext cx="44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FFFF00"/>
                </a:solidFill>
                <a:latin typeface="Arial" panose="020B0604020202020204" pitchFamily="34" charset="0"/>
              </a:rPr>
              <a:t>x</a:t>
            </a:r>
            <a:r>
              <a:rPr lang="id-ID" altLang="en-US" sz="2400" baseline="-25000">
                <a:solidFill>
                  <a:srgbClr val="FFFF00"/>
                </a:solidFill>
                <a:latin typeface="Arial" panose="020B0604020202020204" pitchFamily="34" charset="0"/>
              </a:rPr>
              <a:t>0</a:t>
            </a:r>
            <a:endParaRPr lang="id-ID" altLang="en-US" sz="24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9675" name="Text Box 43"/>
          <p:cNvSpPr txBox="1">
            <a:spLocks noChangeArrowheads="1"/>
          </p:cNvSpPr>
          <p:nvPr/>
        </p:nvSpPr>
        <p:spPr bwMode="auto">
          <a:xfrm>
            <a:off x="5294313" y="4445000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 i="1">
                <a:solidFill>
                  <a:srgbClr val="FFFF00"/>
                </a:solidFill>
                <a:latin typeface="Arial" panose="020B0604020202020204" pitchFamily="34" charset="0"/>
              </a:rPr>
              <a:t>x</a:t>
            </a:r>
            <a:r>
              <a:rPr lang="id-ID" altLang="en-US" sz="2000" baseline="-2500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id-ID" altLang="en-US" sz="20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9676" name="Text Box 44"/>
          <p:cNvSpPr txBox="1">
            <a:spLocks noChangeArrowheads="1"/>
          </p:cNvSpPr>
          <p:nvPr/>
        </p:nvSpPr>
        <p:spPr bwMode="auto">
          <a:xfrm>
            <a:off x="4430713" y="44735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99FF33"/>
                </a:solidFill>
                <a:latin typeface="Arial" panose="020B0604020202020204" pitchFamily="34" charset="0"/>
              </a:rPr>
              <a:t>x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69677" name="Text Box 45"/>
          <p:cNvSpPr txBox="1">
            <a:spLocks noChangeArrowheads="1"/>
          </p:cNvSpPr>
          <p:nvPr/>
        </p:nvSpPr>
        <p:spPr bwMode="auto">
          <a:xfrm>
            <a:off x="2533650" y="2797175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99FF33"/>
                </a:solidFill>
                <a:latin typeface="Arial" panose="020B0604020202020204" pitchFamily="34" charset="0"/>
              </a:rPr>
              <a:t>f</a:t>
            </a:r>
            <a:r>
              <a:rPr lang="id-ID" altLang="en-US" sz="2400">
                <a:solidFill>
                  <a:srgbClr val="99FF33"/>
                </a:solidFill>
                <a:latin typeface="Arial" panose="020B0604020202020204" pitchFamily="34" charset="0"/>
              </a:rPr>
              <a:t>(</a:t>
            </a:r>
            <a:r>
              <a:rPr lang="id-ID" altLang="en-US" sz="2400" i="1">
                <a:solidFill>
                  <a:srgbClr val="99FF33"/>
                </a:solidFill>
                <a:latin typeface="Arial" panose="020B0604020202020204" pitchFamily="34" charset="0"/>
              </a:rPr>
              <a:t>x</a:t>
            </a:r>
            <a:r>
              <a:rPr lang="id-ID" altLang="en-US" sz="2400">
                <a:solidFill>
                  <a:srgbClr val="99FF33"/>
                </a:solidFill>
                <a:latin typeface="Arial" panose="020B0604020202020204" pitchFamily="34" charset="0"/>
              </a:rPr>
              <a:t>)</a:t>
            </a:r>
            <a:endParaRPr lang="id-ID" altLang="en-US" sz="2400">
              <a:latin typeface="Arial" panose="020B0604020202020204" pitchFamily="34" charset="0"/>
            </a:endParaRPr>
          </a:p>
        </p:txBody>
      </p:sp>
      <p:sp>
        <p:nvSpPr>
          <p:cNvPr id="69678" name="Line 46"/>
          <p:cNvSpPr>
            <a:spLocks noChangeShapeType="1"/>
          </p:cNvSpPr>
          <p:nvPr/>
        </p:nvSpPr>
        <p:spPr bwMode="auto">
          <a:xfrm flipV="1">
            <a:off x="4572000" y="3124200"/>
            <a:ext cx="0" cy="1447800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79" name="Line 47"/>
          <p:cNvSpPr>
            <a:spLocks noChangeShapeType="1"/>
          </p:cNvSpPr>
          <p:nvPr/>
        </p:nvSpPr>
        <p:spPr bwMode="auto">
          <a:xfrm flipH="1">
            <a:off x="2914650" y="3124200"/>
            <a:ext cx="1676400" cy="0"/>
          </a:xfrm>
          <a:prstGeom prst="line">
            <a:avLst/>
          </a:prstGeom>
          <a:noFill/>
          <a:ln w="19050">
            <a:solidFill>
              <a:srgbClr val="99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0" name="Text Box 48"/>
          <p:cNvSpPr txBox="1">
            <a:spLocks noChangeArrowheads="1"/>
          </p:cNvSpPr>
          <p:nvPr/>
        </p:nvSpPr>
        <p:spPr bwMode="auto">
          <a:xfrm>
            <a:off x="5943600" y="2949575"/>
            <a:ext cx="1390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400" i="1">
                <a:solidFill>
                  <a:srgbClr val="00FFFF"/>
                </a:solidFill>
                <a:latin typeface="Arial" panose="020B0604020202020204" pitchFamily="34" charset="0"/>
              </a:rPr>
              <a:t>| f</a:t>
            </a:r>
            <a:r>
              <a:rPr lang="id-ID" altLang="en-US" sz="2400">
                <a:solidFill>
                  <a:srgbClr val="00FFFF"/>
                </a:solidFill>
                <a:latin typeface="Arial" panose="020B0604020202020204" pitchFamily="34" charset="0"/>
              </a:rPr>
              <a:t>(</a:t>
            </a:r>
            <a:r>
              <a:rPr lang="id-ID" altLang="en-US" sz="2400" i="1">
                <a:solidFill>
                  <a:srgbClr val="00FFFF"/>
                </a:solidFill>
                <a:latin typeface="Arial" panose="020B0604020202020204" pitchFamily="34" charset="0"/>
              </a:rPr>
              <a:t>x</a:t>
            </a:r>
            <a:r>
              <a:rPr lang="id-ID" altLang="en-US" sz="2400">
                <a:solidFill>
                  <a:srgbClr val="00FFFF"/>
                </a:solidFill>
                <a:latin typeface="Arial" panose="020B0604020202020204" pitchFamily="34" charset="0"/>
              </a:rPr>
              <a:t>) - </a:t>
            </a:r>
            <a:r>
              <a:rPr lang="id-ID" altLang="en-US" sz="2400" i="1">
                <a:solidFill>
                  <a:srgbClr val="00FFFF"/>
                </a:solidFill>
                <a:latin typeface="Arial" panose="020B0604020202020204" pitchFamily="34" charset="0"/>
              </a:rPr>
              <a:t>L</a:t>
            </a:r>
            <a:r>
              <a:rPr lang="id-ID" altLang="en-US" sz="2400">
                <a:solidFill>
                  <a:srgbClr val="00FFFF"/>
                </a:solidFill>
                <a:latin typeface="Arial" panose="020B0604020202020204" pitchFamily="34" charset="0"/>
              </a:rPr>
              <a:t> |</a:t>
            </a:r>
          </a:p>
        </p:txBody>
      </p:sp>
      <p:sp>
        <p:nvSpPr>
          <p:cNvPr id="69681" name="Line 49"/>
          <p:cNvSpPr>
            <a:spLocks noChangeShapeType="1"/>
          </p:cNvSpPr>
          <p:nvPr/>
        </p:nvSpPr>
        <p:spPr bwMode="auto">
          <a:xfrm>
            <a:off x="4343400" y="3352800"/>
            <a:ext cx="14478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2" name="Line 50"/>
          <p:cNvSpPr>
            <a:spLocks noChangeShapeType="1"/>
          </p:cNvSpPr>
          <p:nvPr/>
        </p:nvSpPr>
        <p:spPr bwMode="auto">
          <a:xfrm>
            <a:off x="4648200" y="3124200"/>
            <a:ext cx="11430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3" name="Text Box 51"/>
          <p:cNvSpPr txBox="1">
            <a:spLocks noChangeArrowheads="1"/>
          </p:cNvSpPr>
          <p:nvPr/>
        </p:nvSpPr>
        <p:spPr bwMode="auto">
          <a:xfrm>
            <a:off x="5759450" y="3048000"/>
            <a:ext cx="306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d-ID" altLang="en-US" sz="2000">
                <a:solidFill>
                  <a:srgbClr val="FF0000"/>
                </a:solidFill>
              </a:rPr>
              <a:t>}</a:t>
            </a:r>
            <a:endParaRPr lang="id-ID" altLang="en-US" sz="2400"/>
          </a:p>
        </p:txBody>
      </p:sp>
      <p:sp>
        <p:nvSpPr>
          <p:cNvPr id="44" name="TextBox 43"/>
          <p:cNvSpPr txBox="1"/>
          <p:nvPr/>
        </p:nvSpPr>
        <p:spPr>
          <a:xfrm>
            <a:off x="7759367" y="66358"/>
            <a:ext cx="101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7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14194" y="404302"/>
                <a:ext cx="1573508" cy="454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94" y="404302"/>
                <a:ext cx="1573508" cy="4547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25487" y="381000"/>
            <a:ext cx="992579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Definisi: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8439" y="381000"/>
            <a:ext cx="825867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artinya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44758" y="1051776"/>
                <a:ext cx="815928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&gt;0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𝑠𝑎𝑛𝑔𝑎𝑡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𝑘𝑒𝑐𝑖𝑙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𝑠𝑒𝑘𝑎𝑙𝑖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∃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&gt;0∋0&lt;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𝑚𝑎𝑘𝑎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</m:d>
                      <m:r>
                        <a:rPr lang="en-US" b="1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58" y="1051776"/>
                <a:ext cx="815928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72020" y="5081383"/>
                <a:ext cx="3688830" cy="7782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Contoh: Buktikan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⟶3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d-ID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id-ID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−9</m:t>
                            </m:r>
                          </m:num>
                          <m:den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den>
                        </m:f>
                      </m:e>
                    </m:func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20" y="5081383"/>
                <a:ext cx="3688830" cy="778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81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10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10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10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10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1000"/>
                                        <p:tgtEl>
                                          <p:spTgt spid="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1000"/>
                                        <p:tgtEl>
                                          <p:spTgt spid="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1000"/>
                                        <p:tgtEl>
                                          <p:spTgt spid="6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1000"/>
                                        <p:tgtEl>
                                          <p:spTgt spid="6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10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1000"/>
                                        <p:tgtEl>
                                          <p:spTgt spid="6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2" grpId="0"/>
      <p:bldP spid="69653" grpId="0"/>
      <p:bldP spid="69659" grpId="0"/>
      <p:bldP spid="69662" grpId="0"/>
      <p:bldP spid="69663" grpId="0"/>
      <p:bldP spid="69665" grpId="0"/>
      <p:bldP spid="69674" grpId="0"/>
      <p:bldP spid="69675" grpId="0"/>
      <p:bldP spid="69676" grpId="0"/>
      <p:bldP spid="69677" grpId="0"/>
      <p:bldP spid="69680" grpId="0"/>
      <p:bldP spid="69683" grpId="0"/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8652" y="334603"/>
            <a:ext cx="259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marR="1270" indent="-285750" algn="just">
              <a:spcBef>
                <a:spcPts val="0"/>
              </a:spcBef>
              <a:tabLst>
                <a:tab pos="114300" algn="l"/>
              </a:tabLs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.2 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</a:t>
            </a:r>
            <a:r>
              <a:rPr lang="en-US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hitungan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Limit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35" y="531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 8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57004" y="795951"/>
                <a:ext cx="8233314" cy="45474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860425" indent="-860425"/>
                <a:r>
                  <a:rPr lang="en-US" b="1" dirty="0" err="1">
                    <a:latin typeface="Times New Roman" pitchFamily="18" charset="0"/>
                    <a:cs typeface="Times New Roman" pitchFamily="18" charset="0"/>
                  </a:rPr>
                  <a:t>Sifat</a:t>
                </a: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b="1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Diketahui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𝐿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real,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berlaku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04" y="795951"/>
                <a:ext cx="8233314" cy="454740"/>
              </a:xfrm>
              <a:prstGeom prst="rect">
                <a:avLst/>
              </a:prstGeom>
              <a:blipFill>
                <a:blip r:embed="rId3"/>
                <a:stretch>
                  <a:fillRect l="-592" t="-6579" b="-13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4713" y="1327314"/>
                <a:ext cx="6139543" cy="4545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±</m:t>
                            </m:r>
                            <m:r>
                              <a:rPr lang="en-US" i="1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𝐿</m:t>
                    </m:r>
                    <m:r>
                      <a:rPr lang="en-US" i="1">
                        <a:latin typeface="Cambria Math"/>
                      </a:rPr>
                      <m:t>±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13" y="1327314"/>
                <a:ext cx="6139543" cy="454548"/>
              </a:xfrm>
              <a:prstGeom prst="rect">
                <a:avLst/>
              </a:prstGeom>
              <a:blipFill>
                <a:blip r:embed="rId4"/>
                <a:stretch>
                  <a:fillRect l="-695" t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18652" y="1900167"/>
                <a:ext cx="3502177" cy="454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  <m:r>
                        <a:rPr lang="en-US" b="0" i="1" smtClean="0">
                          <a:latin typeface="Cambria Math"/>
                        </a:rPr>
                        <m:t>.  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/>
                            </a:rPr>
                            <m:t>𝑐𝑓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𝑙𝑖𝑚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→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latin typeface="Cambria Math"/>
                            </a:rPr>
                            <m:t>𝑐𝐿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2" y="1900167"/>
                <a:ext cx="3502177" cy="4547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18652" y="2486301"/>
                <a:ext cx="4629537" cy="454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.  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𝐿𝑀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2" y="2486301"/>
                <a:ext cx="4629537" cy="4547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18652" y="3004383"/>
                <a:ext cx="4068806" cy="842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.   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= 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𝑙𝑖𝑚</m:t>
                                      </m:r>
                                    </m:e>
                                    <m:li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→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𝑎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𝑙𝑖𝑚</m:t>
                                      </m:r>
                                    </m:e>
                                    <m:li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→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𝑎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func>
                      <m:r>
                        <a:rPr lang="en-US" i="1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; </m:t>
                      </m:r>
                      <m:r>
                        <a:rPr lang="en-US" i="1">
                          <a:latin typeface="Cambria Math"/>
                        </a:rPr>
                        <m:t>𝑀</m:t>
                      </m:r>
                      <m:r>
                        <a:rPr lang="en-US" i="1">
                          <a:latin typeface="Cambria Math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52" y="3004383"/>
                <a:ext cx="4068806" cy="842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19919" y="3884915"/>
                <a:ext cx="4572000" cy="6560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  <m:r>
                          <a:rPr lang="en-US" b="0" i="1" smtClean="0">
                            <a:latin typeface="Cambria Math"/>
                          </a:rPr>
                          <m:t>.   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</a:rPr>
                              <m:t>→</m:t>
                            </m:r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func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𝑙𝑖𝑚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rad>
                    <m:r>
                      <a:rPr lang="en-US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  ;</m:t>
                    </m:r>
                    <m:r>
                      <a:rPr lang="en-US" i="1">
                        <a:latin typeface="Cambria Math"/>
                      </a:rPr>
                      <m:t>𝐿</m:t>
                    </m:r>
                    <m:r>
                      <a:rPr lang="en-US" i="1">
                        <a:latin typeface="Cambria Math"/>
                      </a:rPr>
                      <m:t>≥0.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19" y="3884915"/>
                <a:ext cx="4572000" cy="6560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4713" y="4409467"/>
                <a:ext cx="7006687" cy="1079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2575" indent="-282575"/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Contoh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Buatlah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sketsa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grafik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,           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≤2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+2,    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&gt;2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serta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hitunglah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 marL="282575" indent="-282575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           </a:t>
                </a:r>
                <a:r>
                  <a:rPr lang="en-US" dirty="0" smtClean="0">
                    <a:latin typeface="Cambria Math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;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  <a:cs typeface="Times New Roman" pitchFamily="18" charset="0"/>
                      </a:rPr>
                      <m:t>dan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13" y="4409467"/>
                <a:ext cx="7006687" cy="1079976"/>
              </a:xfrm>
              <a:prstGeom prst="rect">
                <a:avLst/>
              </a:prstGeom>
              <a:blipFill>
                <a:blip r:embed="rId9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4713" y="5547874"/>
                <a:ext cx="7003474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2575" indent="-282575"/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Contoh: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Dapatkan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konstanta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𝑘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fungsi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mempunyai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limit </a:t>
                </a:r>
              </a:p>
              <a:p>
                <a:pPr marL="282575" indent="-282575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≤2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 ;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&gt;2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13" y="5547874"/>
                <a:ext cx="7003474" cy="987193"/>
              </a:xfrm>
              <a:prstGeom prst="rect">
                <a:avLst/>
              </a:prstGeom>
              <a:blipFill>
                <a:blip r:embed="rId10"/>
                <a:stretch>
                  <a:fillRect l="-696" t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1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339" y="392668"/>
            <a:ext cx="2595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 di Tak Hingga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135" y="531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9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72835" y="685800"/>
                <a:ext cx="6781800" cy="5396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Bentuk: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dan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(Penjelasan di white board)</a:t>
                </a: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5" y="685800"/>
                <a:ext cx="6781800" cy="539635"/>
              </a:xfrm>
              <a:prstGeom prst="rect">
                <a:avLst/>
              </a:prstGeom>
              <a:blipFill>
                <a:blip r:embed="rId2"/>
                <a:stretch>
                  <a:fillRect l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900544" y="1447800"/>
            <a:ext cx="3814506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 Tak Hinggga Bernilai Tertentu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00543" y="1828800"/>
                <a:ext cx="7024257" cy="970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Bentuk</a:t>
                </a:r>
                <a:r>
                  <a:rPr lang="id-ID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id-ID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artinya nilai limit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→−~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2.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artinya nilai limit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untuk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→+~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3" y="1828800"/>
                <a:ext cx="7024257" cy="970522"/>
              </a:xfrm>
              <a:prstGeom prst="rect">
                <a:avLst/>
              </a:prstGeom>
              <a:blipFill>
                <a:blip r:embed="rId3"/>
                <a:stretch>
                  <a:fillRect l="-781" t="-629" b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90600" y="2819400"/>
                <a:ext cx="7391400" cy="1003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Gambarlah grafik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den>
                    </m:f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dengan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pengamatan hitunglah  </a:t>
                </a:r>
                <a:endParaRPr lang="id-ID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→2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19400"/>
                <a:ext cx="7391400" cy="1003416"/>
              </a:xfrm>
              <a:prstGeom prst="rect">
                <a:avLst/>
              </a:prstGeom>
              <a:blipFill>
                <a:blip r:embed="rId4"/>
                <a:stretch>
                  <a:fillRect l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990600" y="3991722"/>
            <a:ext cx="4231287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 Tak Hinggga Bernilai Tak Hinggga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90600" y="4496841"/>
                <a:ext cx="7696200" cy="1768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Bentuk: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1.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=+~</m:t>
                        </m:r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=+~</m:t>
                        </m:r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dikatakan nilai-nilai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id-ID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naik tanpa batas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saat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→−~ 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→+~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2.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=−~</m:t>
                        </m:r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→+~</m:t>
                            </m:r>
                          </m:lim>
                        </m:limLow>
                      </m:fName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=−~</m:t>
                        </m:r>
                      </m:e>
                    </m:func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dikatakan nilai-nilai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id-ID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turun tanpa batas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saat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→−~ 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dan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→+~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96841"/>
                <a:ext cx="7696200" cy="1768433"/>
              </a:xfrm>
              <a:prstGeom prst="rect">
                <a:avLst/>
              </a:prstGeom>
              <a:blipFill>
                <a:blip r:embed="rId5"/>
                <a:stretch>
                  <a:fillRect l="-713" t="-69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10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4800" y="395522"/>
                <a:ext cx="8440062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Limit di tak hingga untuk polinomial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dengan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bilangan bulat positif adalah: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5522"/>
                <a:ext cx="8440062" cy="388696"/>
              </a:xfrm>
              <a:prstGeom prst="rect">
                <a:avLst/>
              </a:prstGeom>
              <a:blipFill>
                <a:blip r:embed="rId2"/>
                <a:stretch>
                  <a:fillRect l="-578" t="-937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135" y="53109"/>
            <a:ext cx="101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 10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90945" y="990600"/>
                <a:ext cx="3028265" cy="454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→+~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=+~</m:t>
                          </m:r>
                        </m:e>
                      </m:func>
                      <m:r>
                        <a:rPr lang="en-US" i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=1,2,3,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90600"/>
                <a:ext cx="3028265" cy="454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429000" y="839636"/>
                <a:ext cx="3157275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dan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→−~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−~ ;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𝑔𝑎𝑛𝑗𝑖𝑙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+~ ;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𝑔𝑒𝑛𝑎𝑝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839636"/>
                <a:ext cx="3157275" cy="710194"/>
              </a:xfrm>
              <a:prstGeom prst="rect">
                <a:avLst/>
              </a:prstGeom>
              <a:blipFill>
                <a:blip r:embed="rId4"/>
                <a:stretch>
                  <a:fillRect l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2151" y="1697849"/>
            <a:ext cx="1883849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1485900" algn="l"/>
              </a:tabLst>
            </a:pP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id-ID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.4</a:t>
            </a:r>
            <a:r>
              <a:rPr lang="id-ID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Kekontinuan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7166" y="2310580"/>
                <a:ext cx="8247695" cy="771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Definisi : 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Suatu 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fungsi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dikatakan kontinu di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jika memenuhi ketiga syarat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    1. 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  </a:t>
                </a:r>
                <a:r>
                  <a:rPr lang="id-ID" sz="20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2.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id-ID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id-ID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id-ID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6" y="2310580"/>
                <a:ext cx="8247695" cy="771943"/>
              </a:xfrm>
              <a:prstGeom prst="rect">
                <a:avLst/>
              </a:prstGeom>
              <a:blipFill>
                <a:blip r:embed="rId5"/>
                <a:stretch>
                  <a:fillRect l="-665" t="-3937" b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-20782" y="3196942"/>
                <a:ext cx="73914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>
                  <a:spcBef>
                    <a:spcPts val="0"/>
                  </a:spcBef>
                  <a:spcAft>
                    <a:spcPts val="0"/>
                  </a:spcAft>
                  <a:tabLst>
                    <a:tab pos="628650" algn="l"/>
                  </a:tabLst>
                </a:pPr>
                <a:r>
                  <a:rPr lang="id-ID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Catatan: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Cukup satu dari ketiga syarat tidak dipenuhi maka titik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endParaRPr lang="id-ID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marR="0">
                  <a:spcBef>
                    <a:spcPts val="0"/>
                  </a:spcBef>
                  <a:spcAft>
                    <a:spcPts val="0"/>
                  </a:spcAft>
                  <a:tabLst>
                    <a:tab pos="628650" algn="l"/>
                  </a:tabLst>
                </a:pP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disebut 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titik </a:t>
                </a: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diskontinu</a:t>
                </a:r>
                <a:endParaRPr lang="en-US" sz="20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82" y="3196942"/>
                <a:ext cx="7391400" cy="646331"/>
              </a:xfrm>
              <a:prstGeom prst="rect">
                <a:avLst/>
              </a:prstGeom>
              <a:blipFill>
                <a:blip r:embed="rId6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97166" y="3957692"/>
                <a:ext cx="7424990" cy="21378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628650" algn="l"/>
                  </a:tabLst>
                </a:pP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Contoh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Jelaskan kekontinuan di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untuk fungsi berikut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>
                  <a:tabLst>
                    <a:tab pos="628650" algn="l"/>
                  </a:tabLst>
                </a:pP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1.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num>
                      <m:den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−2</m:t>
                        </m:r>
                      </m:den>
                    </m:f>
                  </m:oMath>
                </a14:m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2.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−4</m:t>
                                  </m:r>
                                </m:num>
                                <m:den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; 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≠2</m:t>
                              </m:r>
                            </m:e>
                          </m:mr>
                          <m:m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; 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</a:p>
              <a:p>
                <a:pPr>
                  <a:tabLst>
                    <a:tab pos="628650" algn="l"/>
                  </a:tabLst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</a:t>
                </a: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3.  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−4</m:t>
                                  </m:r>
                                </m:num>
                                <m:den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; 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≠2</m:t>
                              </m:r>
                            </m:e>
                          </m:mr>
                          <m:m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; 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id-ID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Penjelasan 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 white </a:t>
                </a:r>
                <a:r>
                  <a:rPr lang="id-ID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board</a:t>
                </a:r>
                <a:r>
                  <a:rPr lang="id-ID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6" y="3957692"/>
                <a:ext cx="7424990" cy="2137893"/>
              </a:xfrm>
              <a:prstGeom prst="rect">
                <a:avLst/>
              </a:prstGeom>
              <a:blipFill>
                <a:blip r:embed="rId8"/>
                <a:stretch>
                  <a:fillRect l="-739" t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5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135" y="53109"/>
            <a:ext cx="1016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</a:t>
            </a:r>
            <a:r>
              <a:rPr lang="id-ID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11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381668"/>
                <a:ext cx="8305800" cy="1261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Definisi :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Suatu fungsi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dikatakan kontinu pada selang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jika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memenuhi</a:t>
                </a:r>
              </a:p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ketiga syarat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  </a:t>
                </a:r>
                <a:endParaRPr 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</a:t>
                </a:r>
                <a:r>
                  <a:rPr lang="id-ID" sz="20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kontinu pada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2. </a:t>
                </a: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kontinu dari kanan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dan</a:t>
                </a:r>
                <a:endParaRPr lang="en-US" sz="20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1197610" marR="0" indent="-119761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</a:t>
                </a:r>
                <a:r>
                  <a:rPr lang="id-ID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3.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kontinu dari kiri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668"/>
                <a:ext cx="8305800" cy="1261884"/>
              </a:xfrm>
              <a:prstGeom prst="rect">
                <a:avLst/>
              </a:prstGeom>
              <a:blipFill>
                <a:blip r:embed="rId2"/>
                <a:stretch>
                  <a:fillRect l="-587" t="-2899" b="-7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30382" y="1600200"/>
            <a:ext cx="64562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28650" algn="l"/>
              </a:tabLst>
            </a:pPr>
            <a:r>
              <a:rPr lang="id-ID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Teorema: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28650" algn="l"/>
              </a:tabLst>
            </a:pP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Setiap polinomial selalu kontinu dimana-mana.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28650" algn="l"/>
              </a:tabLst>
            </a:pP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Setiap fungsi rasional selalu kontinu di setiap titik yang tidak membuat penyebutnya nol, dan titik </a:t>
            </a:r>
            <a:r>
              <a:rPr lang="id-ID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id-ID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kontinu 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 titik-titik yang membuat penyebutnya nol</a:t>
            </a:r>
            <a:r>
              <a:rPr lang="id-ID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1164" y="3283466"/>
                <a:ext cx="6892636" cy="801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114300" algn="l"/>
                    <a:tab pos="628650" algn="l"/>
                  </a:tabLst>
                </a:pPr>
                <a:r>
                  <a:rPr lang="id-ID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Contoh: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Dapatkan titik diskontinu dan sketsa grafik: </a:t>
                </a:r>
                <a14:m>
                  <m:oMath xmlns:m="http://schemas.openxmlformats.org/officeDocument/2006/math"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−6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id-ID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+8</m:t>
                        </m:r>
                      </m:den>
                    </m:f>
                  </m:oMath>
                </a14:m>
                <a:endParaRPr lang="id-ID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tabLst>
                    <a:tab pos="114300" algn="l"/>
                    <a:tab pos="628650" algn="l"/>
                  </a:tabLst>
                </a:pP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P</a:t>
                </a:r>
                <a:r>
                  <a:rPr lang="en-US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en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jelasan 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 white </a:t>
                </a:r>
                <a:r>
                  <a:rPr lang="id-ID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board</a:t>
                </a:r>
                <a:r>
                  <a:rPr lang="id-ID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64" y="3283466"/>
                <a:ext cx="6892636" cy="801566"/>
              </a:xfrm>
              <a:prstGeom prst="rect">
                <a:avLst/>
              </a:prstGeom>
              <a:blipFill>
                <a:blip r:embed="rId4"/>
                <a:stretch>
                  <a:fillRect l="-796" b="-11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46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556</Words>
  <Application>Microsoft Office PowerPoint</Application>
  <PresentationFormat>On-screen Show (4:3)</PresentationFormat>
  <Paragraphs>195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Calibri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Amanda</cp:lastModifiedBy>
  <cp:revision>96</cp:revision>
  <dcterms:created xsi:type="dcterms:W3CDTF">2015-01-26T23:49:22Z</dcterms:created>
  <dcterms:modified xsi:type="dcterms:W3CDTF">2024-09-03T00:43:54Z</dcterms:modified>
</cp:coreProperties>
</file>