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56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17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74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4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6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2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30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3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2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39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56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95D0EC-5949-4039-867D-E3B447EAC3B9}" type="datetimeFigureOut">
              <a:rPr lang="en-US" smtClean="0"/>
              <a:t>05-Oct-20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B4692-CBA0-4E55-A546-86C6356B14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95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26" Type="http://schemas.openxmlformats.org/officeDocument/2006/relationships/image" Target="../media/image71.png"/><Relationship Id="rId3" Type="http://schemas.openxmlformats.org/officeDocument/2006/relationships/image" Target="../media/image48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5" Type="http://schemas.openxmlformats.org/officeDocument/2006/relationships/image" Target="../media/image70.pn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24" Type="http://schemas.openxmlformats.org/officeDocument/2006/relationships/image" Target="../media/image69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28" Type="http://schemas.openxmlformats.org/officeDocument/2006/relationships/image" Target="../media/image73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Relationship Id="rId27" Type="http://schemas.openxmlformats.org/officeDocument/2006/relationships/image" Target="../media/image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33400" y="76200"/>
            <a:ext cx="8458200" cy="6186000"/>
            <a:chOff x="533400" y="76200"/>
            <a:chExt cx="8458200" cy="6186000"/>
          </a:xfrm>
        </p:grpSpPr>
        <p:sp>
          <p:nvSpPr>
            <p:cNvPr id="4" name="Rectangle 3"/>
            <p:cNvSpPr/>
            <p:nvPr/>
          </p:nvSpPr>
          <p:spPr>
            <a:xfrm>
              <a:off x="533400" y="76200"/>
              <a:ext cx="8366265" cy="43088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>
              <a:spAutoFit/>
            </a:bodyPr>
            <a:lstStyle/>
            <a:p>
              <a:pPr algn="just"/>
              <a:r>
                <a:rPr lang="en-US" sz="2200" b="1" dirty="0" smtClean="0">
                  <a:latin typeface="Times New Roman" pitchFamily="18" charset="0"/>
                  <a:cs typeface="Times New Roman" pitchFamily="18" charset="0"/>
                </a:rPr>
                <a:t>MATRIKS, DETERMINAN DAN SISTEM PERSAMAAN LINIER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" name="Rectangle 1"/>
            <p:cNvSpPr/>
            <p:nvPr/>
          </p:nvSpPr>
          <p:spPr>
            <a:xfrm>
              <a:off x="566830" y="457200"/>
              <a:ext cx="138255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/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MATRIKS:</a:t>
              </a:r>
              <a:endParaRPr lang="en-US" sz="2000" dirty="0">
                <a:latin typeface="Times New Roman" pitchFamily="18" charset="0"/>
                <a:cs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Rectangle 2"/>
                <p:cNvSpPr/>
                <p:nvPr/>
              </p:nvSpPr>
              <p:spPr>
                <a:xfrm>
                  <a:off x="1892840" y="1745567"/>
                  <a:ext cx="3593560" cy="122623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000" i="1">
                            <a:latin typeface="Cambria Math"/>
                          </a:rPr>
                          <m:t>𝑀</m:t>
                        </m:r>
                        <m:r>
                          <a:rPr lang="en-US" sz="2000" i="1">
                            <a:latin typeface="Cambria Math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𝑚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𝑚</m:t>
                                      </m:r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⋯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/>
                                        </a:rPr>
                                        <m:t>𝑚𝑛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sz="20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3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2840" y="1745567"/>
                  <a:ext cx="3593560" cy="1226233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Rectangle 4"/>
            <p:cNvSpPr/>
            <p:nvPr/>
          </p:nvSpPr>
          <p:spPr>
            <a:xfrm>
              <a:off x="533400" y="742890"/>
              <a:ext cx="323146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lvl="1" algn="just"/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1. PENGERTIAN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MATRIKS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609600" y="1044714"/>
                  <a:ext cx="8153400" cy="7078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196975" indent="-1196975" algn="just"/>
                  <a:r>
                    <a:rPr lang="en-US" sz="2000" b="1" dirty="0" smtClean="0">
                      <a:latin typeface="Times New Roman" pitchFamily="18" charset="0"/>
                      <a:cs typeface="Times New Roman" pitchFamily="18" charset="0"/>
                    </a:rPr>
                    <a:t>Definisi1: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 smtClean="0">
                      <a:latin typeface="Times New Roman" pitchFamily="18" charset="0"/>
                      <a:cs typeface="Times New Roman" pitchFamily="18" charset="0"/>
                    </a:rPr>
                    <a:t>Matrik</a:t>
                  </a:r>
                  <a:r>
                    <a:rPr lang="en-US" sz="2000" dirty="0" smtClean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adalah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himpunan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elemen-elemen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berbentuk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segi-empat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smtClean="0">
                      <a:latin typeface="Times New Roman" pitchFamily="18" charset="0"/>
                      <a:cs typeface="Times New Roman" pitchFamily="18" charset="0"/>
                    </a:rPr>
                    <a:t> yang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diapit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kurung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smtClean="0">
                      <a:latin typeface="Times New Roman" pitchFamily="18" charset="0"/>
                      <a:cs typeface="Times New Roman" pitchFamily="18" charset="0"/>
                    </a:rPr>
                    <a:t>atau </a:t>
                  </a:r>
                  <a14:m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,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yaitu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: </a:t>
                  </a: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1044714"/>
                  <a:ext cx="8153400" cy="707886"/>
                </a:xfrm>
                <a:prstGeom prst="rect">
                  <a:avLst/>
                </a:prstGeom>
                <a:blipFill>
                  <a:blip r:embed="rId3"/>
                  <a:stretch>
                    <a:fillRect l="-747" t="-4274" r="-673" b="-136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/>
            <p:cNvSpPr/>
            <p:nvPr/>
          </p:nvSpPr>
          <p:spPr>
            <a:xfrm>
              <a:off x="762000" y="3200400"/>
              <a:ext cx="7848600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/>
              <a:r>
                <a:rPr lang="en-US" sz="2000" dirty="0" err="1" smtClean="0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nol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baris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kolom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bujur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sangkar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</a:p>
            <a:p>
              <a:pPr algn="just"/>
              <a:r>
                <a:rPr lang="en-US" sz="2000" dirty="0" err="1" smtClean="0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skalar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Identitas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segitiga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atas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 smtClean="0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transpose,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Invers, Minor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,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Kofaktor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dari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matriks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dan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sz="2000" dirty="0" err="1">
                  <a:latin typeface="Times New Roman" pitchFamily="18" charset="0"/>
                  <a:cs typeface="Times New Roman" pitchFamily="18" charset="0"/>
                </a:rPr>
                <a:t>sebagainya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.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33400" y="2895600"/>
              <a:ext cx="325646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2. JENIS-JENIS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MATRIKS :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09600" y="4505244"/>
                  <a:ext cx="8382000" cy="17569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 algn="just"/>
                  <a:r>
                    <a:rPr lang="en-US" sz="2000" dirty="0" smtClean="0">
                      <a:latin typeface="Times New Roman" pitchFamily="18" charset="0"/>
                      <a:cs typeface="Times New Roman" pitchFamily="18" charset="0"/>
                    </a:rPr>
                    <a:t>Diberikan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dua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buah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matriks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𝐴</m:t>
                      </m:r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dan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𝐵</m:t>
                      </m:r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,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maka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berlaku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:</a:t>
                  </a:r>
                </a:p>
                <a:p>
                  <a:pPr lvl="0" algn="just"/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1.  </m:t>
                      </m:r>
                      <m:r>
                        <a:rPr lang="en-US" sz="2000" i="1">
                          <a:latin typeface="Cambria Math"/>
                        </a:rPr>
                        <m:t>𝐴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𝐵</m:t>
                      </m:r>
                      <m:r>
                        <a:rPr lang="en-US" sz="2000" i="1">
                          <a:latin typeface="Cambria Math"/>
                        </a:rPr>
                        <m:t>,</m:t>
                      </m:r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jika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ukuran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kedua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matriks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sama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atau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untuk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setiap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.</m:t>
                      </m:r>
                    </m:oMath>
                  </a14:m>
                  <a:endParaRPr lang="en-US" sz="20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 lvl="0" algn="just"/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2. </m:t>
                      </m:r>
                      <m:r>
                        <a:rPr lang="en-US" sz="2000" i="1">
                          <a:latin typeface="Cambria Math"/>
                        </a:rPr>
                        <m:t>𝐴</m:t>
                      </m:r>
                      <m:r>
                        <a:rPr lang="en-US" sz="2000" i="1">
                          <a:latin typeface="Cambria Math"/>
                        </a:rPr>
                        <m:t>±</m:t>
                      </m:r>
                      <m:r>
                        <a:rPr lang="en-US" sz="2000" i="1">
                          <a:latin typeface="Cambria Math"/>
                        </a:rPr>
                        <m:t>𝐵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𝐶</m:t>
                      </m:r>
                      <m:r>
                        <a:rPr lang="en-US" sz="2000" i="1">
                          <a:latin typeface="Cambria Math"/>
                        </a:rPr>
                        <m:t>,</m:t>
                      </m:r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jika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ukuran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kedua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matriks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sama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atau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untuk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setiap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±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.</m:t>
                      </m:r>
                    </m:oMath>
                  </a14:m>
                  <a:endParaRPr lang="en-US" sz="20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 lvl="0" algn="just"/>
                  <a14:m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3. </m:t>
                      </m:r>
                      <m:r>
                        <a:rPr lang="en-US" sz="2000" i="1">
                          <a:latin typeface="Cambria Math"/>
                        </a:rPr>
                        <m:t>𝐴𝐵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𝐶</m:t>
                      </m:r>
                      <m:r>
                        <a:rPr lang="en-US" sz="2000" i="1">
                          <a:latin typeface="Cambria Math"/>
                        </a:rPr>
                        <m:t>,</m:t>
                      </m:r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untuk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>
                      <a:latin typeface="Times New Roman" pitchFamily="18" charset="0"/>
                      <a:cs typeface="Times New Roman" pitchFamily="18" charset="0"/>
                    </a:rPr>
                    <a:t>setiap</a:t>
                  </a:r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𝑗𝑘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,</m:t>
                      </m:r>
                    </m:oMath>
                  </a14:m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err="1" smtClean="0">
                      <a:latin typeface="Times New Roman" pitchFamily="18" charset="0"/>
                      <a:cs typeface="Times New Roman" pitchFamily="18" charset="0"/>
                    </a:rPr>
                    <a:t>dengan</a:t>
                  </a:r>
                  <a:r>
                    <a:rPr lang="en-US" sz="2000" dirty="0" smtClean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</a:p>
                <a:p>
                  <a:pPr lvl="0" algn="just"/>
                  <a:r>
                    <a:rPr lang="en-US" sz="2000" dirty="0">
                      <a:latin typeface="Times New Roman" pitchFamily="18" charset="0"/>
                      <a:cs typeface="Times New Roman" pitchFamily="18" charset="0"/>
                    </a:rPr>
                    <a:t> </a:t>
                  </a:r>
                  <a:r>
                    <a:rPr lang="en-US" sz="2000" dirty="0" smtClean="0">
                      <a:latin typeface="Times New Roman" pitchFamily="18" charset="0"/>
                      <a:cs typeface="Times New Roman" pitchFamily="18" charset="0"/>
                    </a:rPr>
                    <a:t>             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𝑗𝑘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</a:rPr>
                            <m:t>𝑗</m:t>
                          </m:r>
                          <m:r>
                            <a:rPr lang="en-US" sz="20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𝑗𝑘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 .  .  . 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𝑖𝑛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𝑛𝑘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.</m:t>
                      </m:r>
                    </m:oMath>
                  </a14:m>
                  <a:endParaRPr lang="en-US" sz="20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" y="4505244"/>
                  <a:ext cx="8382000" cy="1756956"/>
                </a:xfrm>
                <a:prstGeom prst="rect">
                  <a:avLst/>
                </a:prstGeom>
                <a:blipFill>
                  <a:blip r:embed="rId4"/>
                  <a:stretch>
                    <a:fillRect l="-727" t="-1736" b="-385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/>
            <p:cNvSpPr/>
            <p:nvPr/>
          </p:nvSpPr>
          <p:spPr>
            <a:xfrm>
              <a:off x="533400" y="4171890"/>
              <a:ext cx="2703432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en-US" sz="2000" dirty="0" smtClean="0">
                  <a:latin typeface="Times New Roman" pitchFamily="18" charset="0"/>
                  <a:cs typeface="Times New Roman" pitchFamily="18" charset="0"/>
                </a:rPr>
                <a:t>3. OPERASI </a:t>
              </a:r>
              <a:r>
                <a:rPr lang="en-US" sz="2000" dirty="0">
                  <a:latin typeface="Times New Roman" pitchFamily="18" charset="0"/>
                  <a:cs typeface="Times New Roman" pitchFamily="18" charset="0"/>
                </a:rPr>
                <a:t>MATRIKS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0854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62000" y="1524000"/>
                <a:ext cx="7265752" cy="845937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id-ID" sz="2000" dirty="0" smtClean="0">
                    <a:latin typeface="Times New Roman" pitchFamily="18" charset="0"/>
                    <a:cs typeface="Times New Roman" pitchFamily="18" charset="0"/>
                  </a:rPr>
                  <a:t>dengan </a:t>
                </a:r>
                <a:r>
                  <a:rPr lang="id-ID" sz="2000" dirty="0">
                    <a:latin typeface="Times New Roman" pitchFamily="18" charset="0"/>
                    <a:cs typeface="Times New Roman" pitchFamily="18" charset="0"/>
                  </a:rPr>
                  <a:t>operasi baris elementer (OBE), yaitu pada matriks diperbesar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/>
                          </a:rPr>
                          <m:t>𝐴</m:t>
                        </m:r>
                        <m:r>
                          <a:rPr lang="id-ID" sz="2000" i="1">
                            <a:latin typeface="Cambria Math"/>
                          </a:rPr>
                          <m:t>|</m:t>
                        </m:r>
                        <m:r>
                          <a:rPr lang="id-ID" sz="20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id-ID" sz="2000" i="1">
                        <a:latin typeface="Cambria Math"/>
                      </a:rPr>
                      <m:t> </m:t>
                    </m:r>
                    <m:box>
                      <m:boxPr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id-ID" sz="2000" i="1">
                                <a:latin typeface="Cambria Math"/>
                              </a:rPr>
                              <m:t>𝑂𝐵𝐸</m:t>
                            </m:r>
                          </m:e>
                        </m:groupChr>
                      </m:e>
                    </m:box>
                    <m:d>
                      <m:dPr>
                        <m:begChr m:val="["/>
                        <m:endChr m:val="]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/>
                          </a:rPr>
                          <m:t>𝐼</m:t>
                        </m:r>
                        <m:r>
                          <a:rPr lang="id-ID" sz="2000" i="1">
                            <a:latin typeface="Cambria Math"/>
                          </a:rPr>
                          <m:t>|</m:t>
                        </m:r>
                        <m:sSup>
                          <m:sSupPr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sz="200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id-ID" sz="2000" i="1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r>
                  <a:rPr lang="id-ID" sz="2000" dirty="0">
                    <a:latin typeface="Times New Roman" pitchFamily="18" charset="0"/>
                    <a:cs typeface="Times New Roman" pitchFamily="18" charset="0"/>
                  </a:rPr>
                  <a:t> atau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d-ID" sz="2000" i="1">
                            <a:latin typeface="Cambria Math"/>
                          </a:rPr>
                          <m:t>𝐼</m:t>
                        </m:r>
                        <m:r>
                          <a:rPr lang="id-ID" sz="2000" i="1">
                            <a:latin typeface="Cambria Math"/>
                          </a:rPr>
                          <m:t>|</m:t>
                        </m:r>
                        <m:r>
                          <a:rPr lang="id-ID" sz="2000" i="1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id-ID" sz="2000" i="1">
                        <a:latin typeface="Cambria Math"/>
                      </a:rPr>
                      <m:t> </m:t>
                    </m:r>
                    <m:box>
                      <m:boxPr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groupChr>
                          <m:groupChrPr>
                            <m:chr m:val="↔"/>
                            <m:vertJc m:val="bot"/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id-ID" sz="2000" i="1">
                                <a:latin typeface="Cambria Math"/>
                              </a:rPr>
                              <m:t>𝑂𝐵𝐸</m:t>
                            </m:r>
                          </m:e>
                        </m:groupChr>
                      </m:e>
                    </m:box>
                    <m:d>
                      <m:dPr>
                        <m:begChr m:val="["/>
                        <m:endChr m:val="]"/>
                        <m:ctrlPr>
                          <a:rPr lang="id-ID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d-ID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d-ID" sz="2000" i="1">
                                <a:latin typeface="Cambria Math"/>
                              </a:rPr>
                              <m:t>𝐴</m:t>
                            </m:r>
                          </m:e>
                          <m:sup>
                            <m:r>
                              <a:rPr lang="id-ID" sz="2000" i="1">
                                <a:latin typeface="Cambria Math"/>
                              </a:rPr>
                              <m:t>−1</m:t>
                            </m:r>
                          </m:sup>
                        </m:sSup>
                        <m:r>
                          <a:rPr lang="id-ID" sz="2000" i="1">
                            <a:latin typeface="Cambria Math"/>
                          </a:rPr>
                          <m:t>|</m:t>
                        </m:r>
                        <m:r>
                          <a:rPr lang="id-ID" sz="2000" i="1">
                            <a:latin typeface="Cambria Math"/>
                          </a:rPr>
                          <m:t>𝐼</m:t>
                        </m:r>
                      </m:e>
                    </m:d>
                    <m:r>
                      <a:rPr lang="id-ID" sz="2000" i="1">
                        <a:latin typeface="Cambria Math"/>
                      </a:rPr>
                      <m:t>.</m:t>
                    </m:r>
                  </m:oMath>
                </a14:m>
                <a:r>
                  <a:rPr lang="id-ID" sz="2000" dirty="0">
                    <a:latin typeface="Times New Roman" pitchFamily="18" charset="0"/>
                    <a:cs typeface="Times New Roman" pitchFamily="18" charset="0"/>
                  </a:rPr>
                  <a:t>  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524000"/>
                <a:ext cx="7265752" cy="845937"/>
              </a:xfrm>
              <a:prstGeom prst="rect">
                <a:avLst/>
              </a:prstGeom>
              <a:blipFill>
                <a:blip r:embed="rId2"/>
                <a:stretch>
                  <a:fillRect l="-754" t="-2837" r="-754" b="-780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09600" y="-19110"/>
            <a:ext cx="678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4. OPERASI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BARIS ELEMENTER DAN INVERS MATRIKS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14983" y="304800"/>
                <a:ext cx="8124217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96975" lvl="0" indent="-1196975" algn="just"/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Definisi 2: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bujur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sangkar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non singular,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memiliki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invers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di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notasikan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selalu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memenuhi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𝐴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𝐴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𝐼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83" y="304800"/>
                <a:ext cx="8124217" cy="1015663"/>
              </a:xfrm>
              <a:prstGeom prst="rect">
                <a:avLst/>
              </a:prstGeom>
              <a:blipFill rotWithShape="1">
                <a:blip r:embed="rId3"/>
                <a:stretch>
                  <a:fillRect l="-750" t="-2994" r="-1575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23328" y="1200090"/>
                <a:ext cx="445827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Untuk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mendapatkan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invers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𝑨</m:t>
                    </m:r>
                    <m:r>
                      <a:rPr lang="en-US" sz="20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28" y="1200090"/>
                <a:ext cx="4458272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1505" t="-7576" r="-2052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10119" y="2362200"/>
                <a:ext cx="8129081" cy="906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d-ID" sz="2000" dirty="0" smtClean="0">
                    <a:latin typeface="Times New Roman" pitchFamily="18" charset="0"/>
                    <a:cs typeface="Times New Roman" pitchFamily="18" charset="0"/>
                  </a:rPr>
                  <a:t>Contoh: tentukan invers matriks dari: a) 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latin typeface="Cambria Math"/>
                        <a:cs typeface="Times New Roman" pitchFamily="18" charset="0"/>
                      </a:rPr>
                      <m:t>𝐴</m:t>
                    </m:r>
                    <m:r>
                      <a:rPr lang="id-ID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d-ID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id-ID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id-ID" sz="2000" dirty="0" smtClean="0">
                    <a:latin typeface="Times New Roman" pitchFamily="18" charset="0"/>
                    <a:cs typeface="Times New Roman" pitchFamily="18" charset="0"/>
                  </a:rPr>
                  <a:t>    b) 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latin typeface="Cambria Math"/>
                        <a:cs typeface="Times New Roman" pitchFamily="18" charset="0"/>
                      </a:rPr>
                      <m:t>𝐵</m:t>
                    </m:r>
                    <m:r>
                      <a:rPr lang="id-ID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id-ID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id-ID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id-ID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12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id-ID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19" y="2362200"/>
                <a:ext cx="8129081" cy="906145"/>
              </a:xfrm>
              <a:prstGeom prst="rect">
                <a:avLst/>
              </a:prstGeom>
              <a:blipFill>
                <a:blip r:embed="rId5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23329" y="3124200"/>
                <a:ext cx="6439472" cy="151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Jawab: a)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 b)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𝐵</m:t>
                        </m:r>
                      </m:e>
                      <m:sup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  <a:cs typeface="Times New Roman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11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−3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  <a:cs typeface="Times New Roman" pitchFamily="18" charset="0"/>
                                </a:rPr>
                                <m:t>−1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Times New Roman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  <a:cs typeface="Times New Roman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29" y="3124200"/>
                <a:ext cx="6439472" cy="1514517"/>
              </a:xfrm>
              <a:prstGeom prst="rect">
                <a:avLst/>
              </a:prstGeom>
              <a:blipFill rotWithShape="1">
                <a:blip r:embed="rId6"/>
                <a:stretch>
                  <a:fillRect l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706951" y="4343400"/>
            <a:ext cx="18838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DETERMINAN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648200"/>
            <a:ext cx="38738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PENGERTIAN DETERMINAN: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23328" y="4953000"/>
                <a:ext cx="8115871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Definisi 1: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Determinan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adalah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himpunan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elemen-elemen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berbentuk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persegi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diapit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kurung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en-US" sz="20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yaitu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: 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28" y="4953000"/>
                <a:ext cx="8115871" cy="707886"/>
              </a:xfrm>
              <a:prstGeom prst="rect">
                <a:avLst/>
              </a:prstGeom>
              <a:blipFill rotWithShape="1">
                <a:blip r:embed="rId7"/>
                <a:stretch>
                  <a:fillRect l="-826" t="-4310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530917" y="5453897"/>
                <a:ext cx="3098483" cy="12076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baseline="-25000">
                          <a:latin typeface="Cambria Math"/>
                        </a:rPr>
                        <m:t>𝐷</m:t>
                      </m:r>
                      <m:r>
                        <a:rPr lang="en-US" sz="2000" i="1" baseline="-2500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 baseline="-250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…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𝑛𝑛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917" y="5453897"/>
                <a:ext cx="3098483" cy="1207638"/>
              </a:xfrm>
              <a:prstGeom prst="rect">
                <a:avLst/>
              </a:prstGeom>
              <a:blipFill rotWithShape="1">
                <a:blip r:embed="rId8"/>
                <a:stretch>
                  <a:fillRect b="-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103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2" grpId="0"/>
      <p:bldP spid="13" grpId="0"/>
      <p:bldP spid="14" grpId="0"/>
      <p:bldP spid="16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73932" y="838200"/>
                <a:ext cx="7884268" cy="1359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254125" indent="-1254125" algn="just"/>
                <a:r>
                  <a:rPr lang="en-US" sz="2000" b="1" dirty="0" err="1" smtClean="0">
                    <a:latin typeface="Times New Roman" pitchFamily="18" charset="0"/>
                    <a:cs typeface="Times New Roman" pitchFamily="18" charset="0"/>
                  </a:rPr>
                  <a:t>Definisi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2: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determinan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𝐷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tingkat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sama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jumlah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hasil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ganda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elemen-elemen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sebuah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baris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kolom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kofaktor-kofaktor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bersesuaian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atau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𝛥</m:t>
                    </m:r>
                    <m:r>
                      <a:rPr lang="en-US" sz="20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/>
                          </a:rPr>
                          <m:t>𝑗</m:t>
                        </m:r>
                        <m:r>
                          <a:rPr lang="en-US" sz="20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𝐾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endParaRPr lang="en-US" sz="2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1254125" indent="-1254125"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                 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(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ekspansi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menurut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elemen-elemen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baris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ke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32" y="838200"/>
                <a:ext cx="7884268" cy="1359218"/>
              </a:xfrm>
              <a:prstGeom prst="rect">
                <a:avLst/>
              </a:prstGeom>
              <a:blipFill rotWithShape="1">
                <a:blip r:embed="rId2"/>
                <a:stretch>
                  <a:fillRect l="-773" t="-2252" r="-1546" b="-28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533400" y="-19110"/>
            <a:ext cx="29033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NILAI DETERMINAN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73932" y="228600"/>
            <a:ext cx="78842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62163" lvl="1" indent="-2062163" algn="just"/>
            <a:r>
              <a:rPr lang="en-US" sz="2000" b="1" dirty="0" err="1">
                <a:latin typeface="Times New Roman" pitchFamily="18" charset="0"/>
                <a:cs typeface="Times New Roman" pitchFamily="18" charset="0"/>
              </a:rPr>
              <a:t>Ekspansi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Laplace: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metoda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untuk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mencari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nilai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determinan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ekpansi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laplace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3932" y="2114490"/>
            <a:ext cx="359303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3. SIFAT-SIFAT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DETERMINAN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62720" y="5029200"/>
                <a:ext cx="7884268" cy="1323439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82575" lvl="0" indent="-282575" algn="just"/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4. </a:t>
                </a:r>
                <a:r>
                  <a:rPr lang="en-US" sz="2000" b="1" dirty="0" err="1" smtClean="0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sebuah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determinan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tidak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berubah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setelah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semua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elemen-elemen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sebuah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baris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kolom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digandakan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faktor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𝑘</m:t>
                    </m:r>
                    <m:r>
                      <a:rPr lang="en-US" sz="2000" i="1">
                        <a:latin typeface="Cambria Math"/>
                      </a:rPr>
                      <m:t>≠0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kemudian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ditambahkan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dikurangkan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elemen-elemen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yang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bersesuaian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baris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kolom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lainnya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20" y="5029200"/>
                <a:ext cx="7884268" cy="1323439"/>
              </a:xfrm>
              <a:prstGeom prst="rect">
                <a:avLst/>
              </a:prstGeom>
              <a:blipFill rotWithShape="1">
                <a:blip r:embed="rId3"/>
                <a:stretch>
                  <a:fillRect l="-695" t="-1826" r="-1622" b="-684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05814" y="2438400"/>
                <a:ext cx="2475293" cy="40011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lvl="0" algn="just"/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1.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sz="20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𝐷</m:t>
                    </m:r>
                    <m:r>
                      <a:rPr lang="en-US" sz="2000" i="1">
                        <a:latin typeface="Cambria Math"/>
                      </a:rPr>
                      <m:t>.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14" y="2438400"/>
                <a:ext cx="2475293" cy="400110"/>
              </a:xfrm>
              <a:prstGeom prst="rect">
                <a:avLst/>
              </a:prstGeom>
              <a:blipFill rotWithShape="1">
                <a:blip r:embed="rId4"/>
                <a:stretch>
                  <a:fillRect l="-2451" t="-5882" r="-3922" b="-2352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762720" y="2895600"/>
            <a:ext cx="7619280" cy="13234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Nilai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determinan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adalah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terdapat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33363" lvl="0"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a.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Suatu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kolom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semua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elemennya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masing-masing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bilangan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nol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457200" lvl="0" indent="-223838"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b.Terdapat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cukup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dua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kolom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elemen-elemen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yang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sesuai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sama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atau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sebanding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62000" y="4267200"/>
                <a:ext cx="7620000" cy="707886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marL="282575" lvl="0" indent="-282575"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3.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Nilai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determinan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akan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menjadi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kali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jika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salah</a:t>
                </a:r>
                <a:r>
                  <a:rPr lang="en-US" sz="20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b="1" dirty="0" err="1">
                    <a:latin typeface="Times New Roman" pitchFamily="18" charset="0"/>
                    <a:cs typeface="Times New Roman" pitchFamily="18" charset="0"/>
                  </a:rPr>
                  <a:t>satu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baris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/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kolom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semua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elemennya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dikali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faktor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𝑘</m:t>
                    </m:r>
                    <m:r>
                      <a:rPr lang="en-US" sz="2000" i="1">
                        <a:latin typeface="Cambria Math"/>
                      </a:rPr>
                      <m:t>≠0.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267200"/>
                <a:ext cx="7620000" cy="707886"/>
              </a:xfrm>
              <a:prstGeom prst="rect">
                <a:avLst/>
              </a:prstGeom>
              <a:blipFill rotWithShape="1">
                <a:blip r:embed="rId5"/>
                <a:stretch>
                  <a:fillRect l="-719" t="-3390" r="-1518" b="-1355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302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  <p:bldP spid="8" grpId="0"/>
      <p:bldP spid="9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9601" y="0"/>
            <a:ext cx="37337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SISTEM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PERSAMAAN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LINIER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85800" y="304800"/>
                <a:ext cx="692285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Pandang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buah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persamaan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linier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dengan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>
                    <a:latin typeface="Times New Roman" pitchFamily="18" charset="0"/>
                    <a:cs typeface="Times New Roman" pitchFamily="18" charset="0"/>
                  </a:rPr>
                  <a:t>anu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,   . ..  ,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 :</m:t>
                    </m:r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04800"/>
                <a:ext cx="6922851" cy="400110"/>
              </a:xfrm>
              <a:prstGeom prst="rect">
                <a:avLst/>
              </a:prstGeom>
              <a:blipFill rotWithShape="1">
                <a:blip r:embed="rId2"/>
                <a:stretch>
                  <a:fillRect l="-969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85800" y="713016"/>
                <a:ext cx="3741717" cy="1279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+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⋮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⋱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⋯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𝑛𝑛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713016"/>
                <a:ext cx="3741717" cy="1279004"/>
              </a:xfrm>
              <a:prstGeom prst="rect">
                <a:avLst/>
              </a:prstGeom>
              <a:blipFill>
                <a:blip r:embed="rId3"/>
                <a:stretch>
                  <a:fillRect r="-19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248368" y="739147"/>
                <a:ext cx="3493850" cy="1040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dengan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koefisien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h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en-US" sz="20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konstanta-konstanta (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diketahui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)</a:t>
                </a:r>
              </a:p>
              <a:p>
                <a:pPr algn="just"/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dan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koefisien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  <a:cs typeface="Times New Roman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0" smtClean="0">
                        <a:latin typeface="Cambria Math"/>
                        <a:cs typeface="Times New Roman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  <a:cs typeface="Times New Roman" pitchFamily="18" charset="0"/>
                      </a:rPr>
                      <m:t>dicari</m:t>
                    </m:r>
                  </m:oMath>
                </a14:m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)  </a:t>
                </a:r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368" y="739147"/>
                <a:ext cx="3493850" cy="1040349"/>
              </a:xfrm>
              <a:prstGeom prst="rect">
                <a:avLst/>
              </a:prstGeom>
              <a:blipFill>
                <a:blip r:embed="rId4"/>
                <a:stretch>
                  <a:fillRect l="-1920" t="-2924" b="-9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81842" y="1962090"/>
            <a:ext cx="8004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persamaan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linier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serentak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tersebut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jika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ditulis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dalam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bentuk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5800" y="2286000"/>
                <a:ext cx="4162486" cy="12743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11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21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i="1" dirty="0" smtClean="0">
                                              <a:latin typeface="Cambria Math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12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22</m:t>
                                        </m:r>
                                      </m:sub>
                                    </m:sSub>
                                  </m:e>
                                </m:m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i="1" dirty="0" smtClean="0">
                                              <a:latin typeface="Cambria Math"/>
                                            </a:rPr>
                                            <m:t>⋮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2000" i="1" dirty="0" smtClean="0">
                                              <a:latin typeface="Cambria Math"/>
                                            </a:rPr>
                                            <m:t>…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i="1" dirty="0" smtClean="0">
                                              <a:latin typeface="Cambria Math"/>
                                            </a:rPr>
                                            <m:t>…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000" i="1" dirty="0" smtClean="0">
                                                    <a:latin typeface="Cambria Math"/>
                                                  </a:rPr>
                                                  <m:t>⋱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r>
                                                  <a:rPr lang="en-US" sz="2000" i="1" dirty="0" smtClean="0">
                                                    <a:latin typeface="Cambria Math"/>
                                                  </a:rPr>
                                                  <m:t>…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sz="2000" i="1">
                                                  <a:latin typeface="Cambria Math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m>
                                            <m:mPr>
                                              <m:mcs>
                                                <m:mc>
                                                  <m:mcPr>
                                                    <m:count m:val="1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en-US" sz="200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m:rPr>
                                                    <m:brk m:alnAt="7"/>
                                                  </m:rPr>
                                                  <a:rPr lang="en-US" sz="2000" i="1" dirty="0" smtClean="0">
                                                    <a:latin typeface="Cambria Math"/>
                                                  </a:rPr>
                                                  <m:t>⋮</m:t>
                                                </m:r>
                                              </m:e>
                                            </m:mr>
                                            <m:m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i="1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>
                                                        <a:latin typeface="Cambria Math"/>
                                                      </a:rPr>
                                                      <m:t>𝑎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smtClean="0">
                                                        <a:latin typeface="Cambria Math"/>
                                                      </a:rPr>
                                                      <m:t>𝑛</m:t>
                                                    </m:r>
                                                    <m:r>
                                                      <a:rPr lang="en-US" sz="2000" i="1">
                                                        <a:latin typeface="Cambria Math"/>
                                                      </a:rPr>
                                                      <m:t>𝑛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 dirty="0">
                                        <a:latin typeface="Cambria Math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=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2000" i="1" dirty="0">
                                        <a:latin typeface="Cambria Math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286000"/>
                <a:ext cx="4162486" cy="1274388"/>
              </a:xfrm>
              <a:prstGeom prst="rect">
                <a:avLst/>
              </a:prstGeom>
              <a:blipFill rotWithShape="1">
                <a:blip r:embed="rId5"/>
                <a:stretch>
                  <a:fillRect r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>
            <a:off x="1959034" y="3516868"/>
            <a:ext cx="1" cy="369332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310503" y="3461281"/>
            <a:ext cx="1148849" cy="41718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66193" y="3854143"/>
                <a:ext cx="40677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𝐴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193" y="3854143"/>
                <a:ext cx="406778" cy="400110"/>
              </a:xfrm>
              <a:prstGeom prst="rect">
                <a:avLst/>
              </a:prstGeom>
              <a:blipFill rotWithShape="1">
                <a:blip r:embed="rId6"/>
                <a:stretch>
                  <a:fillRect t="-7576" r="-24242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>
            <a:off x="2967807" y="3450974"/>
            <a:ext cx="1068543" cy="50111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969913" y="3859157"/>
                <a:ext cx="4137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𝑋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913" y="3859157"/>
                <a:ext cx="413767" cy="400110"/>
              </a:xfrm>
              <a:prstGeom prst="rect">
                <a:avLst/>
              </a:prstGeom>
              <a:blipFill rotWithShape="1">
                <a:blip r:embed="rId7"/>
                <a:stretch>
                  <a:fillRect t="-7576" r="-2352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272378" y="3810000"/>
                <a:ext cx="6994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378" y="3810000"/>
                <a:ext cx="699422" cy="400110"/>
              </a:xfrm>
              <a:prstGeom prst="rect">
                <a:avLst/>
              </a:prstGeom>
              <a:blipFill rotWithShape="1">
                <a:blip r:embed="rId8"/>
                <a:stretch>
                  <a:fillRect t="-7576" r="-1217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685800" y="4114800"/>
            <a:ext cx="6096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persamaan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linier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diatas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akan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diselesaikan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" y="4515017"/>
            <a:ext cx="4192464" cy="4001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Penyelesaian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invers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83298" y="4944070"/>
                <a:ext cx="66081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err="1"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ika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mempunyai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invers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dari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:</a:t>
                </a:r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98" y="4944070"/>
                <a:ext cx="6608102" cy="369332"/>
              </a:xfrm>
              <a:prstGeom prst="rect">
                <a:avLst/>
              </a:prstGeom>
              <a:blipFill rotWithShape="1">
                <a:blip r:embed="rId9"/>
                <a:stretch>
                  <a:fillRect l="-73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29853" y="5272391"/>
                <a:ext cx="11888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𝐴𝑋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𝐻</m:t>
                      </m:r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53" y="5272391"/>
                <a:ext cx="1188876" cy="400110"/>
              </a:xfrm>
              <a:prstGeom prst="rect">
                <a:avLst/>
              </a:prstGeom>
              <a:blipFill rotWithShape="1">
                <a:blip r:embed="rId10"/>
                <a:stretch>
                  <a:fillRect t="-7576" r="-2564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873587" y="5272391"/>
                <a:ext cx="21964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↔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𝐴𝑋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587" y="5272391"/>
                <a:ext cx="2196426" cy="400110"/>
              </a:xfrm>
              <a:prstGeom prst="rect">
                <a:avLst/>
              </a:prstGeom>
              <a:blipFill rotWithShape="1">
                <a:blip r:embed="rId11"/>
                <a:stretch>
                  <a:fillRect t="-7576" r="-415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980076" y="5257800"/>
                <a:ext cx="17963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𝐼𝑋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076" y="5257800"/>
                <a:ext cx="1796376" cy="400110"/>
              </a:xfrm>
              <a:prstGeom prst="rect">
                <a:avLst/>
              </a:prstGeom>
              <a:blipFill rotWithShape="1">
                <a:blip r:embed="rId12"/>
                <a:stretch>
                  <a:fillRect t="-7692" r="-678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638800" y="5257800"/>
                <a:ext cx="16002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sz="2000" b="0" i="1" smtClean="0">
                          <a:latin typeface="Cambria Math"/>
                        </a:rPr>
                        <m:t>𝑋</m:t>
                      </m:r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2000" b="0" i="1" smtClean="0">
                          <a:latin typeface="Cambria Math"/>
                        </a:rPr>
                        <m:t>𝐻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5257800"/>
                <a:ext cx="1600200" cy="400110"/>
              </a:xfrm>
              <a:prstGeom prst="rect">
                <a:avLst/>
              </a:prstGeom>
              <a:blipFill rotWithShape="1">
                <a:blip r:embed="rId13"/>
                <a:stretch>
                  <a:fillRect t="-7692" r="-684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80328" y="5715000"/>
                <a:ext cx="242007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 err="1" smtClean="0">
                    <a:latin typeface="Times New Roman" pitchFamily="18" charset="0"/>
                    <a:cs typeface="Times New Roman" pitchFamily="18" charset="0"/>
                  </a:rPr>
                  <a:t>Jadi</a:t>
                </a:r>
                <a:r>
                  <a:rPr lang="en-US" sz="2000" b="1" dirty="0" smtClean="0">
                    <a:latin typeface="Times New Roman" pitchFamily="18" charset="0"/>
                    <a:cs typeface="Times New Roman" pitchFamily="18" charset="0"/>
                  </a:rPr>
                  <a:t>:   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/>
                      </a:rPr>
                      <m:t>𝑿</m:t>
                    </m:r>
                    <m:r>
                      <a:rPr lang="en-US" sz="2000" b="1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000" b="1" i="1">
                            <a:latin typeface="Cambria Math"/>
                          </a:rPr>
                          <m:t>−</m:t>
                        </m:r>
                        <m:r>
                          <a:rPr lang="en-US" sz="2000" b="1" i="1">
                            <a:latin typeface="Cambria Math"/>
                          </a:rPr>
                          <m:t>𝟏</m:t>
                        </m:r>
                      </m:sup>
                    </m:sSup>
                    <m:r>
                      <a:rPr lang="en-US" sz="2000" b="1" i="1">
                        <a:latin typeface="Cambria Math"/>
                      </a:rPr>
                      <m:t>𝑯</m:t>
                    </m:r>
                  </m:oMath>
                </a14:m>
                <a:endParaRPr lang="en-US" sz="20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328" y="5715000"/>
                <a:ext cx="2420072" cy="407099"/>
              </a:xfrm>
              <a:prstGeom prst="rect">
                <a:avLst/>
              </a:prstGeom>
              <a:blipFill rotWithShape="1">
                <a:blip r:embed="rId14"/>
                <a:stretch>
                  <a:fillRect l="-2519" t="-606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901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5" grpId="0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91799" y="-76200"/>
            <a:ext cx="4080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Contoh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Selesaikan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persamaan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8375" y="381000"/>
                <a:ext cx="1721425" cy="665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1.  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375" y="381000"/>
                <a:ext cx="1721425" cy="665695"/>
              </a:xfrm>
              <a:prstGeom prst="rect">
                <a:avLst/>
              </a:prstGeom>
              <a:blipFill rotWithShape="1">
                <a:blip r:embed="rId2"/>
                <a:stretch>
                  <a:fillRect r="-134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472822" y="220490"/>
                <a:ext cx="2632577" cy="107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=6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+3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=14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+4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+9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2822" y="220490"/>
                <a:ext cx="2632577" cy="1074910"/>
              </a:xfrm>
              <a:prstGeom prst="rect">
                <a:avLst/>
              </a:prstGeom>
              <a:blipFill rotWithShape="1">
                <a:blip r:embed="rId3"/>
                <a:stretch>
                  <a:fillRect l="-2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504396" y="1295400"/>
            <a:ext cx="1095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Jawab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1: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90105" y="1219200"/>
                <a:ext cx="2800895" cy="605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000" i="1">
                              <a:latin typeface="Cambria Math"/>
                            </a:rPr>
                            <m:t>𝐼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105" y="1219200"/>
                <a:ext cx="2800895" cy="605550"/>
              </a:xfrm>
              <a:prstGeom prst="rect">
                <a:avLst/>
              </a:prstGeom>
              <a:blipFill rotWithShape="1">
                <a:blip r:embed="rId4"/>
                <a:stretch>
                  <a:fillRect r="-3043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92365" y="1219200"/>
                <a:ext cx="808235" cy="505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2365" y="1219200"/>
                <a:ext cx="808235" cy="505844"/>
              </a:xfrm>
              <a:prstGeom prst="rect">
                <a:avLst/>
              </a:prstGeom>
              <a:blipFill rotWithShape="1">
                <a:blip r:embed="rId5"/>
                <a:stretch>
                  <a:fillRect r="-10526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648200" y="1219200"/>
                <a:ext cx="2308068" cy="605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219200"/>
                <a:ext cx="2308068" cy="605550"/>
              </a:xfrm>
              <a:prstGeom prst="rect">
                <a:avLst/>
              </a:prstGeom>
              <a:blipFill rotWithShape="1">
                <a:blip r:embed="rId6"/>
                <a:stretch>
                  <a:fillRect r="-3704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705600" y="990600"/>
                <a:ext cx="887487" cy="7194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</m:groupCh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990600"/>
                <a:ext cx="887487" cy="719492"/>
              </a:xfrm>
              <a:prstGeom prst="rect">
                <a:avLst/>
              </a:prstGeom>
              <a:blipFill rotWithShape="1">
                <a:blip r:embed="rId7"/>
                <a:stretch>
                  <a:fillRect r="-9589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447800" y="1905000"/>
                <a:ext cx="2689198" cy="783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905000"/>
                <a:ext cx="2689198" cy="783869"/>
              </a:xfrm>
              <a:prstGeom prst="rect">
                <a:avLst/>
              </a:prstGeom>
              <a:blipFill rotWithShape="1">
                <a:blip r:embed="rId8"/>
                <a:stretch>
                  <a:fillRect r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962400" y="1981200"/>
                <a:ext cx="808235" cy="505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1981200"/>
                <a:ext cx="808235" cy="505844"/>
              </a:xfrm>
              <a:prstGeom prst="rect">
                <a:avLst/>
              </a:prstGeom>
              <a:blipFill rotWithShape="1">
                <a:blip r:embed="rId9"/>
                <a:stretch>
                  <a:fillRect r="-10526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648200" y="1828800"/>
                <a:ext cx="2708177" cy="936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1828800"/>
                <a:ext cx="2708177" cy="936731"/>
              </a:xfrm>
              <a:prstGeom prst="rect">
                <a:avLst/>
              </a:prstGeom>
              <a:blipFill rotWithShape="1">
                <a:blip r:embed="rId10"/>
                <a:stretch>
                  <a:fillRect r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62800" y="2057400"/>
                <a:ext cx="137896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2057400"/>
                <a:ext cx="1378967" cy="400110"/>
              </a:xfrm>
              <a:prstGeom prst="rect">
                <a:avLst/>
              </a:prstGeom>
              <a:blipFill rotWithShape="1">
                <a:blip r:embed="rId11"/>
                <a:stretch>
                  <a:fillRect t="-124615" r="-6637" b="-18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93430" y="2667000"/>
                <a:ext cx="3154770" cy="936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type m:val="skw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−</m:t>
                                </m:r>
                                <m:f>
                                  <m:fPr>
                                    <m:type m:val="skw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latin typeface="Cambria Math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430" y="2667000"/>
                <a:ext cx="3154770" cy="936731"/>
              </a:xfrm>
              <a:prstGeom prst="rect">
                <a:avLst/>
              </a:prstGeom>
              <a:blipFill rotWithShape="1">
                <a:blip r:embed="rId12"/>
                <a:stretch>
                  <a:fillRect r="-1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343400" y="2819400"/>
                <a:ext cx="1678345" cy="6070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i="1">
                                    <a:latin typeface="Cambria Math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2819400"/>
                <a:ext cx="1678345" cy="607026"/>
              </a:xfrm>
              <a:prstGeom prst="rect">
                <a:avLst/>
              </a:prstGeom>
              <a:blipFill rotWithShape="1">
                <a:blip r:embed="rId13"/>
                <a:stretch>
                  <a:fillRect r="-5091" b="-10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637308" y="3611126"/>
            <a:ext cx="1115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Jawab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2: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588288" y="3497094"/>
                <a:ext cx="4993920" cy="559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u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ntuk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mencari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, bisa dengan </a:t>
                </a:r>
                <a:r>
                  <a:rPr lang="en-US" dirty="0" err="1" smtClean="0">
                    <a:latin typeface="Times New Roman" pitchFamily="18" charset="0"/>
                    <a:cs typeface="Times New Roman" pitchFamily="18" charset="0"/>
                  </a:rPr>
                  <a:t>rumus</a:t>
                </a:r>
                <a:r>
                  <a:rPr lang="en-US" dirty="0" smtClean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𝐴</m:t>
                            </m:r>
                          </m:e>
                        </m:d>
                      </m:den>
                    </m:f>
                  </m:oMath>
                </a14:m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288" y="3497094"/>
                <a:ext cx="4993920" cy="559897"/>
              </a:xfrm>
              <a:prstGeom prst="rect">
                <a:avLst/>
              </a:prstGeom>
              <a:blipFill rotWithShape="1">
                <a:blip r:embed="rId14"/>
                <a:stretch>
                  <a:fillRect l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400800" y="3352800"/>
                <a:ext cx="2072875" cy="824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b="0" i="1" smtClean="0">
                          <a:latin typeface="Cambria Math"/>
                        </a:rPr>
                        <m:t>𝐴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352800"/>
                <a:ext cx="2072875" cy="824906"/>
              </a:xfrm>
              <a:prstGeom prst="rect">
                <a:avLst/>
              </a:prstGeom>
              <a:blipFill rotWithShape="1">
                <a:blip r:embed="rId15"/>
                <a:stretch>
                  <a:fillRect r="-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1548692" y="3962400"/>
                <a:ext cx="6441315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18+3+4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2+12+9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=25−23=2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692" y="3962400"/>
                <a:ext cx="6441315" cy="824906"/>
              </a:xfrm>
              <a:prstGeom prst="rect">
                <a:avLst/>
              </a:prstGeom>
              <a:blipFill rotWithShape="1">
                <a:blip r:embed="rId16"/>
                <a:stretch>
                  <a:fillRect r="-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63725" y="4876800"/>
                <a:ext cx="3627275" cy="1394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𝐾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  <m:m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25" y="4876800"/>
                <a:ext cx="3627275" cy="1394997"/>
              </a:xfrm>
              <a:prstGeom prst="rect">
                <a:avLst/>
              </a:prstGeom>
              <a:blipFill rotWithShape="1">
                <a:blip r:embed="rId17"/>
                <a:stretch>
                  <a:fillRect r="-1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/>
          <p:cNvCxnSpPr/>
          <p:nvPr/>
        </p:nvCxnSpPr>
        <p:spPr>
          <a:xfrm flipV="1">
            <a:off x="4085247" y="5031265"/>
            <a:ext cx="369283" cy="17299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382311" y="4495800"/>
                <a:ext cx="2111475" cy="7419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𝐾</m:t>
                      </m:r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2311" y="4495800"/>
                <a:ext cx="2111475" cy="741934"/>
              </a:xfrm>
              <a:prstGeom prst="rect">
                <a:avLst/>
              </a:prstGeom>
              <a:blipFill rotWithShape="1">
                <a:blip r:embed="rId18"/>
                <a:stretch>
                  <a:fillRect r="-1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6397118" y="4492498"/>
                <a:ext cx="2391937" cy="7485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latin typeface="Cambria Math"/>
                              <a:ea typeface="Cambria Math"/>
                            </a:rPr>
                            <m:t>→</m:t>
                          </m:r>
                          <m:r>
                            <a:rPr lang="en-US" sz="1600" b="0" i="1" smtClean="0">
                              <a:latin typeface="Cambria Math"/>
                            </a:rPr>
                            <m:t>𝐾</m:t>
                          </m:r>
                        </m:e>
                        <m:sup>
                          <m:r>
                            <a:rPr lang="en-US" sz="1600" b="0" i="1" smtClean="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6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6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−3</m:t>
                                </m:r>
                              </m:e>
                              <m:e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7118" y="4492498"/>
                <a:ext cx="2391937" cy="748538"/>
              </a:xfrm>
              <a:prstGeom prst="rect">
                <a:avLst/>
              </a:prstGeom>
              <a:blipFill rotWithShape="1">
                <a:blip r:embed="rId19"/>
                <a:stretch>
                  <a:fillRect r="-17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4290076" y="5334000"/>
                <a:ext cx="4383316" cy="9736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dirty="0" err="1" smtClean="0">
                    <a:latin typeface="Times New Roman" pitchFamily="18" charset="0"/>
                    <a:cs typeface="Times New Roman" pitchFamily="18" charset="0"/>
                  </a:rPr>
                  <a:t>maka</a:t>
                </a:r>
                <a:r>
                  <a:rPr lang="en-US" sz="1600" dirty="0" smtClean="0">
                    <a:latin typeface="Times New Roman" pitchFamily="18" charset="0"/>
                    <a:cs typeface="Times New Roman" pitchFamily="18" charset="0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>
                            <a:latin typeface="Cambria Math"/>
                          </a:rPr>
                          <m:t>𝐴</m:t>
                        </m:r>
                      </m:e>
                      <m:sup>
                        <m:r>
                          <a:rPr lang="en-US" sz="16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16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600" i="1">
                                      <a:latin typeface="Cambria Math"/>
                                    </a:rPr>
                                    <m:t>6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−5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−6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8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US" sz="1600" i="1"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num>
                      <m:den>
                        <m:r>
                          <a:rPr lang="en-US" sz="1600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US" sz="1600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16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sz="16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076" y="5334000"/>
                <a:ext cx="4383316" cy="973600"/>
              </a:xfrm>
              <a:prstGeom prst="rect">
                <a:avLst/>
              </a:prstGeom>
              <a:blipFill rotWithShape="1">
                <a:blip r:embed="rId20"/>
                <a:stretch>
                  <a:fillRect l="-834" r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69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4" grpId="0"/>
      <p:bldP spid="25" grpId="0"/>
      <p:bldP spid="26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4800" y="136018"/>
                <a:ext cx="4251933" cy="10831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jadi: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−3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−</m:t>
                              </m:r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type m:val="skw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14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36018"/>
                <a:ext cx="4251933" cy="1083182"/>
              </a:xfrm>
              <a:prstGeom prst="rect">
                <a:avLst/>
              </a:prstGeom>
              <a:blipFill rotWithShape="1">
                <a:blip r:embed="rId2"/>
                <a:stretch>
                  <a:fillRect l="-1435" r="-2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267200" y="225376"/>
                <a:ext cx="3279937" cy="9176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8−35+18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−18+56−36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6−21+18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25376"/>
                <a:ext cx="3279937" cy="917624"/>
              </a:xfrm>
              <a:prstGeom prst="rect">
                <a:avLst/>
              </a:prstGeom>
              <a:blipFill rotWithShape="1">
                <a:blip r:embed="rId3"/>
                <a:stretch>
                  <a:fillRect l="-1859" r="-2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7315200" y="253172"/>
                <a:ext cx="1761508" cy="9062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→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sz="2000" b="0" i="0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53172"/>
                <a:ext cx="1761508" cy="906210"/>
              </a:xfrm>
              <a:prstGeom prst="rect">
                <a:avLst/>
              </a:prstGeom>
              <a:blipFill rotWithShape="1">
                <a:blip r:embed="rId4"/>
                <a:stretch>
                  <a:fillRect l="-3460" r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31045" y="1219200"/>
            <a:ext cx="6603155" cy="4001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Penyelesaian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augmented/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diperbesar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94613" y="1600200"/>
                <a:ext cx="602998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Caranya, yaitu </a:t>
                </a:r>
                <a:r>
                  <a:rPr lang="en-US" sz="2000" dirty="0">
                    <a:latin typeface="Times New Roman" pitchFamily="18" charset="0"/>
                    <a:cs typeface="Times New Roman" pitchFamily="18" charset="0"/>
                  </a:rPr>
                  <a:t>m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atriks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latin typeface="Cambria Math"/>
                      </a:rPr>
                      <m:t>𝐴</m:t>
                    </m:r>
                    <m:r>
                      <a:rPr lang="en-US" sz="20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pada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n-US" sz="2000" dirty="0" err="1" smtClean="0">
                    <a:latin typeface="Times New Roman" pitchFamily="18" charset="0"/>
                    <a:cs typeface="Times New Roman" pitchFamily="18" charset="0"/>
                  </a:rPr>
                  <a:t>matriks</a:t>
                </a:r>
                <a:r>
                  <a:rPr lang="en-US" sz="2000" dirty="0" smtClean="0">
                    <a:latin typeface="Times New Roman" pitchFamily="18" charset="0"/>
                    <a:cs typeface="Times New Roman" pitchFamily="18" charset="0"/>
                  </a:rPr>
                  <a:t> diperbesar: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l-GR" sz="2000" i="1" smtClean="0">
                            <a:latin typeface="Cambria Math"/>
                            <a:ea typeface="Cambria Math"/>
                          </a:rPr>
                          <m:t>Ι</m:t>
                        </m:r>
                        <m:r>
                          <a:rPr lang="en-US" sz="2000" b="0" i="1" smtClean="0">
                            <a:latin typeface="Cambria Math"/>
                            <a:ea typeface="Cambria Math"/>
                          </a:rPr>
                          <m:t>𝐻</m:t>
                        </m:r>
                      </m:e>
                    </m:d>
                  </m:oMath>
                </a14:m>
                <a:endParaRPr lang="en-US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13" y="1600200"/>
                <a:ext cx="6029987" cy="400110"/>
              </a:xfrm>
              <a:prstGeom prst="rect">
                <a:avLst/>
              </a:prstGeom>
              <a:blipFill rotWithShape="1">
                <a:blip r:embed="rId5"/>
                <a:stretch>
                  <a:fillRect l="-1010" t="-7692" r="-1111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6158097" y="1600200"/>
            <a:ext cx="26368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dengan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OBE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dijadikan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71800" y="2000310"/>
            <a:ext cx="2514600" cy="4001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matriks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segitiga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atas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Bent-Up Arrow 14"/>
          <p:cNvSpPr/>
          <p:nvPr/>
        </p:nvSpPr>
        <p:spPr>
          <a:xfrm rot="5400000">
            <a:off x="2703085" y="2007852"/>
            <a:ext cx="270729" cy="1143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23295" y="2647890"/>
            <a:ext cx="42334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Contoh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Selesaikan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persamaan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4419600" y="2534705"/>
                <a:ext cx="1721425" cy="665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1.  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2534705"/>
                <a:ext cx="1721425" cy="665695"/>
              </a:xfrm>
              <a:prstGeom prst="rect">
                <a:avLst/>
              </a:prstGeom>
              <a:blipFill rotWithShape="1">
                <a:blip r:embed="rId6"/>
                <a:stretch>
                  <a:fillRect r="-13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172200" y="2331093"/>
                <a:ext cx="2542536" cy="1074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 smtClean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=6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+2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+3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=14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+4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+9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=36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331093"/>
                <a:ext cx="2542536" cy="1074910"/>
              </a:xfrm>
              <a:prstGeom prst="rect">
                <a:avLst/>
              </a:prstGeom>
              <a:blipFill rotWithShape="1">
                <a:blip r:embed="rId7"/>
                <a:stretch>
                  <a:fillRect l="-2638" r="-3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81000" y="3352800"/>
            <a:ext cx="121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Jawab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 1: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447800" y="3282701"/>
                <a:ext cx="2672655" cy="603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b="0" i="1" smtClean="0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3282701"/>
                <a:ext cx="2672655" cy="603499"/>
              </a:xfrm>
              <a:prstGeom prst="rect">
                <a:avLst/>
              </a:prstGeom>
              <a:blipFill rotWithShape="1">
                <a:blip r:embed="rId8"/>
                <a:stretch>
                  <a:fillRect r="-31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962400" y="3304156"/>
                <a:ext cx="808235" cy="5058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3304156"/>
                <a:ext cx="808235" cy="505844"/>
              </a:xfrm>
              <a:prstGeom prst="rect">
                <a:avLst/>
              </a:prstGeom>
              <a:blipFill rotWithShape="1">
                <a:blip r:embed="rId9"/>
                <a:stretch>
                  <a:fillRect r="-10526" b="-20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648200" y="3352800"/>
                <a:ext cx="1908921" cy="605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−6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200" y="3352800"/>
                <a:ext cx="1908921" cy="605550"/>
              </a:xfrm>
              <a:prstGeom prst="rect">
                <a:avLst/>
              </a:prstGeom>
              <a:blipFill rotWithShape="1">
                <a:blip r:embed="rId10"/>
                <a:stretch>
                  <a:fillRect r="-4473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1556445" y="3886200"/>
            <a:ext cx="2710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Dari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ke-2,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070818" y="3886200"/>
                <a:ext cx="179658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0</m:t>
                      </m:r>
                      <m:r>
                        <a:rPr lang="en-US" sz="2000" b="0" i="1" smtClean="0">
                          <a:latin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</a:rPr>
                        <m:t>−2</m:t>
                      </m:r>
                      <m:r>
                        <a:rPr lang="en-US" sz="2000" b="0" i="1" smtClean="0">
                          <a:latin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</a:rPr>
                        <m:t>=−6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818" y="3886200"/>
                <a:ext cx="1796582" cy="400110"/>
              </a:xfrm>
              <a:prstGeom prst="rect">
                <a:avLst/>
              </a:prstGeom>
              <a:blipFill rotWithShape="1">
                <a:blip r:embed="rId11"/>
                <a:stretch>
                  <a:fillRect t="-7692" r="-4407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03453" y="3886200"/>
                <a:ext cx="11545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453" y="3886200"/>
                <a:ext cx="1154547" cy="400110"/>
              </a:xfrm>
              <a:prstGeom prst="rect">
                <a:avLst/>
              </a:prstGeom>
              <a:blipFill rotWithShape="1">
                <a:blip r:embed="rId12"/>
                <a:stretch>
                  <a:fillRect t="-7692" r="-7937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1524000" y="4191000"/>
            <a:ext cx="3049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ke-1,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4415578" y="4191000"/>
                <a:ext cx="16042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</a:rPr>
                        <m:t>1</m:t>
                      </m:r>
                      <m:r>
                        <a:rPr lang="en-US" sz="2000" b="0" i="1" smtClean="0">
                          <a:latin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</a:rPr>
                        <m:t>+1</m:t>
                      </m:r>
                      <m:r>
                        <a:rPr lang="en-US" sz="2000" b="0" i="1" smtClean="0">
                          <a:latin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</a:rPr>
                        <m:t>=4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578" y="4191000"/>
                <a:ext cx="1604222" cy="400110"/>
              </a:xfrm>
              <a:prstGeom prst="rect">
                <a:avLst/>
              </a:prstGeom>
              <a:blipFill rotWithShape="1">
                <a:blip r:embed="rId13"/>
                <a:stretch>
                  <a:fillRect t="-7692" r="-5303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847798" y="4191000"/>
                <a:ext cx="161980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sz="2000" b="0" i="1" smtClean="0">
                          <a:latin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</a:rPr>
                        <m:t>+3=4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7798" y="4191000"/>
                <a:ext cx="1619802" cy="400110"/>
              </a:xfrm>
              <a:prstGeom prst="rect">
                <a:avLst/>
              </a:prstGeom>
              <a:blipFill rotWithShape="1">
                <a:blip r:embed="rId14"/>
                <a:stretch>
                  <a:fillRect t="-7692" r="-5639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308270" y="4191000"/>
                <a:ext cx="1149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8270" y="4191000"/>
                <a:ext cx="1149930" cy="400110"/>
              </a:xfrm>
              <a:prstGeom prst="rect">
                <a:avLst/>
              </a:prstGeom>
              <a:blipFill rotWithShape="1">
                <a:blip r:embed="rId15"/>
                <a:stretch>
                  <a:fillRect t="-7692" r="-7407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381000" y="4800600"/>
            <a:ext cx="11484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Jawab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2: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1371600" y="4580190"/>
                <a:ext cx="2893677" cy="906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b="0" i="1" smtClean="0">
                              <a:latin typeface="Cambria Math"/>
                            </a:rPr>
                            <m:t>H</m:t>
                          </m:r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580190"/>
                <a:ext cx="2893677" cy="906210"/>
              </a:xfrm>
              <a:prstGeom prst="rect">
                <a:avLst/>
              </a:prstGeom>
              <a:blipFill rotWithShape="1">
                <a:blip r:embed="rId16"/>
                <a:stretch>
                  <a:fillRect r="-2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038600" y="4724400"/>
                <a:ext cx="619400" cy="5216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groupCh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724400"/>
                <a:ext cx="619400" cy="521618"/>
              </a:xfrm>
              <a:prstGeom prst="rect">
                <a:avLst/>
              </a:prstGeom>
              <a:blipFill rotWithShape="1">
                <a:blip r:embed="rId17"/>
                <a:stretch>
                  <a:fillRect r="-6931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495800" y="4627123"/>
                <a:ext cx="2129942" cy="906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4627123"/>
                <a:ext cx="2129942" cy="906210"/>
              </a:xfrm>
              <a:prstGeom prst="rect">
                <a:avLst/>
              </a:prstGeom>
              <a:blipFill rotWithShape="1">
                <a:blip r:embed="rId18"/>
                <a:stretch>
                  <a:fillRect r="-40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400800" y="4800600"/>
                <a:ext cx="842538" cy="4644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groupChr>
                        <m:groupChrPr>
                          <m:chr m:val="↔"/>
                          <m:vertJc m:val="bot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brk m:alnAt="2"/>
                            </m:rPr>
                            <a:rPr lang="en-US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4800600"/>
                <a:ext cx="842538" cy="464486"/>
              </a:xfrm>
              <a:prstGeom prst="rect">
                <a:avLst/>
              </a:prstGeom>
              <a:blipFill rotWithShape="1">
                <a:blip r:embed="rId19"/>
                <a:stretch>
                  <a:fillRect r="-8696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080525" y="4656390"/>
                <a:ext cx="1987275" cy="9062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525" y="4656390"/>
                <a:ext cx="1987275" cy="906210"/>
              </a:xfrm>
              <a:prstGeom prst="rect">
                <a:avLst/>
              </a:prstGeom>
              <a:blipFill rotWithShape="1">
                <a:blip r:embed="rId20"/>
                <a:stretch>
                  <a:fillRect r="-3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1495396" y="5486400"/>
            <a:ext cx="2733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Dari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ke-3,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038600" y="5498068"/>
                <a:ext cx="9115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2</m:t>
                      </m:r>
                      <m:r>
                        <a:rPr lang="en-US" b="0" i="1" smtClean="0">
                          <a:latin typeface="Cambria Math"/>
                        </a:rPr>
                        <m:t>𝑧</m:t>
                      </m:r>
                      <m:r>
                        <a:rPr lang="en-US" b="0" i="1" smtClean="0"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5498068"/>
                <a:ext cx="911596" cy="369332"/>
              </a:xfrm>
              <a:prstGeom prst="rect">
                <a:avLst/>
              </a:prstGeom>
              <a:blipFill rotWithShape="1">
                <a:blip r:embed="rId21"/>
                <a:stretch>
                  <a:fillRect t="-8197" r="-872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800600" y="5486400"/>
                <a:ext cx="11337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𝑧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=3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5486400"/>
                <a:ext cx="1133708" cy="400110"/>
              </a:xfrm>
              <a:prstGeom prst="rect">
                <a:avLst/>
              </a:prstGeom>
              <a:blipFill rotWithShape="1">
                <a:blip r:embed="rId22"/>
                <a:stretch>
                  <a:fillRect t="-7576" r="-810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/>
          <p:cNvSpPr txBox="1"/>
          <p:nvPr/>
        </p:nvSpPr>
        <p:spPr>
          <a:xfrm>
            <a:off x="1500260" y="5776263"/>
            <a:ext cx="2737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Dari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ke-2,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106638" y="5791200"/>
                <a:ext cx="13035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</a:rPr>
                      <m:t>+2</m:t>
                    </m:r>
                    <m:r>
                      <a:rPr lang="en-US" sz="2000" b="0" i="1" smtClean="0">
                        <a:latin typeface="Cambria Math"/>
                      </a:rPr>
                      <m:t>𝑧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US" sz="2000" dirty="0" smtClean="0"/>
                  <a:t>8</a:t>
                </a:r>
                <a:endParaRPr lang="en-US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638" y="5791200"/>
                <a:ext cx="1303562" cy="400110"/>
              </a:xfrm>
              <a:prstGeom prst="rect">
                <a:avLst/>
              </a:prstGeom>
              <a:blipFill rotWithShape="1">
                <a:blip r:embed="rId23"/>
                <a:stretch>
                  <a:fillRect t="-7576" r="-841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5299150" y="5791200"/>
                <a:ext cx="148265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en-US" sz="2000" b="0" i="1" smtClean="0">
                        <a:latin typeface="Cambria Math"/>
                      </a:rPr>
                      <m:t>+6=</m:t>
                    </m:r>
                  </m:oMath>
                </a14:m>
                <a:r>
                  <a:rPr lang="en-US" sz="2000" dirty="0" smtClean="0"/>
                  <a:t>8</a:t>
                </a:r>
                <a:endParaRPr lang="en-US" sz="20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150" y="5791200"/>
                <a:ext cx="1482650" cy="400110"/>
              </a:xfrm>
              <a:prstGeom prst="rect">
                <a:avLst/>
              </a:prstGeom>
              <a:blipFill rotWithShape="1">
                <a:blip r:embed="rId24"/>
                <a:stretch>
                  <a:fillRect t="-7576" r="-737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6617853" y="5772090"/>
                <a:ext cx="115454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7853" y="5772090"/>
                <a:ext cx="1154547" cy="400110"/>
              </a:xfrm>
              <a:prstGeom prst="rect">
                <a:avLst/>
              </a:prstGeom>
              <a:blipFill rotWithShape="1">
                <a:blip r:embed="rId25"/>
                <a:stretch>
                  <a:fillRect t="-7576" r="-793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1522767" y="6076890"/>
            <a:ext cx="30492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dari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baris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ke-1,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didapat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441448" y="6076890"/>
                <a:ext cx="17530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𝑦</m:t>
                      </m:r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r>
                        <a:rPr lang="en-US" sz="2000" b="0" i="1" smtClean="0">
                          <a:latin typeface="Cambria Math"/>
                        </a:rPr>
                        <m:t>𝑧</m:t>
                      </m:r>
                      <m:r>
                        <a:rPr lang="en-US" sz="2000" b="0" i="1" smtClean="0">
                          <a:latin typeface="Cambria Math"/>
                        </a:rPr>
                        <m:t>=6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448" y="6076890"/>
                <a:ext cx="1753044" cy="400110"/>
              </a:xfrm>
              <a:prstGeom prst="rect">
                <a:avLst/>
              </a:prstGeom>
              <a:blipFill rotWithShape="1">
                <a:blip r:embed="rId26"/>
                <a:stretch>
                  <a:fillRect t="-7576" r="-487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019800" y="6076890"/>
                <a:ext cx="20688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+2+3=6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6076890"/>
                <a:ext cx="2068836" cy="400110"/>
              </a:xfrm>
              <a:prstGeom prst="rect">
                <a:avLst/>
              </a:prstGeom>
              <a:blipFill rotWithShape="1">
                <a:blip r:embed="rId27"/>
                <a:stretch>
                  <a:fillRect t="-7576" r="-4130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848600" y="6076890"/>
                <a:ext cx="1149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0" y="6076890"/>
                <a:ext cx="1149930" cy="400110"/>
              </a:xfrm>
              <a:prstGeom prst="rect">
                <a:avLst/>
              </a:prstGeom>
              <a:blipFill rotWithShape="1">
                <a:blip r:embed="rId28"/>
                <a:stretch>
                  <a:fillRect t="-7576" r="-797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1921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7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animBg="1"/>
      <p:bldP spid="11" grpId="0"/>
      <p:bldP spid="12" grpId="0"/>
      <p:bldP spid="13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575</Words>
  <Application>Microsoft Office PowerPoint</Application>
  <PresentationFormat>On-screen Show (4:3)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Amanda</cp:lastModifiedBy>
  <cp:revision>34</cp:revision>
  <dcterms:created xsi:type="dcterms:W3CDTF">2015-01-22T00:41:13Z</dcterms:created>
  <dcterms:modified xsi:type="dcterms:W3CDTF">2020-10-05T15:34:47Z</dcterms:modified>
</cp:coreProperties>
</file>