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2" r:id="rId3"/>
    <p:sldId id="263" r:id="rId4"/>
    <p:sldId id="264" r:id="rId5"/>
    <p:sldId id="260" r:id="rId6"/>
    <p:sldId id="257" r:id="rId7"/>
    <p:sldId id="258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7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03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4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6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2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8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98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7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92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4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96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CE1DA-E0F9-4B2E-9BAF-9B67B52D4E44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6B00D-940E-4D3B-AB08-D31D37F5E4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2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9.png"/><Relationship Id="rId7" Type="http://schemas.openxmlformats.org/officeDocument/2006/relationships/image" Target="../media/image70.png"/><Relationship Id="rId12" Type="http://schemas.openxmlformats.org/officeDocument/2006/relationships/image" Target="../media/image3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33.png"/><Relationship Id="rId5" Type="http://schemas.openxmlformats.org/officeDocument/2006/relationships/image" Target="../media/image50.png"/><Relationship Id="rId10" Type="http://schemas.openxmlformats.org/officeDocument/2006/relationships/image" Target="../media/image101.png"/><Relationship Id="rId4" Type="http://schemas.openxmlformats.org/officeDocument/2006/relationships/image" Target="../media/image32.png"/><Relationship Id="rId9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0.png"/><Relationship Id="rId10" Type="http://schemas.openxmlformats.org/officeDocument/2006/relationships/image" Target="../media/image130.png"/><Relationship Id="rId9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34406" y="222593"/>
            <a:ext cx="2614819" cy="4053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d-ID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KONTRAK KULIAH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74107" y="627960"/>
            <a:ext cx="3350404" cy="6521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KALKULUS 1 </a:t>
            </a: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(KELAS 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112)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sz="16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KODE MATA KULIAH: SM224101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4197" y="1271919"/>
            <a:ext cx="7374393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JADWAL KULIAH: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HARI/JAM/RUANG: 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SENIN </a:t>
            </a: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 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RABU </a:t>
            </a: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 07.00 - 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08.40 / TW1-706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09065" y="2645179"/>
            <a:ext cx="7563396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MATERI: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Bilangan Real, Sistem Bilangan  Kompleks, Matriks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Determinan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Persamaan Linier, Nilai Eigen dan Vektor Eigen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id-ID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Fungsi, Diferensial, Aplikasi Diferensial dan Integral </a:t>
            </a:r>
            <a:r>
              <a:rPr lang="id-ID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Turunan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0" y="3970702"/>
            <a:ext cx="3840480" cy="288729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83770" y="3626602"/>
            <a:ext cx="6348550" cy="1574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EVALUASI: Evaluasi 1 (Tugas-tugas dan Absensi) = 20%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Evaluasi 2 (Quiz 1) = 15%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Evaluasi 3 (Quiz 2) = 15%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Evaluasi 4 (ETS) = 25%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Evaluasi 5 (EAS) = 25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id-ID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7740" y="2114040"/>
            <a:ext cx="7969060" cy="374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id-ID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DOSEN PENGAMPU: Drs. Iis Herisman, M.Sc (HP: 081553489173</a:t>
            </a:r>
            <a:r>
              <a:rPr lang="id-ID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                                      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55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9094" y="1113028"/>
            <a:ext cx="8678152" cy="3043645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sv-SE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Bilangan </a:t>
            </a:r>
            <a:r>
              <a:rPr lang="sv-SE" sz="2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/>
              <p:cNvSpPr/>
              <p:nvPr/>
            </p:nvSpPr>
            <p:spPr>
              <a:xfrm>
                <a:off x="5933855" y="1270650"/>
                <a:ext cx="2931410" cy="2270261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id-ID" sz="22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id-ID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Irasional:</a:t>
                </a: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id-ID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id-ID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fName>
                      <m:e>
                        <m:sSup>
                          <m:sSupPr>
                            <m:ctrlPr>
                              <a:rPr lang="id-ID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id-ID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e>
                    </m:func>
                  </m:oMath>
                </a14:m>
                <a:r>
                  <a:rPr lang="id-ID" sz="22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;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d-ID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id-ID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id-ID" sz="22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d-ID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id-ID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e>
                    </m:rad>
                    <m:r>
                      <a:rPr lang="id-ID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; </m:t>
                    </m:r>
                    <m:r>
                      <a:rPr lang="id-ID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id-ID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; </m:t>
                    </m:r>
                  </m:oMath>
                </a14:m>
                <a:endParaRPr lang="id-ID" sz="2200" b="0" i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id-ID" sz="2200" dirty="0"/>
                  <a:t>0.102003000400005...</a:t>
                </a:r>
                <a:endParaRPr lang="id-ID" sz="22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ounded 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855" y="1270650"/>
                <a:ext cx="2931410" cy="227026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457199" y="1270649"/>
                <a:ext cx="5476656" cy="2270262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id-ID" sz="2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id-ID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Rasional </a:t>
                </a:r>
                <a:r>
                  <a:rPr lang="id-ID" sz="22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𝐐</m:t>
                    </m:r>
                    <m:r>
                      <a:rPr lang="id-ID" sz="2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den>
                        </m:f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\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≠0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1270649"/>
                <a:ext cx="5476656" cy="227026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467" y="2031869"/>
                <a:ext cx="5003127" cy="1396575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id-ID" sz="22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Bilangan</a:t>
                </a:r>
                <a:r>
                  <a:rPr lang="id-ID" sz="2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Bulat </a:t>
                </a:r>
                <a:r>
                  <a:rPr lang="id-ID" sz="2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id-ID" sz="22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d-ID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…,−2,−1,0,1,2,…</m:t>
                        </m:r>
                      </m:e>
                    </m:d>
                  </m:oMath>
                </a14:m>
                <a:endParaRPr lang="id-ID" sz="2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467" y="2031869"/>
                <a:ext cx="5003127" cy="13965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930729" y="2629910"/>
            <a:ext cx="3954780" cy="679269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Bilangan Asli </a:t>
            </a:r>
            <a:r>
              <a:rPr lang="sv-SE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{1, 2, 3, . . .}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1670" y="199826"/>
            <a:ext cx="4036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BAB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Sistem Bilangan Real  </a:t>
            </a:r>
            <a:endParaRPr lang="id-ID" sz="2400" dirty="0"/>
          </a:p>
        </p:txBody>
      </p:sp>
      <p:sp>
        <p:nvSpPr>
          <p:cNvPr id="11" name="Rectangle 10"/>
          <p:cNvSpPr/>
          <p:nvPr/>
        </p:nvSpPr>
        <p:spPr>
          <a:xfrm>
            <a:off x="695545" y="625954"/>
            <a:ext cx="374909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.1 </a:t>
            </a:r>
            <a:r>
              <a:rPr lang="id-ID" sz="2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Himpunan Bilangan Real </a:t>
            </a:r>
            <a:endParaRPr lang="id-ID" sz="2200" dirty="0"/>
          </a:p>
        </p:txBody>
      </p:sp>
      <p:sp>
        <p:nvSpPr>
          <p:cNvPr id="15" name="Rectangle 14"/>
          <p:cNvSpPr/>
          <p:nvPr/>
        </p:nvSpPr>
        <p:spPr>
          <a:xfrm>
            <a:off x="182879" y="4426251"/>
            <a:ext cx="75013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rasional: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 ditulis dalam bentuk desimal berulang.</a:t>
            </a:r>
            <a:endParaRPr lang="id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6955" y="5557604"/>
            <a:ext cx="84484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bentuk desimal berulang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 ditulis dalam bentuk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pecahan.</a:t>
            </a:r>
            <a:endParaRPr lang="id-ID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46955" y="4913325"/>
                <a:ext cx="7716885" cy="609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 </a:t>
                </a:r>
                <a:r>
                  <a:rPr lang="id-ID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=0.33333…=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.3</m:t>
                        </m:r>
                      </m:e>
                    </m:acc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=1.25000…=1.25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=1.25</m:t>
                    </m:r>
                  </m:oMath>
                </a14:m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55" y="4913325"/>
                <a:ext cx="7716885" cy="609782"/>
              </a:xfrm>
              <a:prstGeom prst="rect">
                <a:avLst/>
              </a:prstGeom>
              <a:blipFill>
                <a:blip r:embed="rId5"/>
                <a:stretch>
                  <a:fillRect l="-102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46955" y="5988491"/>
                <a:ext cx="8448406" cy="6116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1.66666…=1.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;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0.714285714285…=0.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714285</m:t>
                        </m:r>
                      </m:e>
                    </m:acc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55" y="5988491"/>
                <a:ext cx="8448406" cy="611642"/>
              </a:xfrm>
              <a:prstGeom prst="rect">
                <a:avLst/>
              </a:prstGeom>
              <a:blipFill>
                <a:blip r:embed="rId6"/>
                <a:stretch>
                  <a:fillRect l="-938"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895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9" grpId="0" animBg="1"/>
      <p:bldP spid="7" grpId="0" animBg="1"/>
      <p:bldP spid="5" grpId="0" animBg="1"/>
      <p:bldP spid="10" grpId="0"/>
      <p:bldP spid="11" grpId="0"/>
      <p:bldP spid="15" grpId="0"/>
      <p:bldP spid="17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3326" y="211070"/>
            <a:ext cx="621792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Irasional: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yang tidak mempunyai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bentuk desimal berulang</a:t>
            </a:r>
            <a:endParaRPr lang="id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21051" y="938462"/>
                <a:ext cx="4859384" cy="8000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0,010020003000040000050000006…</m:t>
                    </m:r>
                  </m:oMath>
                </a14:m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51" y="938462"/>
                <a:ext cx="4859384" cy="800027"/>
              </a:xfrm>
              <a:prstGeom prst="rect">
                <a:avLst/>
              </a:prstGeom>
              <a:blipFill>
                <a:blip r:embed="rId2"/>
                <a:stretch>
                  <a:fillRect l="-1629" t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6387" y="1818819"/>
                <a:ext cx="5103641" cy="4628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1,4142135623731 (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13 angka desimal)</a:t>
                </a:r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7" y="1818819"/>
                <a:ext cx="5103641" cy="462819"/>
              </a:xfrm>
              <a:prstGeom prst="rect">
                <a:avLst/>
              </a:prstGeom>
              <a:blipFill>
                <a:blip r:embed="rId3"/>
                <a:stretch>
                  <a:fillRect t="-263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48639" y="2310876"/>
                <a:ext cx="5347233" cy="4367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=3.14259265358979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(14 angka desimal)</a:t>
                </a:r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39" y="2310876"/>
                <a:ext cx="5347233" cy="436786"/>
              </a:xfrm>
              <a:prstGeom prst="rect">
                <a:avLst/>
              </a:prstGeom>
              <a:blipFill>
                <a:blip r:embed="rId4"/>
                <a:stretch>
                  <a:fillRect t="-9722" b="-26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73302" y="2768089"/>
                <a:ext cx="5722995" cy="4546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p>
                        </m:sSup>
                      </m:e>
                    </m:d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=0.9816271834 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(10 angka desimal)</a:t>
                </a:r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02" y="2768089"/>
                <a:ext cx="5722995" cy="454612"/>
              </a:xfrm>
              <a:prstGeom prst="rect">
                <a:avLst/>
              </a:prstGeom>
              <a:blipFill>
                <a:blip r:embed="rId5"/>
                <a:stretch>
                  <a:fillRect t="-9333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48639" y="3358861"/>
            <a:ext cx="377379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Real dan Garis Real</a:t>
            </a:r>
            <a:endParaRPr lang="id-ID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3303" y="3809509"/>
            <a:ext cx="64436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Setiap </a:t>
            </a:r>
            <a:r>
              <a:rPr lang="id-ID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bilangan real 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 disajikan sebagai </a:t>
            </a:r>
            <a:r>
              <a:rPr lang="id-ID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satu titik </a:t>
            </a:r>
            <a:endParaRPr lang="en-US" sz="22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 garis yang disebut </a:t>
            </a:r>
            <a:r>
              <a:rPr lang="id-ID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garis real</a:t>
            </a:r>
            <a:r>
              <a:rPr lang="id-ID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id-ID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629" y="5309118"/>
            <a:ext cx="5943600" cy="44005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2694819" y="5917420"/>
            <a:ext cx="1794934" cy="454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 Nol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048207" y="4752389"/>
                <a:ext cx="3422803" cy="662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id-ID" sz="2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nor/>
                            </m:rPr>
                            <a:rPr lang="id-ID" sz="2200" dirty="0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Bilangan</m:t>
                          </m:r>
                          <m:r>
                            <m:rPr>
                              <m:nor/>
                            </m:rPr>
                            <a:rPr lang="id-ID" sz="2200" dirty="0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id-ID" sz="2200" dirty="0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Real</m:t>
                          </m:r>
                          <m:r>
                            <m:rPr>
                              <m:nor/>
                            </m:rPr>
                            <a:rPr lang="id-ID" sz="2200" dirty="0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id-ID" sz="2200" dirty="0"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Positif</m:t>
                          </m:r>
                          <m:r>
                            <m:rPr>
                              <m:nor/>
                            </m:rPr>
                            <a:rPr lang="en-US" sz="22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groupChr>
                    </m:oMath>
                  </m:oMathPara>
                </a14:m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07" y="4752389"/>
                <a:ext cx="3422803" cy="6621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717214" y="4791802"/>
                <a:ext cx="2402104" cy="49731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⏟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</m:rPr>
                            <a:rPr lang="id-ID" sz="2200">
                              <a:latin typeface="Cambria Math" panose="02040503050406030204" pitchFamily="18" charset="0"/>
                            </a:rPr>
                            <m:t>Bilangan</m:t>
                          </m:r>
                          <m:r>
                            <a:rPr lang="id-ID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d-ID" sz="2200">
                              <a:latin typeface="Cambria Math" panose="02040503050406030204" pitchFamily="18" charset="0"/>
                            </a:rPr>
                            <m:t>Real</m:t>
                          </m:r>
                          <m:r>
                            <a:rPr lang="id-ID" sz="22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d-ID" sz="2200">
                              <a:latin typeface="Cambria Math" panose="02040503050406030204" pitchFamily="18" charset="0"/>
                            </a:rPr>
                            <m:t>Negatif</m:t>
                          </m:r>
                        </m:e>
                      </m:groupCh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14" y="4791802"/>
                <a:ext cx="2402104" cy="497311"/>
              </a:xfrm>
              <a:prstGeom prst="rect">
                <a:avLst/>
              </a:prstGeom>
              <a:blipFill>
                <a:blip r:embed="rId8"/>
                <a:stretch>
                  <a:fillRect l="-1515" r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 flipV="1">
            <a:off x="3409194" y="5653931"/>
            <a:ext cx="15768" cy="307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00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  <p:bldP spid="21" grpId="0"/>
      <p:bldP spid="22" grpId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22985" y="1700532"/>
                <a:ext cx="8633632" cy="27565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Sifat-Sifat Urutan: 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Teorema </a:t>
                </a:r>
                <a:r>
                  <a:rPr lang="id-ID" sz="20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Diberikan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berlaku: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maka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𝑞𝑟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untuk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positif;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𝑞𝑟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untuk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negatif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  <a:tabLst>
                    <a:tab pos="1085850" algn="l"/>
                  </a:tabLst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lphaLcPeriod"/>
                  <a:tabLst>
                    <a:tab pos="1085850" algn="l"/>
                  </a:tabLst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keduanya positif atau keduanya negatif dan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den>
                    </m:f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den>
                    </m:f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985" y="1700532"/>
                <a:ext cx="8633632" cy="2756588"/>
              </a:xfrm>
              <a:prstGeom prst="rect">
                <a:avLst/>
              </a:prstGeom>
              <a:blipFill>
                <a:blip r:embed="rId2"/>
                <a:stretch>
                  <a:fillRect l="-636" t="-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30462" y="643571"/>
            <a:ext cx="7446441" cy="1179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 aljabar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bilangan </a:t>
            </a: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 dapat </a:t>
            </a:r>
            <a:r>
              <a:rPr lang="id-ID" sz="2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ditambahkan</a:t>
            </a:r>
            <a:r>
              <a:rPr lang="id-ID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id-ID" sz="2200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dikurangkan</a:t>
            </a: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endParaRPr lang="en-US" sz="22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id-ID" sz="2200" b="1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dikalikan</a:t>
            </a:r>
            <a:r>
              <a:rPr lang="id-ID" sz="2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2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 </a:t>
            </a:r>
            <a:r>
              <a:rPr lang="id-ID" sz="2200" b="1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dibagi</a:t>
            </a:r>
            <a:r>
              <a:rPr lang="en-US" sz="2200" i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kecuali dengan </a:t>
            </a:r>
            <a:r>
              <a:rPr lang="id-ID" sz="2200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nol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2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dengan </a:t>
            </a: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aturan aritmetika biasa.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0462" y="255776"/>
            <a:ext cx="30201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Sifat-sifat</a:t>
            </a:r>
            <a:r>
              <a:rPr lang="id-ID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bilangan real</a:t>
            </a:r>
            <a:endParaRPr lang="en-US" sz="2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2985" y="4379089"/>
            <a:ext cx="2155371" cy="4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Contoh: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9094" y="6087720"/>
                <a:ext cx="2795453" cy="5572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 4</m:t>
                      </m:r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−3≤3−8</m:t>
                      </m:r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2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4" y="6087720"/>
                <a:ext cx="2795453" cy="5572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147689" y="6118785"/>
                <a:ext cx="278422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 2</m:t>
                          </m:r>
                          <m:r>
                            <a:rPr lang="id-ID" sz="2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sz="22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+2</m:t>
                      </m:r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id-ID" sz="22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−12&gt;0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7689" y="6118785"/>
                <a:ext cx="278422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046928" y="5995283"/>
                <a:ext cx="1829975" cy="6066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2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+3</m:t>
                        </m:r>
                      </m:den>
                    </m:f>
                    <m:r>
                      <a:rPr lang="id-ID" sz="22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1−4</m:t>
                        </m:r>
                        <m:r>
                          <a:rPr lang="id-ID" sz="22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2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928" y="5995283"/>
                <a:ext cx="1829975" cy="606641"/>
              </a:xfrm>
              <a:prstGeom prst="rect">
                <a:avLst/>
              </a:prstGeom>
              <a:blipFill>
                <a:blip r:embed="rId5"/>
                <a:stretch>
                  <a:fillRect l="-4333" b="-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0462" y="4775785"/>
                <a:ext cx="708007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.  </a:t>
                </a:r>
                <a:r>
                  <a:rPr lang="en-US" sz="2200" dirty="0" err="1" smtClean="0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𝑎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,    </m:t>
                    </m:r>
                  </m:oMath>
                </a14:m>
                <a:r>
                  <a:rPr lang="en-US" sz="2200" dirty="0" err="1" smtClean="0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 err="1" smtClean="0">
                    <a:latin typeface="Times New Roman" pitchFamily="18" charset="0"/>
                    <a:cs typeface="Times New Roman" pitchFamily="18" charset="0"/>
                  </a:rPr>
                  <a:t>relasi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 err="1" smtClean="0">
                    <a:latin typeface="Times New Roman" pitchFamily="18" charset="0"/>
                    <a:cs typeface="Times New Roman" pitchFamily="18" charset="0"/>
                  </a:rPr>
                  <a:t>mana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b="1" dirty="0" smtClean="0">
                    <a:latin typeface="Times New Roman" pitchFamily="18" charset="0"/>
                    <a:cs typeface="Times New Roman" pitchFamily="18" charset="0"/>
                  </a:rPr>
                  <a:t>yang </a:t>
                </a:r>
                <a:r>
                  <a:rPr lang="en-US" sz="2200" b="1" dirty="0" err="1" smtClean="0">
                    <a:latin typeface="Times New Roman" pitchFamily="18" charset="0"/>
                    <a:cs typeface="Times New Roman" pitchFamily="18" charset="0"/>
                  </a:rPr>
                  <a:t>selalu</a:t>
                </a:r>
                <a:r>
                  <a:rPr lang="en-US" sz="22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b="1" dirty="0" err="1" smtClean="0">
                    <a:latin typeface="Times New Roman" pitchFamily="18" charset="0"/>
                    <a:cs typeface="Times New Roman" pitchFamily="18" charset="0"/>
                  </a:rPr>
                  <a:t>benar</a:t>
                </a:r>
                <a:r>
                  <a:rPr lang="en-US" sz="2200" dirty="0" smtClean="0">
                    <a:latin typeface="Times New Roman" pitchFamily="18" charset="0"/>
                    <a:cs typeface="Times New Roman" pitchFamily="18" charset="0"/>
                  </a:rPr>
                  <a:t>?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62" y="4775785"/>
                <a:ext cx="7080070" cy="430887"/>
              </a:xfrm>
              <a:prstGeom prst="rect">
                <a:avLst/>
              </a:prstGeom>
              <a:blipFill>
                <a:blip r:embed="rId6"/>
                <a:stretch>
                  <a:fillRect l="-1120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222985" y="5665976"/>
            <a:ext cx="1750800" cy="4302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id-ID" sz="2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Selesaikan</a:t>
            </a:r>
            <a:r>
              <a:rPr lang="id-ID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0462" y="5229511"/>
                <a:ext cx="791609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 smtClean="0"/>
                  <a:t>a)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𝑎</m:t>
                    </m:r>
                    <m:r>
                      <a:rPr lang="en-US" sz="2200" b="0" i="1" smtClean="0">
                        <a:latin typeface="Cambria Math"/>
                      </a:rPr>
                      <m:t>−3≤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−3</m:t>
                    </m:r>
                  </m:oMath>
                </a14:m>
                <a:r>
                  <a:rPr lang="en-US" sz="2200" dirty="0" smtClean="0"/>
                  <a:t>   b)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−</m:t>
                    </m:r>
                    <m:r>
                      <a:rPr lang="en-US" sz="2200" b="0" i="1" smtClean="0">
                        <a:latin typeface="Cambria Math"/>
                      </a:rPr>
                      <m:t>𝑎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≤−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200" dirty="0" smtClean="0"/>
                  <a:t>    c)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3−</m:t>
                    </m:r>
                    <m:r>
                      <a:rPr lang="en-US" sz="2200" b="0" i="1" smtClean="0">
                        <a:latin typeface="Cambria Math"/>
                      </a:rPr>
                      <m:t>𝑎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≤3−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200" dirty="0" smtClean="0"/>
                  <a:t>   d)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</a:rPr>
                      <m:t>6</m:t>
                    </m:r>
                    <m:r>
                      <a:rPr lang="en-US" sz="2200" b="0" i="1" smtClean="0">
                        <a:latin typeface="Cambria Math"/>
                      </a:rPr>
                      <m:t>𝑎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≤6</m:t>
                    </m:r>
                    <m:r>
                      <a:rPr lang="en-US" sz="22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62" y="5229511"/>
                <a:ext cx="7916092" cy="430887"/>
              </a:xfrm>
              <a:prstGeom prst="rect">
                <a:avLst/>
              </a:prstGeom>
              <a:blipFill>
                <a:blip r:embed="rId7"/>
                <a:stretch>
                  <a:fillRect l="-1002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0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1466" y="224748"/>
            <a:ext cx="229911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2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.2 </a:t>
            </a:r>
            <a:r>
              <a:rPr lang="id-ID" sz="22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Nilai </a:t>
            </a:r>
            <a:r>
              <a:rPr lang="id-ID" sz="2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Mutlak </a:t>
            </a:r>
            <a:endParaRPr lang="en-US" sz="2200" dirty="0"/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05339" y="663080"/>
                <a:ext cx="698868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Definisi </a:t>
                </a:r>
                <a:r>
                  <a:rPr lang="id-ID" sz="20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1.2.1</a:t>
                </a: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Nilai mutlak dari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dinotasikan dan didefinisikan: 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39" y="663080"/>
                <a:ext cx="6988683" cy="400110"/>
              </a:xfrm>
              <a:prstGeom prst="rect">
                <a:avLst/>
              </a:prstGeom>
              <a:blipFill>
                <a:blip r:embed="rId2"/>
                <a:stretch>
                  <a:fillRect l="-960" t="-1076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167236" y="1032412"/>
                <a:ext cx="2849434" cy="8475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jika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jika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i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236" y="1032412"/>
                <a:ext cx="2849434" cy="847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70264" y="1790729"/>
                <a:ext cx="7223758" cy="4925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Teorema </a:t>
                </a:r>
                <a:r>
                  <a:rPr lang="id-ID" sz="20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1.2.2</a:t>
                </a: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Untuk setiap bilangan real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berlaku: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id-ID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id-ID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4" y="1790729"/>
                <a:ext cx="7223758" cy="492507"/>
              </a:xfrm>
              <a:prstGeom prst="rect">
                <a:avLst/>
              </a:prstGeom>
              <a:blipFill>
                <a:blip r:embed="rId4"/>
                <a:stretch>
                  <a:fillRect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70264" y="2221192"/>
                <a:ext cx="7876902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Teorema </a:t>
                </a:r>
                <a:r>
                  <a:rPr lang="id-ID" sz="20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1.2.4</a:t>
                </a:r>
                <a:r>
                  <a:rPr lang="id-ID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Interpretasi Geometri Nilai Mutlak adalah sebagai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jarak</a:t>
                </a:r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antara titik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adalah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4" y="2221192"/>
                <a:ext cx="7876902" cy="800219"/>
              </a:xfrm>
              <a:prstGeom prst="rect">
                <a:avLst/>
              </a:prstGeom>
              <a:blipFill>
                <a:blip r:embed="rId5"/>
                <a:stretch>
                  <a:fillRect t="-151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9870622"/>
                  </p:ext>
                </p:extLst>
              </p:nvPr>
            </p:nvGraphicFramePr>
            <p:xfrm>
              <a:off x="731466" y="3027355"/>
              <a:ext cx="6529007" cy="126187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17339">
                      <a:extLst>
                        <a:ext uri="{9D8B030D-6E8A-4147-A177-3AD203B41FA5}">
                          <a16:colId xmlns:a16="http://schemas.microsoft.com/office/drawing/2014/main" val="3078847196"/>
                        </a:ext>
                      </a:extLst>
                    </a:gridCol>
                    <a:gridCol w="4211668">
                      <a:extLst>
                        <a:ext uri="{9D8B030D-6E8A-4147-A177-3AD203B41FA5}">
                          <a16:colId xmlns:a16="http://schemas.microsoft.com/office/drawing/2014/main" val="348601886"/>
                        </a:ext>
                      </a:extLst>
                    </a:gridCol>
                  </a:tblGrid>
                  <a:tr h="2944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Ekspresi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Interpretasi Pada Garis Koordinat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28644100"/>
                      </a:ext>
                    </a:extLst>
                  </a:tr>
                  <a:tr h="31274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 smtClea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Jarak antara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dan 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03593571"/>
                      </a:ext>
                    </a:extLst>
                  </a:tr>
                  <a:tr h="31274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d-ID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id-ID" sz="18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 smtClea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Jarak antara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dan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06873151"/>
                      </a:ext>
                    </a:extLst>
                  </a:tr>
                  <a:tr h="312749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 smtClea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Jarak antara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 dan titik asal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3273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9870622"/>
                  </p:ext>
                </p:extLst>
              </p:nvPr>
            </p:nvGraphicFramePr>
            <p:xfrm>
              <a:off x="731466" y="3027355"/>
              <a:ext cx="6529007" cy="126187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17339">
                      <a:extLst>
                        <a:ext uri="{9D8B030D-6E8A-4147-A177-3AD203B41FA5}">
                          <a16:colId xmlns:a16="http://schemas.microsoft.com/office/drawing/2014/main" val="3078847196"/>
                        </a:ext>
                      </a:extLst>
                    </a:gridCol>
                    <a:gridCol w="4211668">
                      <a:extLst>
                        <a:ext uri="{9D8B030D-6E8A-4147-A177-3AD203B41FA5}">
                          <a16:colId xmlns:a16="http://schemas.microsoft.com/office/drawing/2014/main" val="348601886"/>
                        </a:ext>
                      </a:extLst>
                    </a:gridCol>
                  </a:tblGrid>
                  <a:tr h="31546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Ekspresi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Interpretasi Pada Garis Koordinat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28644100"/>
                      </a:ext>
                    </a:extLst>
                  </a:tr>
                  <a:tr h="3154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262" t="-117308" r="-182152" b="-2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55202" t="-117308" r="-289" b="-23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3593571"/>
                      </a:ext>
                    </a:extLst>
                  </a:tr>
                  <a:tr h="3154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262" t="-217308" r="-182152" b="-1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55202" t="-217308" r="-289" b="-13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6873151"/>
                      </a:ext>
                    </a:extLst>
                  </a:tr>
                  <a:tr h="3154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262" t="-317308" r="-182152" b="-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6"/>
                          <a:stretch>
                            <a:fillRect l="-55202" t="-317308" r="-289" b="-3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27384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Rectangle 11"/>
          <p:cNvSpPr/>
          <p:nvPr/>
        </p:nvSpPr>
        <p:spPr>
          <a:xfrm>
            <a:off x="256583" y="4338729"/>
            <a:ext cx="3433953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Interprestasi Pertidaksamaan: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4134885"/>
                  </p:ext>
                </p:extLst>
              </p:nvPr>
            </p:nvGraphicFramePr>
            <p:xfrm>
              <a:off x="568192" y="4834507"/>
              <a:ext cx="7262976" cy="189280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72100">
                      <a:extLst>
                        <a:ext uri="{9D8B030D-6E8A-4147-A177-3AD203B41FA5}">
                          <a16:colId xmlns:a16="http://schemas.microsoft.com/office/drawing/2014/main" val="4129998342"/>
                        </a:ext>
                      </a:extLst>
                    </a:gridCol>
                    <a:gridCol w="1423825">
                      <a:extLst>
                        <a:ext uri="{9D8B030D-6E8A-4147-A177-3AD203B41FA5}">
                          <a16:colId xmlns:a16="http://schemas.microsoft.com/office/drawing/2014/main" val="966658023"/>
                        </a:ext>
                      </a:extLst>
                    </a:gridCol>
                    <a:gridCol w="901337">
                      <a:extLst>
                        <a:ext uri="{9D8B030D-6E8A-4147-A177-3AD203B41FA5}">
                          <a16:colId xmlns:a16="http://schemas.microsoft.com/office/drawing/2014/main" val="2747929128"/>
                        </a:ext>
                      </a:extLst>
                    </a:gridCol>
                    <a:gridCol w="1672046">
                      <a:extLst>
                        <a:ext uri="{9D8B030D-6E8A-4147-A177-3AD203B41FA5}">
                          <a16:colId xmlns:a16="http://schemas.microsoft.com/office/drawing/2014/main" val="1904775518"/>
                        </a:ext>
                      </a:extLst>
                    </a:gridCol>
                    <a:gridCol w="1593668">
                      <a:extLst>
                        <a:ext uri="{9D8B030D-6E8A-4147-A177-3AD203B41FA5}">
                          <a16:colId xmlns:a16="http://schemas.microsoft.com/office/drawing/2014/main" val="3702477511"/>
                        </a:ext>
                      </a:extLst>
                    </a:gridCol>
                  </a:tblGrid>
                  <a:tr h="565694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 smtClea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Pertidaksamaan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d-ID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d-ID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&gt;0</m:t>
                                  </m:r>
                                </m:e>
                              </m:d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Interperstasi Geometrik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Gambar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Bentuk Pertidaksamaan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Himpunan Penyelesaian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2272729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id-ID" sz="1800" smtClean="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didalam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satuan dari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291242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id-ID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id-ID" sz="1800">
                                    <a:effectLst/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id-ID" sz="1800" smtClean="0"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lebih dari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satuan dari </a:t>
                          </a:r>
                          <a14:m>
                            <m:oMath xmlns:m="http://schemas.openxmlformats.org/officeDocument/2006/math">
                              <m:r>
                                <a:rPr lang="id-ID" sz="1800">
                                  <a:effectLst/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41535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4134885"/>
                  </p:ext>
                </p:extLst>
              </p:nvPr>
            </p:nvGraphicFramePr>
            <p:xfrm>
              <a:off x="568192" y="4834507"/>
              <a:ext cx="7262976" cy="189280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72100">
                      <a:extLst>
                        <a:ext uri="{9D8B030D-6E8A-4147-A177-3AD203B41FA5}">
                          <a16:colId xmlns:a16="http://schemas.microsoft.com/office/drawing/2014/main" val="4129998342"/>
                        </a:ext>
                      </a:extLst>
                    </a:gridCol>
                    <a:gridCol w="1423825">
                      <a:extLst>
                        <a:ext uri="{9D8B030D-6E8A-4147-A177-3AD203B41FA5}">
                          <a16:colId xmlns:a16="http://schemas.microsoft.com/office/drawing/2014/main" val="966658023"/>
                        </a:ext>
                      </a:extLst>
                    </a:gridCol>
                    <a:gridCol w="901337">
                      <a:extLst>
                        <a:ext uri="{9D8B030D-6E8A-4147-A177-3AD203B41FA5}">
                          <a16:colId xmlns:a16="http://schemas.microsoft.com/office/drawing/2014/main" val="2747929128"/>
                        </a:ext>
                      </a:extLst>
                    </a:gridCol>
                    <a:gridCol w="1672046">
                      <a:extLst>
                        <a:ext uri="{9D8B030D-6E8A-4147-A177-3AD203B41FA5}">
                          <a16:colId xmlns:a16="http://schemas.microsoft.com/office/drawing/2014/main" val="1904775518"/>
                        </a:ext>
                      </a:extLst>
                    </a:gridCol>
                    <a:gridCol w="1593668">
                      <a:extLst>
                        <a:ext uri="{9D8B030D-6E8A-4147-A177-3AD203B41FA5}">
                          <a16:colId xmlns:a16="http://schemas.microsoft.com/office/drawing/2014/main" val="3702477511"/>
                        </a:ext>
                      </a:extLst>
                    </a:gridCol>
                  </a:tblGrid>
                  <a:tr h="6309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365" t="-9615" r="-335766" b="-218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Interperstasi Geometrik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Gambar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Bentuk Pertidaksamaan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Himpunan Penyelesaian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22727297"/>
                      </a:ext>
                    </a:extLst>
                  </a:tr>
                  <a:tr h="6309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365" t="-110680" r="-335766" b="-120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117521" t="-110680" r="-293162" b="-1203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29124221"/>
                      </a:ext>
                    </a:extLst>
                  </a:tr>
                  <a:tr h="6309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365" t="-208654" r="-335766" b="-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7"/>
                          <a:stretch>
                            <a:fillRect l="-117521" t="-208654" r="-293162" b="-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?</a:t>
                          </a:r>
                          <a:endParaRPr lang="en-US" sz="18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415359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025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sv-SE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936" y="164546"/>
            <a:ext cx="3073277" cy="4816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d-ID" sz="2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.3 Grafik Persamaan</a:t>
            </a:r>
            <a:endParaRPr lang="id-ID" sz="2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6942" y="436833"/>
                <a:ext cx="8151224" cy="1649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</a:t>
                </a:r>
                <a:r>
                  <a:rPr lang="id-ID" sz="22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2.3.1: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Grafik suatu persamaan yang menghubungkan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dua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peubah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adalah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semua titik pada bidang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yang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koordinat-koordinatnya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merupakan anggota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himpunan penyelesaiannya persamaan tersebut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id-ID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942" y="436833"/>
                <a:ext cx="8151224" cy="1649682"/>
              </a:xfrm>
              <a:prstGeom prst="rect">
                <a:avLst/>
              </a:prstGeom>
              <a:blipFill>
                <a:blip r:embed="rId2"/>
                <a:stretch>
                  <a:fillRect t="-1481" b="-4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227587" y="1944439"/>
            <a:ext cx="7181518" cy="4816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2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d-ID" sz="2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.4 Garis, Persamaan Linear dan Persamaan Lingkaran</a:t>
            </a:r>
            <a:endParaRPr lang="id-ID" sz="2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7588" y="2380868"/>
                <a:ext cx="8746596" cy="14810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5850" marR="0" indent="-857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2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Definisi </a:t>
                </a:r>
                <a:r>
                  <a:rPr lang="en-US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id-ID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.4.1</a:t>
                </a:r>
                <a:r>
                  <a:rPr lang="id-ID" sz="22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Jika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adalah titik-titik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pada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5850" marR="0" indent="-857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koordinat,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maka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kemiringan dari garis   tersebut 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5850" marR="0" indent="-85725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d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inotasikan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dan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didefinisikan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</m:t>
                    </m:r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id-ID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id-ID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id-ID" sz="2200" b="1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id-ID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𝒓𝒊𝒔𝒆</m:t>
                        </m:r>
                      </m:num>
                      <m:den>
                        <m:r>
                          <a:rPr lang="id-ID" sz="22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𝒓𝒖𝒏</m:t>
                        </m:r>
                      </m:den>
                    </m:f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𝒕𝒈</m:t>
                    </m:r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id-ID" sz="22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2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8" y="2380868"/>
                <a:ext cx="8746596" cy="1481046"/>
              </a:xfrm>
              <a:prstGeom prst="rect">
                <a:avLst/>
              </a:prstGeom>
              <a:blipFill>
                <a:blip r:embed="rId3"/>
                <a:stretch>
                  <a:fillRect t="-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27587" y="3755815"/>
                <a:ext cx="7731402" cy="871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5850" marR="0" indent="-85725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2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Teorema </a:t>
                </a:r>
                <a:r>
                  <a:rPr lang="en-US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id-ID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.4.</a:t>
                </a:r>
                <a:r>
                  <a:rPr lang="en-US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id-ID" sz="22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Jika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dua garis dengan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masing-masing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5850" marR="0" indent="-85725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kemiringannya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7" y="3755815"/>
                <a:ext cx="7731402" cy="871008"/>
              </a:xfrm>
              <a:prstGeom prst="rect">
                <a:avLst/>
              </a:prstGeom>
              <a:blipFill>
                <a:blip r:embed="rId4"/>
                <a:stretch>
                  <a:fillRect t="-2797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6638" y="4525568"/>
                <a:ext cx="6940850" cy="481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dan  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⊥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endParaRPr lang="en-US" sz="22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38" y="4525568"/>
                <a:ext cx="6940850" cy="481670"/>
              </a:xfrm>
              <a:prstGeom prst="rect">
                <a:avLst/>
              </a:prstGeom>
              <a:blipFill>
                <a:blip r:embed="rId5"/>
                <a:stretch>
                  <a:fillRect l="-1142" t="-3797" b="-18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27587" y="4969227"/>
            <a:ext cx="6263253" cy="457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65151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id-ID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Bentuk persamaan garis melalui dua titik adalah :</a:t>
            </a:r>
            <a:endParaRPr lang="id-ID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374737" y="5018012"/>
                <a:ext cx="2387641" cy="7300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4737" y="5018012"/>
                <a:ext cx="2387641" cy="7300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27587" y="5694414"/>
                <a:ext cx="6001323" cy="871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garis yang melalui titik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id-ID" sz="22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2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dengan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kemiringan  </a:t>
                </a:r>
                <a14:m>
                  <m:oMath xmlns:m="http://schemas.openxmlformats.org/officeDocument/2006/math"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adalah: </a:t>
                </a:r>
                <a:endParaRPr lang="en-US" sz="22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87" y="5694414"/>
                <a:ext cx="6001323" cy="871008"/>
              </a:xfrm>
              <a:prstGeom prst="rect">
                <a:avLst/>
              </a:prstGeom>
              <a:blipFill>
                <a:blip r:embed="rId7"/>
                <a:stretch>
                  <a:fillRect t="-2797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32811" y="6163336"/>
                <a:ext cx="2627771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11" y="6163336"/>
                <a:ext cx="2627771" cy="430887"/>
              </a:xfrm>
              <a:prstGeom prst="rect">
                <a:avLst/>
              </a:prstGeom>
              <a:blipFill>
                <a:blip r:embed="rId8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59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39633" y="277000"/>
                <a:ext cx="8661492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28900" marR="0" indent="-24003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garis yang memotong sumbu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di titik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dengan kemiringan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id-ID" sz="2000" b="0" i="1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28900" marR="0" indent="-24003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adalah: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3" y="277000"/>
                <a:ext cx="8661492" cy="800219"/>
              </a:xfrm>
              <a:prstGeom prst="rect">
                <a:avLst/>
              </a:prstGeom>
              <a:blipFill>
                <a:blip r:embed="rId2"/>
                <a:stretch>
                  <a:fillRect t="-151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09094" y="1088962"/>
                <a:ext cx="8399418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57300" marR="0" indent="-10287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257300" algn="l"/>
                  </a:tabLs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garis vertikal melalui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,0</m:t>
                        </m:r>
                      </m:e>
                    </m:d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horizontal melalui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</m:t>
                        </m:r>
                        <m:r>
                          <a:rPr lang="id-ID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id-ID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marR="0" indent="-10287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257300" algn="l"/>
                  </a:tabLs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masing-masing  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adalah: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4" y="1088962"/>
                <a:ext cx="8399418" cy="800219"/>
              </a:xfrm>
              <a:prstGeom prst="rect">
                <a:avLst/>
              </a:prstGeom>
              <a:blipFill>
                <a:blip r:embed="rId3"/>
                <a:stretch>
                  <a:fillRect t="-2290" b="-9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39633" y="1902818"/>
                <a:ext cx="7119258" cy="8002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28900" marR="0" indent="-240030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Bentuk </a:t>
                </a: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Umum Persamaan Linear: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𝑏𝑦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28900" marR="0" indent="-24003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dengan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≠0; 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≠0</m:t>
                    </m:r>
                  </m:oMath>
                </a14:m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d-ID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dan  </a:t>
                </a:r>
                <a14:m>
                  <m:oMath xmlns:m="http://schemas.openxmlformats.org/officeDocument/2006/math">
                    <m:r>
                      <a:rPr lang="id-ID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konstanta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33" y="1902818"/>
                <a:ext cx="7119258" cy="800219"/>
              </a:xfrm>
              <a:prstGeom prst="rect">
                <a:avLst/>
              </a:prstGeom>
              <a:blipFill>
                <a:blip r:embed="rId4"/>
                <a:stretch>
                  <a:fillRect t="-1527" b="-9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250779" y="2843212"/>
            <a:ext cx="8839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228600" algn="l"/>
              </a:tabLst>
            </a:pPr>
            <a:r>
              <a:rPr lang="id-ID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Bangun datar irisan kerucut yang terbentuk merupakan himpunan titik-titik pada kurva dan didefinisikan: </a:t>
            </a:r>
            <a:r>
              <a:rPr lang="id-ID" sz="1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7252" y="3321941"/>
            <a:ext cx="601573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228600" algn="l"/>
              </a:tabLst>
            </a:pP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Definisi Lingkaran: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Lingkaran adalah tempat kedudukan/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228600" algn="l"/>
              </a:tabLst>
            </a:pP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himpunan 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semua titik pada bidang datar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yang</a:t>
            </a:r>
          </a:p>
          <a:p>
            <a:pPr>
              <a:spcAft>
                <a:spcPts val="0"/>
              </a:spcAft>
              <a:tabLst>
                <a:tab pos="228600" algn="l"/>
              </a:tabLs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berjarak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sama/konstan  </a:t>
            </a: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(jari-jari)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terhadap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</a:p>
          <a:p>
            <a:pPr>
              <a:spcAft>
                <a:spcPts val="0"/>
              </a:spcAft>
              <a:tabLst>
                <a:tab pos="228600" algn="l"/>
              </a:tabLs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titik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tertentu </a:t>
            </a: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(titik pusat)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6192936" y="3233779"/>
            <a:ext cx="2228850" cy="1804035"/>
            <a:chOff x="1028700" y="0"/>
            <a:chExt cx="2228877" cy="1804035"/>
          </a:xfrm>
        </p:grpSpPr>
        <p:grpSp>
          <p:nvGrpSpPr>
            <p:cNvPr id="39" name="Group 38"/>
            <p:cNvGrpSpPr/>
            <p:nvPr/>
          </p:nvGrpSpPr>
          <p:grpSpPr>
            <a:xfrm>
              <a:off x="1028700" y="0"/>
              <a:ext cx="2228877" cy="1804035"/>
              <a:chOff x="685800" y="0"/>
              <a:chExt cx="2228877" cy="1804035"/>
            </a:xfrm>
          </p:grpSpPr>
          <p:grpSp>
            <p:nvGrpSpPr>
              <p:cNvPr id="41" name="Group 40"/>
              <p:cNvGrpSpPr/>
              <p:nvPr/>
            </p:nvGrpSpPr>
            <p:grpSpPr>
              <a:xfrm>
                <a:off x="685800" y="0"/>
                <a:ext cx="2228877" cy="1804035"/>
                <a:chOff x="0" y="0"/>
                <a:chExt cx="2228877" cy="1804035"/>
              </a:xfrm>
            </p:grpSpPr>
            <p:grpSp>
              <p:nvGrpSpPr>
                <p:cNvPr id="43" name="Group 42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2228877" cy="1804035"/>
                  <a:chOff x="0" y="0"/>
                  <a:chExt cx="22288" cy="18040"/>
                </a:xfrm>
              </p:grpSpPr>
              <p:cxnSp>
                <p:nvCxnSpPr>
                  <p:cNvPr id="48" name="Straight Arrow Connector 47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0" y="14668"/>
                    <a:ext cx="22288" cy="165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arrow" w="med" len="med"/>
                    <a:tailEnd type="arrow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grpSp>
                <p:nvGrpSpPr>
                  <p:cNvPr id="49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1619" y="0"/>
                    <a:ext cx="20002" cy="18040"/>
                    <a:chOff x="0" y="0"/>
                    <a:chExt cx="20002" cy="18040"/>
                  </a:xfrm>
                </p:grpSpPr>
                <p:sp>
                  <p:nvSpPr>
                    <p:cNvPr id="50" name="Flowchart: Connector 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57" y="3619"/>
                      <a:ext cx="9843" cy="9430"/>
                    </a:xfrm>
                    <a:prstGeom prst="flowChartConnector">
                      <a:avLst/>
                    </a:prstGeom>
                    <a:solidFill>
                      <a:srgbClr val="FFFFFF"/>
                    </a:solidFill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ctr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1" name="Text Box 3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3906" y="2762"/>
                      <a:ext cx="6096" cy="295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2" name="Text Box 41"/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 rot="-2132002">
                          <a:off x="8953" y="4762"/>
                          <a:ext cx="2778" cy="3107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  <a:ln w="6350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91440" tIns="45720" rIns="91440" bIns="45720" anchor="t" anchorCtr="0" upright="1"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9" name="Text Box 41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 rot="-2132002">
                          <a:off x="8953" y="4762"/>
                          <a:ext cx="2778" cy="3107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/>
                          </a:stretch>
                        </a:blipFill>
                        <a:ln w="6350">
                          <a:solidFill>
                            <a:srgbClr val="FFFFFF"/>
                          </a:solidFill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cxnSp>
                  <p:nvCxnSpPr>
                    <p:cNvPr id="53" name="Straight Connector 52"/>
                    <p:cNvCxnSpPr>
                      <a:cxnSpLocks noChangeShapeType="1"/>
                    </p:cNvCxnSpPr>
                    <p:nvPr/>
                  </p:nvCxnSpPr>
                  <p:spPr bwMode="auto">
                    <a:xfrm flipV="1">
                      <a:off x="9334" y="5238"/>
                      <a:ext cx="4191" cy="3146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54" name="Text Box 4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5525" y="14813"/>
                      <a:ext cx="2382" cy="284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5" name="Text Box 4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2948" cy="2762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cxnSp>
                  <p:nvCxnSpPr>
                    <p:cNvPr id="56" name="Straight Arrow Connector 5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948" y="1381"/>
                      <a:ext cx="481" cy="16659"/>
                    </a:xfrm>
                    <a:prstGeom prst="straightConnector1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 type="arrow" w="med" len="med"/>
                      <a:tailEnd type="arrow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57" name="Text Box 4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381" y="8858"/>
                      <a:ext cx="5620" cy="2533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6350">
                      <a:solidFill>
                        <a:srgbClr val="FFFFFF"/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8" name="Text Box 5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" y="14912"/>
                      <a:ext cx="2476" cy="2842"/>
                    </a:xfrm>
                    <a:prstGeom prst="rect">
                      <a:avLst/>
                    </a:prstGeom>
                    <a:solidFill>
                      <a:schemeClr val="lt1">
                        <a:lumMod val="100000"/>
                        <a:lumOff val="0"/>
                      </a:schemeClr>
                    </a:solidFill>
                    <a:ln w="6350">
                      <a:solidFill>
                        <a:schemeClr val="bg1">
                          <a:lumMod val="100000"/>
                          <a:lumOff val="0"/>
                        </a:schemeClr>
                      </a:solidFill>
                      <a:miter lim="800000"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200007" y="33910"/>
                  <a:ext cx="1943118" cy="1651333"/>
                  <a:chOff x="-2133618" y="-128015"/>
                  <a:chExt cx="1943118" cy="1651333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Text Box 214"/>
                      <p:cNvSpPr txBox="1"/>
                      <p:nvPr/>
                    </p:nvSpPr>
                    <p:spPr>
                      <a:xfrm>
                        <a:off x="-2133618" y="-128015"/>
                        <a:ext cx="314325" cy="24760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style>
                      <a:lnRef idx="0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sz="1100" dirty="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" name="Text Box 21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2133618" y="-128015"/>
                        <a:ext cx="314325" cy="247605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" name="Text Box 215"/>
                      <p:cNvSpPr txBox="1"/>
                      <p:nvPr/>
                    </p:nvSpPr>
                    <p:spPr>
                      <a:xfrm>
                        <a:off x="-504825" y="1269973"/>
                        <a:ext cx="314325" cy="24760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" name="Text Box 21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504825" y="1269973"/>
                        <a:ext cx="314325" cy="24760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Text Box 216"/>
                      <p:cNvSpPr txBox="1"/>
                      <p:nvPr/>
                    </p:nvSpPr>
                    <p:spPr>
                      <a:xfrm>
                        <a:off x="-2066925" y="1276303"/>
                        <a:ext cx="314325" cy="24701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𝑂</m:t>
                              </m:r>
                            </m:oMath>
                          </m:oMathPara>
                        </a14:m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Text Box 21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-2066925" y="1276303"/>
                        <a:ext cx="314325" cy="24701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 w="6350">
                        <a:noFill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 Box 217"/>
                  <p:cNvSpPr txBox="1"/>
                  <p:nvPr/>
                </p:nvSpPr>
                <p:spPr>
                  <a:xfrm>
                    <a:off x="1609725" y="800100"/>
                    <a:ext cx="552450" cy="323850"/>
                  </a:xfrm>
                  <a:prstGeom prst="rect">
                    <a:avLst/>
                  </a:prstGeom>
                  <a:noFill/>
                  <a:ln w="6350">
                    <a:noFill/>
                  </a:ln>
                  <a:effectLst/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d>
                        </m:oMath>
                      </m:oMathPara>
                    </a14:m>
                    <a:endParaRPr lang="en-US" sz="11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Text Box 2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09725" y="800100"/>
                    <a:ext cx="552450" cy="32385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6350"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 Box 484"/>
                <p:cNvSpPr txBox="1"/>
                <p:nvPr/>
              </p:nvSpPr>
              <p:spPr>
                <a:xfrm>
                  <a:off x="2486030" y="333375"/>
                  <a:ext cx="552450" cy="323850"/>
                </a:xfrm>
                <a:prstGeom prst="rect">
                  <a:avLst/>
                </a:prstGeom>
                <a:noFill/>
                <a:ln w="6350">
                  <a:noFill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11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</m:oMath>
                    </m:oMathPara>
                  </a14:m>
                  <a:endPara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 Box 4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6030" y="333375"/>
                  <a:ext cx="552450" cy="3238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6350"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466160" y="4618823"/>
                <a:ext cx="5637913" cy="11291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  <a:tabLst>
                    <a:tab pos="57150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Persamaan baku dari lingkaran, ambil titik  </a:t>
                </a:r>
                <a14:m>
                  <m:oMath xmlns:m="http://schemas.openxmlformats.org/officeDocument/2006/math">
                    <m:r>
                      <a:rPr lang="id-ID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titik tertentu/ titik pusat  </a:t>
                </a:r>
                <a14:m>
                  <m:oMath xmlns:m="http://schemas.openxmlformats.org/officeDocument/2006/math">
                    <m:r>
                      <a:rPr lang="id-ID" sz="1600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id-ID" sz="16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dan berjarak konstan </a:t>
                </a:r>
                <a14:m>
                  <m:oMath xmlns:m="http://schemas.openxmlformats.org/officeDocument/2006/math"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maka menurut teorema jarak antara dua titik adalah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  <a:tabLst>
                    <a:tab pos="57150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id-ID" sz="16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id-ID" sz="16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60" y="4618823"/>
                <a:ext cx="5637913" cy="1129155"/>
              </a:xfrm>
              <a:prstGeom prst="rect">
                <a:avLst/>
              </a:prstGeom>
              <a:blipFill>
                <a:blip r:embed="rId11"/>
                <a:stretch>
                  <a:fillRect l="-541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/>
              <p:cNvSpPr/>
              <p:nvPr/>
            </p:nvSpPr>
            <p:spPr>
              <a:xfrm>
                <a:off x="309094" y="5918000"/>
                <a:ext cx="644929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Aft>
                    <a:spcPts val="0"/>
                  </a:spcAft>
                  <a:buClr>
                    <a:srgbClr val="000000"/>
                  </a:buClr>
                  <a:buSzPts val="1200"/>
                </a:pPr>
                <a:r>
                  <a:rPr lang="id-ID" sz="16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Contoh: </a:t>
                </a:r>
                <a:r>
                  <a:rPr lang="id-ID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Tentukan </a:t>
                </a:r>
                <a:r>
                  <a:rPr lang="id-ID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titik pusat dan jari-jari lingkaran dan sketsa:</a:t>
                </a:r>
                <a:endParaRPr lang="en-US" sz="16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id-ID" sz="16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id-ID" sz="16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US" sz="16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id-ID" sz="1600" dirty="0">
                    <a:solidFill>
                      <a:srgbClr val="000000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+6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Rectangle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94" y="5918000"/>
                <a:ext cx="6449292" cy="584775"/>
              </a:xfrm>
              <a:prstGeom prst="rect">
                <a:avLst/>
              </a:prstGeom>
              <a:blipFill>
                <a:blip r:embed="rId12"/>
                <a:stretch>
                  <a:fillRect l="-567" t="-4167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6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36" grpId="0"/>
      <p:bldP spid="37" grpId="0"/>
      <p:bldP spid="59" grpId="0"/>
      <p:bldP spid="6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48649" y="456160"/>
            <a:ext cx="56096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60475" indent="-1260475">
              <a:spcAft>
                <a:spcPts val="0"/>
              </a:spcAft>
              <a:tabLst>
                <a:tab pos="57150" algn="l"/>
              </a:tabLst>
            </a:pP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Definisi Parabola: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Parabola adalah tempat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kedudukan/himpunan</a:t>
            </a:r>
          </a:p>
          <a:p>
            <a:pPr marL="1260475" indent="-1260475">
              <a:spcAft>
                <a:spcPts val="0"/>
              </a:spcAft>
              <a:tabLst>
                <a:tab pos="57150" algn="l"/>
              </a:tabLs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semua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titik pada bidang datar yang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berjarak</a:t>
            </a:r>
          </a:p>
          <a:p>
            <a:pPr marL="1260475" indent="-1260475">
              <a:spcAft>
                <a:spcPts val="0"/>
              </a:spcAft>
              <a:tabLst>
                <a:tab pos="57150" algn="l"/>
              </a:tabLs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sama/konstan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terhadap suatu garis tertentu </a:t>
            </a:r>
            <a:endParaRPr lang="id-ID" sz="16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60475" indent="-1260475">
              <a:spcAft>
                <a:spcPts val="0"/>
              </a:spcAft>
              <a:tabLst>
                <a:tab pos="57150" algn="l"/>
              </a:tabLst>
            </a:pP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(</a:t>
            </a: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garis direktris)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suatu titik </a:t>
            </a: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(titik fokus</a:t>
            </a:r>
            <a:r>
              <a:rPr lang="id-ID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260475" indent="-1260475">
              <a:spcAft>
                <a:spcPts val="0"/>
              </a:spcAft>
              <a:tabLst>
                <a:tab pos="57150" algn="l"/>
              </a:tabLst>
            </a:pP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d-ID" sz="16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yang tidak berada pada garis tersebut.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6160797" y="81961"/>
            <a:ext cx="2381250" cy="2212997"/>
            <a:chOff x="0" y="-63263"/>
            <a:chExt cx="2571750" cy="2099073"/>
          </a:xfrm>
        </p:grpSpPr>
        <p:grpSp>
          <p:nvGrpSpPr>
            <p:cNvPr id="42" name="Group 41"/>
            <p:cNvGrpSpPr/>
            <p:nvPr/>
          </p:nvGrpSpPr>
          <p:grpSpPr>
            <a:xfrm>
              <a:off x="1323975" y="1019175"/>
              <a:ext cx="876300" cy="1016635"/>
              <a:chOff x="371475" y="66675"/>
              <a:chExt cx="876300" cy="1016635"/>
            </a:xfrm>
          </p:grpSpPr>
          <p:sp>
            <p:nvSpPr>
              <p:cNvPr id="68" name="Text Box 175"/>
              <p:cNvSpPr txBox="1"/>
              <p:nvPr/>
            </p:nvSpPr>
            <p:spPr>
              <a:xfrm>
                <a:off x="695325" y="838200"/>
                <a:ext cx="552450" cy="24511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i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Focus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9" name="Straight Arrow Connector 68"/>
              <p:cNvCxnSpPr/>
              <p:nvPr/>
            </p:nvCxnSpPr>
            <p:spPr>
              <a:xfrm flipH="1" flipV="1">
                <a:off x="371475" y="66675"/>
                <a:ext cx="285751" cy="657226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dash"/>
                <a:miter lim="800000"/>
                <a:tailEnd type="triangle"/>
              </a:ln>
              <a:effectLst/>
            </p:spPr>
          </p:cxnSp>
        </p:grpSp>
        <p:grpSp>
          <p:nvGrpSpPr>
            <p:cNvPr id="43" name="Group 42"/>
            <p:cNvGrpSpPr/>
            <p:nvPr/>
          </p:nvGrpSpPr>
          <p:grpSpPr>
            <a:xfrm>
              <a:off x="0" y="-63263"/>
              <a:ext cx="2571750" cy="1739665"/>
              <a:chOff x="0" y="-63263"/>
              <a:chExt cx="2571750" cy="1739665"/>
            </a:xfrm>
          </p:grpSpPr>
          <p:sp>
            <p:nvSpPr>
              <p:cNvPr id="50" name="Text Box 178"/>
              <p:cNvSpPr txBox="1"/>
              <p:nvPr/>
            </p:nvSpPr>
            <p:spPr>
              <a:xfrm>
                <a:off x="1476375" y="628650"/>
                <a:ext cx="1095375" cy="30480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noFill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id-ID" sz="1100" i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Sumbu simetri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1" name="Group 50"/>
              <p:cNvGrpSpPr/>
              <p:nvPr/>
            </p:nvGrpSpPr>
            <p:grpSpPr>
              <a:xfrm>
                <a:off x="0" y="-63263"/>
                <a:ext cx="2510790" cy="1739665"/>
                <a:chOff x="238125" y="-63263"/>
                <a:chExt cx="2510790" cy="1739665"/>
              </a:xfrm>
            </p:grpSpPr>
            <p:cxnSp>
              <p:nvCxnSpPr>
                <p:cNvPr id="52" name="Straight Connector 51"/>
                <p:cNvCxnSpPr/>
                <p:nvPr/>
              </p:nvCxnSpPr>
              <p:spPr>
                <a:xfrm>
                  <a:off x="714375" y="266700"/>
                  <a:ext cx="0" cy="1095375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53" name="Group 52"/>
                <p:cNvGrpSpPr/>
                <p:nvPr/>
              </p:nvGrpSpPr>
              <p:grpSpPr>
                <a:xfrm>
                  <a:off x="714375" y="-63263"/>
                  <a:ext cx="1724025" cy="1253888"/>
                  <a:chOff x="457200" y="-63263"/>
                  <a:chExt cx="1724025" cy="1253888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7" name="Text Box 182"/>
                      <p:cNvSpPr txBox="1"/>
                      <p:nvPr/>
                    </p:nvSpPr>
                    <p:spPr>
                      <a:xfrm>
                        <a:off x="1924050" y="933450"/>
                        <a:ext cx="257175" cy="25717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" name="Text Box 18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24050" y="933450"/>
                        <a:ext cx="257175" cy="25717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8" name="Text Box 183"/>
                      <p:cNvSpPr txBox="1"/>
                      <p:nvPr/>
                    </p:nvSpPr>
                    <p:spPr>
                      <a:xfrm>
                        <a:off x="754136" y="-63263"/>
                        <a:ext cx="257175" cy="25717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𝑌</m:t>
                              </m:r>
                            </m:oMath>
                          </m:oMathPara>
                        </a14:m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8" name="Text Box 18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54136" y="-63263"/>
                        <a:ext cx="257175" cy="257175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59" name="Group 58"/>
                  <p:cNvGrpSpPr/>
                  <p:nvPr/>
                </p:nvGrpSpPr>
                <p:grpSpPr>
                  <a:xfrm>
                    <a:off x="457200" y="285749"/>
                    <a:ext cx="1066800" cy="828675"/>
                    <a:chOff x="0" y="-76201"/>
                    <a:chExt cx="1066800" cy="828675"/>
                  </a:xfrm>
                </p:grpSpPr>
                <p:grpSp>
                  <p:nvGrpSpPr>
                    <p:cNvPr id="61" name="Group 60"/>
                    <p:cNvGrpSpPr/>
                    <p:nvPr/>
                  </p:nvGrpSpPr>
                  <p:grpSpPr>
                    <a:xfrm>
                      <a:off x="123825" y="-76201"/>
                      <a:ext cx="942975" cy="828675"/>
                      <a:chOff x="28575" y="-76201"/>
                      <a:chExt cx="942975" cy="828675"/>
                    </a:xfrm>
                  </p:grpSpPr>
                  <p:sp>
                    <p:nvSpPr>
                      <p:cNvPr id="65" name="Text Box 186"/>
                      <p:cNvSpPr txBox="1"/>
                      <p:nvPr/>
                    </p:nvSpPr>
                    <p:spPr>
                      <a:xfrm>
                        <a:off x="28575" y="209549"/>
                        <a:ext cx="447675" cy="54292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2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.</a:t>
                        </a:r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66" name="Text Box 187"/>
                      <p:cNvSpPr txBox="1"/>
                      <p:nvPr/>
                    </p:nvSpPr>
                    <p:spPr>
                      <a:xfrm>
                        <a:off x="238125" y="-76201"/>
                        <a:ext cx="409575" cy="58102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2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.</a:t>
                        </a:r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67" name="Text Box 188"/>
                      <p:cNvSpPr txBox="1"/>
                      <p:nvPr/>
                    </p:nvSpPr>
                    <p:spPr>
                      <a:xfrm>
                        <a:off x="619125" y="200025"/>
                        <a:ext cx="352425" cy="457200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:r>
                          <a:rPr lang="en-US" sz="26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.</a:t>
                        </a:r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grpSp>
                  <p:nvGrpSpPr>
                    <p:cNvPr id="62" name="Group 61"/>
                    <p:cNvGrpSpPr/>
                    <p:nvPr/>
                  </p:nvGrpSpPr>
                  <p:grpSpPr>
                    <a:xfrm>
                      <a:off x="0" y="257175"/>
                      <a:ext cx="847725" cy="276225"/>
                      <a:chOff x="0" y="0"/>
                      <a:chExt cx="847725" cy="276225"/>
                    </a:xfrm>
                  </p:grpSpPr>
                  <p:cxnSp>
                    <p:nvCxnSpPr>
                      <p:cNvPr id="63" name="Straight Connector 62"/>
                      <p:cNvCxnSpPr/>
                      <p:nvPr/>
                    </p:nvCxnSpPr>
                    <p:spPr>
                      <a:xfrm>
                        <a:off x="485775" y="9525"/>
                        <a:ext cx="361950" cy="266700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ysClr val="windowText" lastClr="000000"/>
                        </a:solidFill>
                        <a:prstDash val="dash"/>
                        <a:miter lim="800000"/>
                      </a:ln>
                      <a:effectLst/>
                    </p:spPr>
                  </p:cxnSp>
                  <p:cxnSp>
                    <p:nvCxnSpPr>
                      <p:cNvPr id="64" name="Straight Connector 63"/>
                      <p:cNvCxnSpPr/>
                      <p:nvPr/>
                    </p:nvCxnSpPr>
                    <p:spPr>
                      <a:xfrm>
                        <a:off x="0" y="0"/>
                        <a:ext cx="466725" cy="0"/>
                      </a:xfrm>
                      <a:prstGeom prst="line">
                        <a:avLst/>
                      </a:prstGeom>
                      <a:noFill/>
                      <a:ln w="6350" cap="flat" cmpd="sng" algn="ctr">
                        <a:solidFill>
                          <a:sysClr val="windowText" lastClr="000000"/>
                        </a:solidFill>
                        <a:prstDash val="dash"/>
                        <a:miter lim="800000"/>
                      </a:ln>
                      <a:effectLst/>
                    </p:spPr>
                  </p:cxnSp>
                </p:grp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0" name="Text Box 192"/>
                      <p:cNvSpPr txBox="1"/>
                      <p:nvPr/>
                    </p:nvSpPr>
                    <p:spPr>
                      <a:xfrm>
                        <a:off x="504825" y="266700"/>
                        <a:ext cx="542925" cy="257175"/>
                      </a:xfrm>
                      <a:prstGeom prst="rect">
                        <a:avLst/>
                      </a:prstGeom>
                      <a:solidFill>
                        <a:sysClr val="window" lastClr="FFFFFF"/>
                      </a:solid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1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11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0" name="Text Box 19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4825" y="266700"/>
                        <a:ext cx="542925" cy="257175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 w="6350">
                        <a:solidFill>
                          <a:sysClr val="window" lastClr="FFFFFF"/>
                        </a:solidFill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54" name="Arc 53"/>
                <p:cNvSpPr/>
                <p:nvPr/>
              </p:nvSpPr>
              <p:spPr>
                <a:xfrm rot="10800000">
                  <a:off x="971550" y="447675"/>
                  <a:ext cx="1777365" cy="913130"/>
                </a:xfrm>
                <a:prstGeom prst="arc">
                  <a:avLst>
                    <a:gd name="adj1" fmla="val 16200000"/>
                    <a:gd name="adj2" fmla="val 5266993"/>
                  </a:avLst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55" name="Straight Arrow Connector 54"/>
                <p:cNvCxnSpPr/>
                <p:nvPr/>
              </p:nvCxnSpPr>
              <p:spPr>
                <a:xfrm flipV="1">
                  <a:off x="238125" y="885825"/>
                  <a:ext cx="2247900" cy="45719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  <p:cxnSp>
              <p:nvCxnSpPr>
                <p:cNvPr id="56" name="Straight Arrow Connector 55"/>
                <p:cNvCxnSpPr/>
                <p:nvPr/>
              </p:nvCxnSpPr>
              <p:spPr>
                <a:xfrm flipV="1">
                  <a:off x="985563" y="49359"/>
                  <a:ext cx="1913" cy="1627043"/>
                </a:xfrm>
                <a:prstGeom prst="straightConnector1">
                  <a:avLst/>
                </a:prstGeom>
                <a:noFill/>
                <a:ln w="6350" cap="flat" cmpd="sng" algn="ctr">
                  <a:solidFill>
                    <a:sysClr val="windowText" lastClr="000000"/>
                  </a:solidFill>
                  <a:prstDash val="solid"/>
                  <a:miter lim="800000"/>
                  <a:headEnd type="triangle"/>
                  <a:tailEnd type="triangle"/>
                </a:ln>
                <a:effectLst/>
              </p:spPr>
            </p:cxnSp>
          </p:grpSp>
        </p:grpSp>
        <p:grpSp>
          <p:nvGrpSpPr>
            <p:cNvPr id="44" name="Group 43"/>
            <p:cNvGrpSpPr/>
            <p:nvPr/>
          </p:nvGrpSpPr>
          <p:grpSpPr>
            <a:xfrm>
              <a:off x="723900" y="962025"/>
              <a:ext cx="819150" cy="1007110"/>
              <a:chOff x="0" y="0"/>
              <a:chExt cx="819150" cy="1007110"/>
            </a:xfrm>
          </p:grpSpPr>
          <p:sp>
            <p:nvSpPr>
              <p:cNvPr id="48" name="Text Box 197"/>
              <p:cNvSpPr txBox="1"/>
              <p:nvPr/>
            </p:nvSpPr>
            <p:spPr>
              <a:xfrm>
                <a:off x="133350" y="762000"/>
                <a:ext cx="685800" cy="24511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i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Puncak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9" name="Straight Arrow Connector 48"/>
              <p:cNvCxnSpPr/>
              <p:nvPr/>
            </p:nvCxnSpPr>
            <p:spPr>
              <a:xfrm flipH="1" flipV="1">
                <a:off x="0" y="0"/>
                <a:ext cx="323850" cy="77152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dash"/>
                <a:miter lim="800000"/>
                <a:tailEnd type="triangle"/>
              </a:ln>
              <a:effectLst/>
            </p:spPr>
          </p:cxnSp>
        </p:grpSp>
        <p:grpSp>
          <p:nvGrpSpPr>
            <p:cNvPr id="45" name="Group 44"/>
            <p:cNvGrpSpPr/>
            <p:nvPr/>
          </p:nvGrpSpPr>
          <p:grpSpPr>
            <a:xfrm>
              <a:off x="47625" y="1514475"/>
              <a:ext cx="771525" cy="478328"/>
              <a:chOff x="0" y="0"/>
              <a:chExt cx="685800" cy="521335"/>
            </a:xfrm>
          </p:grpSpPr>
          <p:sp>
            <p:nvSpPr>
              <p:cNvPr id="46" name="Text Box 200"/>
              <p:cNvSpPr txBox="1"/>
              <p:nvPr/>
            </p:nvSpPr>
            <p:spPr>
              <a:xfrm>
                <a:off x="0" y="276225"/>
                <a:ext cx="685800" cy="245110"/>
              </a:xfrm>
              <a:prstGeom prst="rect">
                <a:avLst/>
              </a:prstGeom>
              <a:solidFill>
                <a:sysClr val="window" lastClr="FFFFFF"/>
              </a:solidFill>
              <a:ln w="6350">
                <a:solidFill>
                  <a:sysClr val="window" lastClr="FFFFFF"/>
                </a:solidFill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100" i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Direktris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flipV="1">
                <a:off x="377826" y="0"/>
                <a:ext cx="0" cy="27622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dash"/>
                <a:miter lim="800000"/>
                <a:tailEnd type="triangle"/>
              </a:ln>
              <a:effectLst/>
            </p:spPr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462935" y="2500389"/>
                <a:ext cx="823660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0"/>
                  </a:spcAf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Baku Parabola: 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  <a:tabLst>
                    <a:tab pos="4105275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𝑝𝑥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parabola dengan puncak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terbuka ke kanan, untuk yang lainnya dengan cara yang sama didapat: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  <a:tabLst>
                    <a:tab pos="4105275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=−4</m:t>
                    </m:r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𝑝𝑥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parabola dengan puncak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terbuka ke kiri.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  <a:tabLst>
                    <a:tab pos="4105275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𝑝𝑦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parabola dengan puncak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terbuka ke atas.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  <a:tabLst>
                    <a:tab pos="4105275" algn="l"/>
                  </a:tabLst>
                </a:pPr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Persamaan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=−4</m:t>
                    </m:r>
                    <m:r>
                      <a:rPr lang="id-ID" sz="16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𝑝𝑦</m:t>
                    </m:r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parabola dengan puncak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id-ID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0,0</m:t>
                        </m:r>
                      </m:e>
                    </m:d>
                  </m:oMath>
                </a14:m>
                <a:r>
                  <a:rPr lang="id-ID" sz="16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terbuka ke bawah.</a:t>
                </a:r>
                <a:endParaRPr lang="en-US" sz="16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35" y="2500389"/>
                <a:ext cx="8236606" cy="1569660"/>
              </a:xfrm>
              <a:prstGeom prst="rect">
                <a:avLst/>
              </a:prstGeom>
              <a:blipFill>
                <a:blip r:embed="rId12"/>
                <a:stretch>
                  <a:fillRect l="-444" t="-1550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/>
          <p:cNvSpPr/>
          <p:nvPr/>
        </p:nvSpPr>
        <p:spPr>
          <a:xfrm>
            <a:off x="236247" y="4149213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Untuk mendapatkan persamaan baku kurva parabola: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 empat bentuk persamaan baku kurva parabola (tergantung posisi kurvanya), salah satu adalah: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09094" y="4818315"/>
            <a:ext cx="515389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id-ID" sz="1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Contoh: 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Ambil titik 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𝑃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𝑥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𝑦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sebarang pada kurva parabola,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menurut definisi bahwa jarak dari titik 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𝑃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ke titik fokus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atau 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𝐹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𝑝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,0)  adalah sama dengan jarak dari titik 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𝑃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ke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garis direktris dengan titik 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𝐷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(−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𝑝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id-ID" sz="1600" dirty="0"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𝑦</a:t>
            </a:r>
            <a:r>
              <a:rPr lang="id-ID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(lihat gambar</a:t>
            </a:r>
            <a:r>
              <a:rPr lang="id-ID" sz="16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3" name="Picture 72"/>
          <p:cNvPicPr/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361" y="4852129"/>
            <a:ext cx="2649855" cy="1714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289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70" grpId="0"/>
      <p:bldP spid="71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1"/>
            <a:ext cx="6181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Slide 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9094" y="1276267"/>
            <a:ext cx="8647613" cy="87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28900" marR="0" indent="-24003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Tugas: Halaman 57 (Nomor 9 dan 18), Halaman 62 (Nomor 6 dan 12</a:t>
            </a:r>
            <a:r>
              <a:rPr lang="id-ID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en-US" sz="22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28900" marR="0" indent="-24003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id-ID" sz="22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Halaman 68 (Nomor 16 c,e), Halaman 74 (Nomor 4, 16 a,b)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93" y="2441589"/>
            <a:ext cx="8321614" cy="2873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8902" y="391913"/>
                <a:ext cx="7604973" cy="7694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id-ID" sz="22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Contoh: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Sketsalah grafik, dapatkan titik fokus, puncak dan </a:t>
                </a:r>
                <a:endParaRPr lang="id-ID" sz="2200" dirty="0" smtClean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           garis 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direktrisnya dari</a:t>
                </a:r>
                <a:r>
                  <a:rPr lang="id-ID" sz="2200" dirty="0" smtClean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a</a:t>
                </a:r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=12</m:t>
                    </m:r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id-ID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+8</m:t>
                    </m:r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id-ID" sz="22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id-ID" sz="22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   </a:t>
                </a:r>
                <a:endParaRPr lang="en-US" sz="22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02" y="391913"/>
                <a:ext cx="7604973" cy="769441"/>
              </a:xfrm>
              <a:prstGeom prst="rect">
                <a:avLst/>
              </a:prstGeom>
              <a:blipFill>
                <a:blip r:embed="rId3"/>
                <a:stretch>
                  <a:fillRect l="-1042" t="-4724" b="-14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86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777</TotalTime>
  <Words>909</Words>
  <Application>Microsoft Office PowerPoint</Application>
  <PresentationFormat>On-screen Show (4:3)</PresentationFormat>
  <Paragraphs>168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Amanda</cp:lastModifiedBy>
  <cp:revision>62</cp:revision>
  <dcterms:created xsi:type="dcterms:W3CDTF">2018-09-16T11:33:12Z</dcterms:created>
  <dcterms:modified xsi:type="dcterms:W3CDTF">2026-02-27T20:22:18Z</dcterms:modified>
</cp:coreProperties>
</file>