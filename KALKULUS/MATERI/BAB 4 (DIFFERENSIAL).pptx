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58" r:id="rId5"/>
    <p:sldId id="257" r:id="rId6"/>
    <p:sldId id="259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9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34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7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7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8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45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7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0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8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3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8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0115A-3449-48E5-8332-85930E1D768B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716FA-3BD9-4BD6-915E-C0F7B6796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0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71.png"/><Relationship Id="rId3" Type="http://schemas.openxmlformats.org/officeDocument/2006/relationships/image" Target="../media/image171.png"/><Relationship Id="rId7" Type="http://schemas.openxmlformats.org/officeDocument/2006/relationships/image" Target="../media/image211.png"/><Relationship Id="rId12" Type="http://schemas.openxmlformats.org/officeDocument/2006/relationships/image" Target="../media/image261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11" Type="http://schemas.openxmlformats.org/officeDocument/2006/relationships/image" Target="../media/image251.png"/><Relationship Id="rId5" Type="http://schemas.openxmlformats.org/officeDocument/2006/relationships/image" Target="../media/image53.png"/><Relationship Id="rId10" Type="http://schemas.openxmlformats.org/officeDocument/2006/relationships/image" Target="../media/image54.png"/><Relationship Id="rId4" Type="http://schemas.openxmlformats.org/officeDocument/2006/relationships/image" Target="../media/image181.png"/><Relationship Id="rId9" Type="http://schemas.openxmlformats.org/officeDocument/2006/relationships/image" Target="../media/image231.png"/><Relationship Id="rId14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270.png"/><Relationship Id="rId3" Type="http://schemas.openxmlformats.org/officeDocument/2006/relationships/image" Target="../media/image541.png"/><Relationship Id="rId7" Type="http://schemas.openxmlformats.org/officeDocument/2006/relationships/image" Target="../media/image210.png"/><Relationship Id="rId12" Type="http://schemas.openxmlformats.org/officeDocument/2006/relationships/image" Target="../media/image260.png"/><Relationship Id="rId2" Type="http://schemas.openxmlformats.org/officeDocument/2006/relationships/image" Target="../media/image160.png"/><Relationship Id="rId16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50.png"/><Relationship Id="rId5" Type="http://schemas.openxmlformats.org/officeDocument/2006/relationships/image" Target="../media/image190.png"/><Relationship Id="rId15" Type="http://schemas.openxmlformats.org/officeDocument/2006/relationships/image" Target="../media/image301.png"/><Relationship Id="rId10" Type="http://schemas.openxmlformats.org/officeDocument/2006/relationships/image" Target="../media/image24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Relationship Id="rId14" Type="http://schemas.openxmlformats.org/officeDocument/2006/relationships/image" Target="../media/image2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320.png"/><Relationship Id="rId7" Type="http://schemas.openxmlformats.org/officeDocument/2006/relationships/image" Target="../media/image36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11" Type="http://schemas.openxmlformats.org/officeDocument/2006/relationships/image" Target="../media/image58.png"/><Relationship Id="rId5" Type="http://schemas.openxmlformats.org/officeDocument/2006/relationships/image" Target="../media/image340.png"/><Relationship Id="rId10" Type="http://schemas.openxmlformats.org/officeDocument/2006/relationships/image" Target="../media/image57.png"/><Relationship Id="rId4" Type="http://schemas.openxmlformats.org/officeDocument/2006/relationships/image" Target="../media/image330.png"/><Relationship Id="rId9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0" y="71735"/>
            <a:ext cx="24608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sz="2400" b="1" dirty="0" smtClean="0">
                <a:latin typeface="Times New Roman" pitchFamily="18" charset="0"/>
                <a:cs typeface="Times New Roman" pitchFamily="18" charset="0"/>
              </a:rPr>
              <a:t>DIFERENSIASI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1705" y="615748"/>
            <a:ext cx="4286430" cy="4546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marR="127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114300" algn="l"/>
              </a:tabLst>
            </a:pP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Kemiringan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garis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singgung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991" y="53927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1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89195" y="1001625"/>
                <a:ext cx="7588006" cy="4216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4300" marR="1270" indent="-11430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tabLst>
                    <a:tab pos="114300" algn="l"/>
                  </a:tabLst>
                </a:pPr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Perhatikan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suatu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garis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singgung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fungsi</a:t>
                </a:r>
                <a:r>
                  <a:rPr lang="en-US" sz="20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pada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gambar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dibawah</a:t>
                </a:r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95" y="1001625"/>
                <a:ext cx="7588006" cy="421654"/>
              </a:xfrm>
              <a:prstGeom prst="rect">
                <a:avLst/>
              </a:prstGeom>
              <a:blipFill rotWithShape="0">
                <a:blip r:embed="rId2"/>
                <a:stretch>
                  <a:fillRect l="-803" t="-7246" r="-803" b="-20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/>
          <p:cNvGrpSpPr/>
          <p:nvPr/>
        </p:nvGrpSpPr>
        <p:grpSpPr>
          <a:xfrm>
            <a:off x="5055705" y="1506884"/>
            <a:ext cx="2849245" cy="2045971"/>
            <a:chOff x="0" y="-15746"/>
            <a:chExt cx="2849494" cy="2046417"/>
          </a:xfrm>
        </p:grpSpPr>
        <p:grpSp>
          <p:nvGrpSpPr>
            <p:cNvPr id="38" name="Group 37"/>
            <p:cNvGrpSpPr/>
            <p:nvPr/>
          </p:nvGrpSpPr>
          <p:grpSpPr>
            <a:xfrm>
              <a:off x="0" y="0"/>
              <a:ext cx="2849494" cy="2016056"/>
              <a:chOff x="0" y="0"/>
              <a:chExt cx="2849494" cy="2006267"/>
            </a:xfrm>
          </p:grpSpPr>
          <p:cxnSp>
            <p:nvCxnSpPr>
              <p:cNvPr id="48" name="Straight Arrow Connector 47"/>
              <p:cNvCxnSpPr/>
              <p:nvPr/>
            </p:nvCxnSpPr>
            <p:spPr>
              <a:xfrm flipV="1">
                <a:off x="219394" y="1774492"/>
                <a:ext cx="2467223" cy="27258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tailEnd type="arrow"/>
              </a:ln>
              <a:effectLst/>
            </p:spPr>
          </p:cxnSp>
          <p:cxnSp>
            <p:nvCxnSpPr>
              <p:cNvPr id="49" name="Straight Arrow Connector 48"/>
              <p:cNvCxnSpPr/>
              <p:nvPr/>
            </p:nvCxnSpPr>
            <p:spPr>
              <a:xfrm flipV="1">
                <a:off x="219394" y="0"/>
                <a:ext cx="0" cy="1806855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tailEnd type="arrow"/>
              </a:ln>
              <a:effectLst/>
            </p:spPr>
          </p:cxnSp>
          <p:cxnSp>
            <p:nvCxnSpPr>
              <p:cNvPr id="50" name="Straight Connector 49"/>
              <p:cNvCxnSpPr/>
              <p:nvPr/>
            </p:nvCxnSpPr>
            <p:spPr>
              <a:xfrm flipV="1">
                <a:off x="393876" y="393425"/>
                <a:ext cx="1882755" cy="1057178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1689750" y="972922"/>
                <a:ext cx="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52" name="Straight Connector 51"/>
              <p:cNvCxnSpPr/>
              <p:nvPr/>
            </p:nvCxnSpPr>
            <p:spPr>
              <a:xfrm flipV="1">
                <a:off x="512366" y="246606"/>
                <a:ext cx="381092" cy="142513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sp>
            <p:nvSpPr>
              <p:cNvPr id="53" name="Arc 52"/>
              <p:cNvSpPr/>
              <p:nvPr/>
            </p:nvSpPr>
            <p:spPr>
              <a:xfrm rot="14246727">
                <a:off x="750727" y="489708"/>
                <a:ext cx="1169736" cy="1524667"/>
              </a:xfrm>
              <a:prstGeom prst="arc">
                <a:avLst>
                  <a:gd name="adj1" fmla="val 16474814"/>
                  <a:gd name="adj2" fmla="val 5720008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4" name="Text Box 23"/>
              <p:cNvSpPr txBox="1"/>
              <p:nvPr/>
            </p:nvSpPr>
            <p:spPr>
              <a:xfrm>
                <a:off x="453156" y="878114"/>
                <a:ext cx="352478" cy="723682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6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5" name="Text Box 153"/>
              <p:cNvSpPr txBox="1"/>
              <p:nvPr/>
            </p:nvSpPr>
            <p:spPr>
              <a:xfrm>
                <a:off x="0" y="5306"/>
                <a:ext cx="289560" cy="2413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i="1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6" name="Text Box 27"/>
              <p:cNvSpPr txBox="1"/>
              <p:nvPr/>
            </p:nvSpPr>
            <p:spPr>
              <a:xfrm>
                <a:off x="2552949" y="1764967"/>
                <a:ext cx="296545" cy="2413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i="1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 Box 155"/>
                  <p:cNvSpPr txBox="1"/>
                  <p:nvPr/>
                </p:nvSpPr>
                <p:spPr>
                  <a:xfrm>
                    <a:off x="685424" y="1123263"/>
                    <a:ext cx="343814" cy="248717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1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7" name="Text Box 1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5424" y="1123263"/>
                    <a:ext cx="343814" cy="248717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 Box 156"/>
                  <p:cNvSpPr txBox="1"/>
                  <p:nvPr/>
                </p:nvSpPr>
                <p:spPr>
                  <a:xfrm>
                    <a:off x="1730849" y="887491"/>
                    <a:ext cx="927955" cy="248716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8" name="Text Box 1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30849" y="887491"/>
                    <a:ext cx="927955" cy="24871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9" name="Text Box 157"/>
              <p:cNvSpPr txBox="1"/>
              <p:nvPr/>
            </p:nvSpPr>
            <p:spPr>
              <a:xfrm>
                <a:off x="34215" y="1721077"/>
                <a:ext cx="197510" cy="241392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 Box 321"/>
                  <p:cNvSpPr txBox="1"/>
                  <p:nvPr/>
                </p:nvSpPr>
                <p:spPr>
                  <a:xfrm>
                    <a:off x="354786" y="1161004"/>
                    <a:ext cx="359213" cy="226772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 Box 3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4786" y="1161004"/>
                    <a:ext cx="359213" cy="226772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 Box 322"/>
                  <p:cNvSpPr txBox="1"/>
                  <p:nvPr/>
                </p:nvSpPr>
                <p:spPr>
                  <a:xfrm>
                    <a:off x="1656464" y="419931"/>
                    <a:ext cx="270662" cy="241402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𝑄</m:t>
                          </m:r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1" name="Text Box 3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6464" y="419931"/>
                    <a:ext cx="270662" cy="241402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b="-2500"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 Box 324"/>
                  <p:cNvSpPr txBox="1"/>
                  <p:nvPr/>
                </p:nvSpPr>
                <p:spPr>
                  <a:xfrm>
                    <a:off x="1880311" y="653404"/>
                    <a:ext cx="672638" cy="234087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2" name="Text Box 3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0311" y="653404"/>
                    <a:ext cx="672638" cy="234087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Arc 62"/>
              <p:cNvSpPr/>
              <p:nvPr/>
            </p:nvSpPr>
            <p:spPr>
              <a:xfrm>
                <a:off x="893458" y="1155337"/>
                <a:ext cx="58115" cy="309133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324"/>
                <p:cNvSpPr txBox="1"/>
                <p:nvPr/>
              </p:nvSpPr>
              <p:spPr>
                <a:xfrm>
                  <a:off x="476250" y="-15746"/>
                  <a:ext cx="1001101" cy="23482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𝐺𝑎𝑟𝑖𝑠</m:t>
                        </m:r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𝑠𝑖𝑛𝑔𝑔𝑢𝑛𝑔</m:t>
                        </m:r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 Box 3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250" y="-15746"/>
                  <a:ext cx="1001101" cy="2348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324"/>
                <p:cNvSpPr txBox="1"/>
                <p:nvPr/>
              </p:nvSpPr>
              <p:spPr>
                <a:xfrm>
                  <a:off x="1730849" y="160525"/>
                  <a:ext cx="773993" cy="23482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𝐺𝑎𝑟𝑖𝑠</m:t>
                        </m:r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𝑠𝑒𝑐𝑎𝑛</m:t>
                        </m:r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 Box 3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849" y="160525"/>
                  <a:ext cx="773993" cy="23482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Connector 40"/>
            <p:cNvCxnSpPr/>
            <p:nvPr/>
          </p:nvCxnSpPr>
          <p:spPr>
            <a:xfrm flipV="1">
              <a:off x="1790700" y="657225"/>
              <a:ext cx="0" cy="111826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42" name="Straight Connector 41"/>
            <p:cNvCxnSpPr/>
            <p:nvPr/>
          </p:nvCxnSpPr>
          <p:spPr>
            <a:xfrm flipV="1">
              <a:off x="638175" y="1295400"/>
              <a:ext cx="1200150" cy="3252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43" name="Straight Connector 42"/>
            <p:cNvCxnSpPr/>
            <p:nvPr/>
          </p:nvCxnSpPr>
          <p:spPr>
            <a:xfrm>
              <a:off x="609600" y="1352550"/>
              <a:ext cx="0" cy="45835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156"/>
                <p:cNvSpPr txBox="1"/>
                <p:nvPr/>
              </p:nvSpPr>
              <p:spPr>
                <a:xfrm>
                  <a:off x="981075" y="1295400"/>
                  <a:ext cx="607456" cy="249496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9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 Box 1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75" y="1295400"/>
                  <a:ext cx="607456" cy="249496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156"/>
                <p:cNvSpPr txBox="1"/>
                <p:nvPr/>
              </p:nvSpPr>
              <p:spPr>
                <a:xfrm>
                  <a:off x="466725" y="1762125"/>
                  <a:ext cx="329383" cy="249496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 Box 1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725" y="1762125"/>
                  <a:ext cx="329383" cy="249496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 Box 156"/>
                <p:cNvSpPr txBox="1"/>
                <p:nvPr/>
              </p:nvSpPr>
              <p:spPr>
                <a:xfrm>
                  <a:off x="1657350" y="1781175"/>
                  <a:ext cx="315300" cy="249496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 Box 1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350" y="1781175"/>
                  <a:ext cx="315300" cy="249496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 Box 23"/>
            <p:cNvSpPr txBox="1"/>
            <p:nvPr/>
          </p:nvSpPr>
          <p:spPr>
            <a:xfrm>
              <a:off x="1647828" y="219125"/>
              <a:ext cx="307875" cy="696794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3600" kern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507765" y="1371600"/>
                <a:ext cx="4369035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Jika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adalah</a:t>
                </a:r>
              </a:p>
              <a:p>
                <a:r>
                  <a:rPr lang="en-US" sz="20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dua</a:t>
                </a:r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titik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berbeda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pada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fungsi</a:t>
                </a:r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65" y="1371600"/>
                <a:ext cx="4369035" cy="707886"/>
              </a:xfrm>
              <a:prstGeom prst="rect">
                <a:avLst/>
              </a:prstGeom>
              <a:blipFill rotWithShape="0">
                <a:blip r:embed="rId13"/>
                <a:stretch>
                  <a:fillRect l="-1395" t="-4310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492805" y="2057400"/>
                <a:ext cx="440765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maka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garis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yang </a:t>
                </a:r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menghubungkan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titik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endParaRPr lang="en-US" sz="20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dan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memiliki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kemiringan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:endParaRPr lang="en-US" sz="2000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05" y="2057400"/>
                <a:ext cx="4407652" cy="707886"/>
              </a:xfrm>
              <a:prstGeom prst="rect">
                <a:avLst/>
              </a:prstGeom>
              <a:blipFill rotWithShape="0">
                <a:blip r:embed="rId14"/>
                <a:stretch>
                  <a:fillRect l="-1521" t="-5172" b="-12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1298358" y="2763330"/>
                <a:ext cx="2589427" cy="74187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𝑃𝑄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358" y="2763330"/>
                <a:ext cx="2589427" cy="74187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406282" y="3505200"/>
                <a:ext cx="820431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Jika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bergerak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mendekati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maka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akan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bergerak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pada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fungsi</a:t>
                </a:r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82" y="3505200"/>
                <a:ext cx="8204318" cy="400110"/>
              </a:xfrm>
              <a:prstGeom prst="rect">
                <a:avLst/>
              </a:prstGeom>
              <a:blipFill rotWithShape="0">
                <a:blip r:embed="rId16"/>
                <a:stretch>
                  <a:fillRect l="-817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457199" y="3886200"/>
                <a:ext cx="7924801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mendekati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titik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garis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yang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melalui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dan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akan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menghampiri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garis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singgung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di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titik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ditulis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3886200"/>
                <a:ext cx="7924801" cy="707886"/>
              </a:xfrm>
              <a:prstGeom prst="rect">
                <a:avLst/>
              </a:prstGeom>
              <a:blipFill rotWithShape="0">
                <a:blip r:embed="rId17"/>
                <a:stretch>
                  <a:fillRect l="-769" t="-5172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3766565" y="4287330"/>
                <a:ext cx="3160481" cy="74187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𝑡𝑔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565" y="4287330"/>
                <a:ext cx="3160481" cy="74187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381000" y="5105400"/>
            <a:ext cx="4574970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" marR="127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Laju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Perubahan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Rata-Rata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Sesaat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03710" y="5486400"/>
            <a:ext cx="7978290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marR="127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Kecepatan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dipandang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laju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perubahan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laju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perubahan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posisi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terhadap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waktu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didefinisikan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60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64" grpId="0"/>
      <p:bldP spid="65" grpId="0"/>
      <p:bldP spid="66" grpId="0" animBg="1"/>
      <p:bldP spid="67" grpId="0"/>
      <p:bldP spid="68" grpId="0"/>
      <p:bldP spid="69" grpId="0" animBg="1"/>
      <p:bldP spid="70" grpId="0"/>
      <p:bldP spid="7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991" y="53927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2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69861" y="361704"/>
                <a:ext cx="8038382" cy="7310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err="1">
                    <a:latin typeface="Times New Roman" panose="02020603050405020304" pitchFamily="18" charset="0"/>
                    <a:ea typeface="Calibri" panose="020F0502020204030204" pitchFamily="34" charset="0"/>
                  </a:rPr>
                  <a:t>Definisi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Jika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maka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laju</a:t>
                </a:r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perubahan</a:t>
                </a:r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rata-rata </a:t>
                </a:r>
                <a:r>
                  <a:rPr lang="en-US" sz="2000" b="1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dari</a:t>
                </a:r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𝒚</m:t>
                    </m:r>
                  </m:oMath>
                </a14:m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terhadap</a:t>
                </a:r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endParaRPr lang="en-US" sz="2000" b="1" i="1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US" sz="2000" b="1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i="1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</a:t>
                </a:r>
                <a:r>
                  <a:rPr lang="en-US" sz="2000" b="1" i="1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pada </a:t>
                </a:r>
                <a:r>
                  <a:rPr lang="en-US" sz="2000" b="1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selang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adalah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kemiringan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𝑃𝑄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garis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yang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61" y="361704"/>
                <a:ext cx="8038382" cy="731034"/>
              </a:xfrm>
              <a:prstGeom prst="rect">
                <a:avLst/>
              </a:prstGeom>
              <a:blipFill rotWithShape="0">
                <a:blip r:embed="rId2"/>
                <a:stretch>
                  <a:fillRect l="-758" t="-4167" b="-1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371600" y="984824"/>
                <a:ext cx="7010400" cy="879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628650" marR="1270" indent="-57150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menghubungkan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titik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pada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grafik</a:t>
                </a:r>
                <a:endParaRPr lang="en-US" sz="20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28650" marR="1270" indent="-57150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lihat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gambar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984824"/>
                <a:ext cx="7010400" cy="879664"/>
              </a:xfrm>
              <a:prstGeom prst="rect">
                <a:avLst/>
              </a:prstGeom>
              <a:blipFill rotWithShape="0">
                <a:blip r:embed="rId3"/>
                <a:stretch>
                  <a:fillRect l="-87" t="-694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5181600" y="1524000"/>
            <a:ext cx="2971801" cy="1976120"/>
            <a:chOff x="0" y="142875"/>
            <a:chExt cx="3036242" cy="1976120"/>
          </a:xfrm>
        </p:grpSpPr>
        <p:cxnSp>
          <p:nvCxnSpPr>
            <p:cNvPr id="10" name="Straight Connector 9"/>
            <p:cNvCxnSpPr/>
            <p:nvPr/>
          </p:nvCxnSpPr>
          <p:spPr>
            <a:xfrm flipH="1">
              <a:off x="409575" y="752475"/>
              <a:ext cx="1558703" cy="1055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/>
            <p:cNvGrpSpPr/>
            <p:nvPr/>
          </p:nvGrpSpPr>
          <p:grpSpPr>
            <a:xfrm>
              <a:off x="0" y="142875"/>
              <a:ext cx="3036242" cy="1976120"/>
              <a:chOff x="952500" y="142875"/>
              <a:chExt cx="3036242" cy="1976120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1090624" y="142875"/>
                <a:ext cx="2898118" cy="1976120"/>
                <a:chOff x="-43234" y="53002"/>
                <a:chExt cx="2898623" cy="1977669"/>
              </a:xfrm>
            </p:grpSpPr>
            <p:grpSp>
              <p:nvGrpSpPr>
                <p:cNvPr id="15" name="Group 14"/>
                <p:cNvGrpSpPr/>
                <p:nvPr/>
              </p:nvGrpSpPr>
              <p:grpSpPr>
                <a:xfrm>
                  <a:off x="-43234" y="53002"/>
                  <a:ext cx="2898623" cy="1963335"/>
                  <a:chOff x="-43234" y="52747"/>
                  <a:chExt cx="2898623" cy="1953801"/>
                </a:xfrm>
              </p:grpSpPr>
              <p:cxnSp>
                <p:nvCxnSpPr>
                  <p:cNvPr id="24" name="Straight Arrow Connector 23"/>
                  <p:cNvCxnSpPr/>
                  <p:nvPr/>
                </p:nvCxnSpPr>
                <p:spPr>
                  <a:xfrm flipV="1">
                    <a:off x="219394" y="1774492"/>
                    <a:ext cx="2467223" cy="27258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ysClr val="windowText" lastClr="000000"/>
                    </a:solidFill>
                    <a:prstDash val="solid"/>
                    <a:tailEnd type="arrow"/>
                  </a:ln>
                  <a:effectLst/>
                </p:spPr>
              </p:cxnSp>
              <p:cxnSp>
                <p:nvCxnSpPr>
                  <p:cNvPr id="25" name="Straight Arrow Connector 24"/>
                  <p:cNvCxnSpPr/>
                  <p:nvPr/>
                </p:nvCxnSpPr>
                <p:spPr>
                  <a:xfrm flipV="1">
                    <a:off x="219394" y="151759"/>
                    <a:ext cx="8871" cy="1655097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ysClr val="windowText" lastClr="000000"/>
                    </a:solidFill>
                    <a:prstDash val="solid"/>
                    <a:tailEnd type="arrow"/>
                  </a:ln>
                  <a:effectLst/>
                </p:spPr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 flipV="1">
                    <a:off x="393876" y="393425"/>
                    <a:ext cx="1882755" cy="1057178"/>
                  </a:xfrm>
                  <a:prstGeom prst="line">
                    <a:avLst/>
                  </a:prstGeom>
                  <a:noFill/>
                  <a:ln w="9525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1689750" y="972922"/>
                    <a:ext cx="0" cy="0"/>
                  </a:xfrm>
                  <a:prstGeom prst="line">
                    <a:avLst/>
                  </a:prstGeom>
                  <a:noFill/>
                  <a:ln w="9525" cap="flat" cmpd="sng" algn="ctr">
                    <a:solidFill>
                      <a:srgbClr val="4F81BD">
                        <a:shade val="95000"/>
                        <a:satMod val="105000"/>
                      </a:srgbClr>
                    </a:solidFill>
                    <a:prstDash val="solid"/>
                  </a:ln>
                  <a:effectLst/>
                </p:spPr>
              </p:cxnSp>
              <p:sp>
                <p:nvSpPr>
                  <p:cNvPr id="28" name="Arc 27"/>
                  <p:cNvSpPr/>
                  <p:nvPr/>
                </p:nvSpPr>
                <p:spPr>
                  <a:xfrm rot="14246727">
                    <a:off x="750727" y="489708"/>
                    <a:ext cx="1169736" cy="1524667"/>
                  </a:xfrm>
                  <a:prstGeom prst="arc">
                    <a:avLst>
                      <a:gd name="adj1" fmla="val 16474814"/>
                      <a:gd name="adj2" fmla="val 5720008"/>
                    </a:avLst>
                  </a:prstGeom>
                  <a:noFill/>
                  <a:ln w="9525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" name="Text Box 23"/>
                  <p:cNvSpPr txBox="1"/>
                  <p:nvPr/>
                </p:nvSpPr>
                <p:spPr>
                  <a:xfrm>
                    <a:off x="475128" y="876708"/>
                    <a:ext cx="226064" cy="520441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36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.</a:t>
                    </a:r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" name="Text Box 153"/>
                  <p:cNvSpPr txBox="1"/>
                  <p:nvPr/>
                </p:nvSpPr>
                <p:spPr>
                  <a:xfrm>
                    <a:off x="-43234" y="52747"/>
                    <a:ext cx="295316" cy="241581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non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1000" i="1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Y</a:t>
                    </a:r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" name="Text Box 27"/>
                  <p:cNvSpPr txBox="1"/>
                  <p:nvPr/>
                </p:nvSpPr>
                <p:spPr>
                  <a:xfrm>
                    <a:off x="2552949" y="1764967"/>
                    <a:ext cx="302440" cy="241581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non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1000" i="1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X</a:t>
                    </a:r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 Box 156"/>
                      <p:cNvSpPr txBox="1"/>
                      <p:nvPr/>
                    </p:nvSpPr>
                    <p:spPr>
                      <a:xfrm>
                        <a:off x="1730849" y="887491"/>
                        <a:ext cx="927955" cy="248716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9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9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9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9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m:oMathPara>
                        </a14:m>
                        <a:endPara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2" name="Text Box 15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30849" y="887491"/>
                        <a:ext cx="927955" cy="248716"/>
                      </a:xfrm>
                      <a:prstGeom prst="rect">
                        <a:avLst/>
                      </a:prstGeom>
                      <a:blipFill rotWithShape="0">
                        <a:blip r:embed="rId4"/>
                        <a:stretch>
                          <a:fillRect/>
                        </a:stretch>
                      </a:blipFill>
                      <a:ln w="6350">
                        <a:noFill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3" name="Text Box 157"/>
                  <p:cNvSpPr txBox="1"/>
                  <p:nvPr/>
                </p:nvSpPr>
                <p:spPr>
                  <a:xfrm>
                    <a:off x="34215" y="1721077"/>
                    <a:ext cx="197510" cy="241392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1000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O</a:t>
                    </a:r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Text Box 321"/>
                      <p:cNvSpPr txBox="1"/>
                      <p:nvPr/>
                    </p:nvSpPr>
                    <p:spPr>
                      <a:xfrm>
                        <a:off x="393781" y="1062340"/>
                        <a:ext cx="359213" cy="226772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0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oMath>
                          </m:oMathPara>
                        </a14:m>
                        <a:endPara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4" name="Text Box 32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3781" y="1062340"/>
                        <a:ext cx="359213" cy="226772"/>
                      </a:xfrm>
                      <a:prstGeom prst="rect">
                        <a:avLst/>
                      </a:prstGeom>
                      <a:blipFill rotWithShape="0">
                        <a:blip r:embed="rId5"/>
                        <a:stretch>
                          <a:fillRect/>
                        </a:stretch>
                      </a:blipFill>
                      <a:ln w="6350">
                        <a:noFill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5" name="Text Box 322"/>
                      <p:cNvSpPr txBox="1"/>
                      <p:nvPr/>
                    </p:nvSpPr>
                    <p:spPr>
                      <a:xfrm>
                        <a:off x="1656464" y="419931"/>
                        <a:ext cx="270662" cy="241402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0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𝑄</m:t>
                              </m:r>
                            </m:oMath>
                          </m:oMathPara>
                        </a14:m>
                        <a:endPara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5" name="Text Box 32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56464" y="419931"/>
                        <a:ext cx="270662" cy="241402"/>
                      </a:xfrm>
                      <a:prstGeom prst="rect">
                        <a:avLst/>
                      </a:prstGeom>
                      <a:blipFill rotWithShape="0">
                        <a:blip r:embed="rId6"/>
                        <a:stretch>
                          <a:fillRect b="-2500"/>
                        </a:stretch>
                      </a:blipFill>
                      <a:ln w="6350">
                        <a:noFill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6" name="Text Box 324"/>
                      <p:cNvSpPr txBox="1"/>
                      <p:nvPr/>
                    </p:nvSpPr>
                    <p:spPr>
                      <a:xfrm>
                        <a:off x="1880311" y="653404"/>
                        <a:ext cx="672638" cy="234087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marL="0" marR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6" name="Text Box 32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80311" y="653404"/>
                        <a:ext cx="672638" cy="234087"/>
                      </a:xfrm>
                      <a:prstGeom prst="rect">
                        <a:avLst/>
                      </a:prstGeom>
                      <a:blipFill rotWithShape="0">
                        <a:blip r:embed="rId7"/>
                        <a:stretch>
                          <a:fillRect/>
                        </a:stretch>
                      </a:blipFill>
                      <a:ln w="6350">
                        <a:noFill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 Box 324"/>
                    <p:cNvSpPr txBox="1"/>
                    <p:nvPr/>
                  </p:nvSpPr>
                  <p:spPr>
                    <a:xfrm>
                      <a:off x="2138123" y="351282"/>
                      <a:ext cx="447613" cy="234820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𝑃𝑄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Text Box 3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38123" y="351282"/>
                      <a:ext cx="447613" cy="234820"/>
                    </a:xfrm>
                    <a:prstGeom prst="rect">
                      <a:avLst/>
                    </a:prstGeom>
                    <a:blipFill rotWithShape="0">
                      <a:blip r:embed="rId8"/>
                      <a:stretch>
                        <a:fillRect/>
                      </a:stretch>
                    </a:blipFill>
                    <a:ln w="6350"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" name="Straight Connector 16"/>
                <p:cNvCxnSpPr/>
                <p:nvPr/>
              </p:nvCxnSpPr>
              <p:spPr>
                <a:xfrm flipV="1">
                  <a:off x="1790700" y="657225"/>
                  <a:ext cx="0" cy="1118269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dash"/>
                </a:ln>
                <a:effectLst/>
              </p:spPr>
            </p:cxnSp>
            <p:cxnSp>
              <p:nvCxnSpPr>
                <p:cNvPr id="18" name="Straight Connector 17"/>
                <p:cNvCxnSpPr/>
                <p:nvPr/>
              </p:nvCxnSpPr>
              <p:spPr>
                <a:xfrm flipV="1">
                  <a:off x="231725" y="1295401"/>
                  <a:ext cx="1606600" cy="57149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dash"/>
                </a:ln>
                <a:effectLst/>
              </p:spPr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609600" y="1352550"/>
                  <a:ext cx="0" cy="458353"/>
                </a:xfrm>
                <a:prstGeom prst="line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dash"/>
                </a:ln>
                <a:effectLst/>
              </p:spPr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 Box 156"/>
                    <p:cNvSpPr txBox="1"/>
                    <p:nvPr/>
                  </p:nvSpPr>
                  <p:spPr>
                    <a:xfrm>
                      <a:off x="981075" y="1295400"/>
                      <a:ext cx="607456" cy="24949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Text Box 15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1075" y="1295400"/>
                      <a:ext cx="607456" cy="249496"/>
                    </a:xfrm>
                    <a:prstGeom prst="rect">
                      <a:avLst/>
                    </a:prstGeom>
                    <a:blipFill rotWithShape="0">
                      <a:blip r:embed="rId9"/>
                      <a:stretch>
                        <a:fillRect/>
                      </a:stretch>
                    </a:blipFill>
                    <a:ln w="6350"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 Box 156"/>
                    <p:cNvSpPr txBox="1"/>
                    <p:nvPr/>
                  </p:nvSpPr>
                  <p:spPr>
                    <a:xfrm>
                      <a:off x="466725" y="1762125"/>
                      <a:ext cx="329383" cy="24949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Text Box 15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6725" y="1762125"/>
                      <a:ext cx="329383" cy="249496"/>
                    </a:xfrm>
                    <a:prstGeom prst="rect">
                      <a:avLst/>
                    </a:prstGeom>
                    <a:blipFill rotWithShape="0">
                      <a:blip r:embed="rId10"/>
                      <a:stretch>
                        <a:fillRect/>
                      </a:stretch>
                    </a:blipFill>
                    <a:ln w="6350"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 Box 156"/>
                    <p:cNvSpPr txBox="1"/>
                    <p:nvPr/>
                  </p:nvSpPr>
                  <p:spPr>
                    <a:xfrm>
                      <a:off x="1657350" y="1781175"/>
                      <a:ext cx="315300" cy="249496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  <a:effectLst/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900" i="1" kern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Text Box 15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57350" y="1781175"/>
                      <a:ext cx="315300" cy="249496"/>
                    </a:xfrm>
                    <a:prstGeom prst="rect">
                      <a:avLst/>
                    </a:prstGeom>
                    <a:blipFill rotWithShape="0">
                      <a:blip r:embed="rId11"/>
                      <a:stretch>
                        <a:fillRect/>
                      </a:stretch>
                    </a:blipFill>
                    <a:ln w="6350"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Text Box 23"/>
                <p:cNvSpPr txBox="1"/>
                <p:nvPr/>
              </p:nvSpPr>
              <p:spPr>
                <a:xfrm>
                  <a:off x="1640900" y="228763"/>
                  <a:ext cx="322403" cy="586843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3600" kern="120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 Box 324"/>
                  <p:cNvSpPr txBox="1"/>
                  <p:nvPr/>
                </p:nvSpPr>
                <p:spPr>
                  <a:xfrm>
                    <a:off x="952500" y="638175"/>
                    <a:ext cx="381000" cy="257175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" name="Text Box 3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500" y="638175"/>
                    <a:ext cx="381000" cy="257175"/>
                  </a:xfrm>
                  <a:prstGeom prst="rect">
                    <a:avLst/>
                  </a:prstGeom>
                  <a:blipFill rotWithShape="0">
                    <a:blip r:embed="rId12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 Box 324"/>
                  <p:cNvSpPr txBox="1"/>
                  <p:nvPr/>
                </p:nvSpPr>
                <p:spPr>
                  <a:xfrm>
                    <a:off x="962025" y="1304925"/>
                    <a:ext cx="381000" cy="257175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9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Text Box 3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2025" y="1304925"/>
                    <a:ext cx="381000" cy="257175"/>
                  </a:xfrm>
                  <a:prstGeom prst="rect">
                    <a:avLst/>
                  </a:prstGeom>
                  <a:blipFill rotWithShape="0">
                    <a:blip r:embed="rId13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749470" y="2381386"/>
                <a:ext cx="2589427" cy="74187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𝑃𝑄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470" y="2381386"/>
                <a:ext cx="2589427" cy="74187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1493332" y="1828800"/>
            <a:ext cx="3262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laju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perubahan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rata-rata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533400" y="3483153"/>
                <a:ext cx="8153400" cy="7328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smtClean="0">
                    <a:latin typeface="Times New Roman" panose="02020603050405020304" pitchFamily="18" charset="0"/>
                    <a:ea typeface="Calibri" panose="020F0502020204030204" pitchFamily="34" charset="0"/>
                  </a:rPr>
                  <a:t>Definisi</a:t>
                </a:r>
                <a:r>
                  <a:rPr lang="en-US" sz="2000" b="1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Jika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maka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laju</a:t>
                </a:r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perubahan</a:t>
                </a:r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sesaat</a:t>
                </a:r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dari</a:t>
                </a:r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𝒚</m:t>
                    </m:r>
                  </m:oMath>
                </a14:m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terhadap</a:t>
                </a:r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endParaRPr lang="en-US" sz="2000" b="1" i="1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i="1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  </a:t>
                </a:r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di </a:t>
                </a:r>
                <a:r>
                  <a:rPr lang="en-US" sz="2000" b="1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titik</a:t>
                </a:r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adalah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kemiringan</a:t>
                </a:r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</a:rPr>
                          <m:t>𝑡𝑔</m:t>
                        </m:r>
                      </m:sub>
                    </m:sSub>
                  </m:oMath>
                </a14:m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garis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singgung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untuk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grafik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483153"/>
                <a:ext cx="8153400" cy="732829"/>
              </a:xfrm>
              <a:prstGeom prst="rect">
                <a:avLst/>
              </a:prstGeom>
              <a:blipFill rotWithShape="0">
                <a:blip r:embed="rId15"/>
                <a:stretch>
                  <a:fillRect l="-823" t="-4132" b="-9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1524000" y="4114800"/>
                <a:ext cx="445186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di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titik</a:t>
                </a:r>
                <a:r>
                  <a:rPr lang="en-US" sz="20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lihat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gambar</a:t>
                </a:r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), </a:t>
                </a:r>
                <a:r>
                  <a:rPr lang="en-US" sz="2000" dirty="0" err="1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yaitu</a:t>
                </a:r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114800"/>
                <a:ext cx="4451860" cy="400110"/>
              </a:xfrm>
              <a:prstGeom prst="rect">
                <a:avLst/>
              </a:prstGeom>
              <a:blipFill rotWithShape="0">
                <a:blip r:embed="rId16"/>
                <a:stretch>
                  <a:fillRect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/>
          <p:cNvGrpSpPr/>
          <p:nvPr/>
        </p:nvGrpSpPr>
        <p:grpSpPr>
          <a:xfrm>
            <a:off x="5915240" y="4441195"/>
            <a:ext cx="2099309" cy="1710706"/>
            <a:chOff x="-41992" y="304795"/>
            <a:chExt cx="2099598" cy="1711278"/>
          </a:xfrm>
        </p:grpSpPr>
        <p:grpSp>
          <p:nvGrpSpPr>
            <p:cNvPr id="43" name="Group 42"/>
            <p:cNvGrpSpPr/>
            <p:nvPr/>
          </p:nvGrpSpPr>
          <p:grpSpPr>
            <a:xfrm>
              <a:off x="-41992" y="304795"/>
              <a:ext cx="2099598" cy="1711278"/>
              <a:chOff x="-41992" y="303312"/>
              <a:chExt cx="2099598" cy="1702955"/>
            </a:xfrm>
          </p:grpSpPr>
          <p:cxnSp>
            <p:nvCxnSpPr>
              <p:cNvPr id="47" name="Straight Arrow Connector 46"/>
              <p:cNvCxnSpPr/>
              <p:nvPr/>
            </p:nvCxnSpPr>
            <p:spPr>
              <a:xfrm flipV="1">
                <a:off x="219394" y="1764416"/>
                <a:ext cx="1542885" cy="36215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cxnSp>
            <p:nvCxnSpPr>
              <p:cNvPr id="48" name="Straight Arrow Connector 47"/>
              <p:cNvCxnSpPr/>
              <p:nvPr/>
            </p:nvCxnSpPr>
            <p:spPr>
              <a:xfrm flipV="1">
                <a:off x="219394" y="303387"/>
                <a:ext cx="12331" cy="1503359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1689750" y="972922"/>
                <a:ext cx="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50" name="Straight Connector 49"/>
              <p:cNvCxnSpPr/>
              <p:nvPr/>
            </p:nvCxnSpPr>
            <p:spPr>
              <a:xfrm flipV="1">
                <a:off x="512366" y="578331"/>
                <a:ext cx="283742" cy="1093304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51" name="Arc 50"/>
              <p:cNvSpPr/>
              <p:nvPr/>
            </p:nvSpPr>
            <p:spPr>
              <a:xfrm rot="14246727">
                <a:off x="716662" y="551612"/>
                <a:ext cx="1169736" cy="1443367"/>
              </a:xfrm>
              <a:prstGeom prst="arc">
                <a:avLst>
                  <a:gd name="adj1" fmla="val 16474814"/>
                  <a:gd name="adj2" fmla="val 3109761"/>
                </a:avLst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2" name="Text Box 23"/>
              <p:cNvSpPr txBox="1"/>
              <p:nvPr/>
            </p:nvSpPr>
            <p:spPr>
              <a:xfrm>
                <a:off x="462681" y="875529"/>
                <a:ext cx="241794" cy="548516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6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3" name="Text Box 153"/>
              <p:cNvSpPr txBox="1"/>
              <p:nvPr/>
            </p:nvSpPr>
            <p:spPr>
              <a:xfrm>
                <a:off x="-41992" y="303312"/>
                <a:ext cx="289560" cy="2413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i="1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4" name="Text Box 27"/>
              <p:cNvSpPr txBox="1"/>
              <p:nvPr/>
            </p:nvSpPr>
            <p:spPr>
              <a:xfrm>
                <a:off x="1543211" y="1764967"/>
                <a:ext cx="296545" cy="2413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i="1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5" name="Text Box 157"/>
              <p:cNvSpPr txBox="1"/>
              <p:nvPr/>
            </p:nvSpPr>
            <p:spPr>
              <a:xfrm>
                <a:off x="34215" y="1721077"/>
                <a:ext cx="197510" cy="241392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 Box 324"/>
                  <p:cNvSpPr txBox="1"/>
                  <p:nvPr/>
                </p:nvSpPr>
                <p:spPr>
                  <a:xfrm>
                    <a:off x="1384968" y="421592"/>
                    <a:ext cx="672638" cy="234087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9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9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6" name="Text Box 3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4968" y="421592"/>
                    <a:ext cx="672638" cy="234087"/>
                  </a:xfrm>
                  <a:prstGeom prst="rect">
                    <a:avLst/>
                  </a:prstGeom>
                  <a:blipFill rotWithShape="0">
                    <a:blip r:embed="rId17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324"/>
                <p:cNvSpPr txBox="1"/>
                <p:nvPr/>
              </p:nvSpPr>
              <p:spPr>
                <a:xfrm>
                  <a:off x="453103" y="438232"/>
                  <a:ext cx="319858" cy="263473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𝑡𝑔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 Box 3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103" y="438232"/>
                  <a:ext cx="319858" cy="263473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/>
            <p:cNvCxnSpPr/>
            <p:nvPr/>
          </p:nvCxnSpPr>
          <p:spPr>
            <a:xfrm>
              <a:off x="609600" y="1352550"/>
              <a:ext cx="0" cy="45835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 Box 156"/>
                <p:cNvSpPr txBox="1"/>
                <p:nvPr/>
              </p:nvSpPr>
              <p:spPr>
                <a:xfrm>
                  <a:off x="466725" y="1762125"/>
                  <a:ext cx="329383" cy="249496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9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 Box 1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725" y="1762125"/>
                  <a:ext cx="329383" cy="249496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1945254" y="4635741"/>
                <a:ext cx="3160481" cy="74187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𝑡𝑔</m:t>
                          </m:r>
                        </m:sub>
                      </m:sSub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𝑙𝑖𝑚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254" y="4635741"/>
                <a:ext cx="3160481" cy="741870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44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8" grpId="0" animBg="1"/>
      <p:bldP spid="39" grpId="0"/>
      <p:bldP spid="40" grpId="0"/>
      <p:bldP spid="41" grpId="0"/>
      <p:bldP spid="5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30231" y="1905000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definisi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didapatkan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rumus-rumus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diantaranya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87598" y="2340768"/>
                <a:ext cx="1524000" cy="5548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1.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=0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98" y="2340768"/>
                <a:ext cx="1524000" cy="554832"/>
              </a:xfrm>
              <a:prstGeom prst="rect">
                <a:avLst/>
              </a:prstGeom>
              <a:blipFill rotWithShape="0">
                <a:blip r:embed="rId2"/>
                <a:stretch>
                  <a:fillRect l="-3968" b="-21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33600" y="2362200"/>
                <a:ext cx="2286000" cy="5548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2.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𝑛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2362200"/>
                <a:ext cx="2286000" cy="554832"/>
              </a:xfrm>
              <a:prstGeom prst="rect">
                <a:avLst/>
              </a:prstGeom>
              <a:blipFill rotWithShape="0">
                <a:blip r:embed="rId3"/>
                <a:stretch>
                  <a:fillRect l="-2387" b="-10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495800" y="2362200"/>
                <a:ext cx="2746840" cy="535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3.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𝑐𝑓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2362200"/>
                <a:ext cx="2746840" cy="535659"/>
              </a:xfrm>
              <a:prstGeom prst="rect">
                <a:avLst/>
              </a:prstGeom>
              <a:blipFill rotWithShape="0">
                <a:blip r:embed="rId4"/>
                <a:stretch>
                  <a:fillRect l="-2212" b="-56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7200" y="2971800"/>
                <a:ext cx="5181601" cy="535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4.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+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/>
                            <a:cs typeface="Times New Roman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971800"/>
                <a:ext cx="5181601" cy="535659"/>
              </a:xfrm>
              <a:prstGeom prst="rect">
                <a:avLst/>
              </a:prstGeom>
              <a:blipFill rotWithShape="0">
                <a:blip r:embed="rId5"/>
                <a:stretch>
                  <a:fillRect l="-1056" b="-56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1095" y="3581400"/>
                <a:ext cx="5797305" cy="535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5.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+</m:t>
                    </m:r>
                    <m:r>
                      <a:rPr lang="en-US" sz="2000" i="1" dirty="0">
                        <a:latin typeface="Cambria Math"/>
                        <a:cs typeface="Times New Roman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95" y="3581400"/>
                <a:ext cx="5797305" cy="535659"/>
              </a:xfrm>
              <a:prstGeom prst="rect">
                <a:avLst/>
              </a:prstGeom>
              <a:blipFill rotWithShape="0">
                <a:blip r:embed="rId6"/>
                <a:stretch>
                  <a:fillRect l="-1049" b="-56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51096" y="4267200"/>
                <a:ext cx="4197104" cy="79752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6.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/>
                                <a:cs typeface="Times New Roman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/>
                            <a:cs typeface="Times New Roman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  <m:f>
                          <m:f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dirty="0">
                                <a:latin typeface="Cambria Math"/>
                                <a:cs typeface="Times New Roman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sz="2000" i="1" dirty="0">
                                <a:latin typeface="Cambria Math"/>
                                <a:cs typeface="Times New Roman" pitchFamily="18" charset="0"/>
                              </a:rPr>
                              <m:t>𝑑𝑥</m:t>
                            </m:r>
                          </m:den>
                        </m:f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/>
                                <a:cs typeface="Times New Roman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 dirty="0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2000" b="0" i="1" dirty="0" smtClean="0">
                            <a:latin typeface="Cambria Math"/>
                            <a:cs typeface="Times New Roman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/>
                                <a:cs typeface="Times New Roman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  <a:cs typeface="Times New Roman" pitchFamily="18" charset="0"/>
                              </a:rPr>
                              <m:t>𝑑𝑥</m:t>
                            </m:r>
                          </m:den>
                        </m:f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  <a:cs typeface="Times New Roman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96" y="4267200"/>
                <a:ext cx="4197104" cy="797526"/>
              </a:xfrm>
              <a:prstGeom prst="rect">
                <a:avLst/>
              </a:prstGeom>
              <a:blipFill rotWithShape="0">
                <a:blip r:embed="rId7"/>
                <a:stretch>
                  <a:fillRect l="-14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724400" y="4417341"/>
                <a:ext cx="1981200" cy="535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7.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𝑙𝑛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417341"/>
                <a:ext cx="1981200" cy="535659"/>
              </a:xfrm>
              <a:prstGeom prst="rect">
                <a:avLst/>
              </a:prstGeom>
              <a:blipFill rotWithShape="0">
                <a:blip r:embed="rId8"/>
                <a:stretch>
                  <a:fillRect l="-2752" b="-55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781800" y="4397335"/>
                <a:ext cx="1852130" cy="555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8.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4397335"/>
                <a:ext cx="1852130" cy="555665"/>
              </a:xfrm>
              <a:prstGeom prst="rect">
                <a:avLst/>
              </a:prstGeom>
              <a:blipFill rotWithShape="0">
                <a:blip r:embed="rId9"/>
                <a:stretch>
                  <a:fillRect l="-3279" b="-10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30231" y="5179341"/>
                <a:ext cx="2381891" cy="535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9.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𝑠𝑖𝑛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  <m:r>
                      <a:rPr lang="en-US" sz="2000" i="1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31" y="5179341"/>
                <a:ext cx="2381891" cy="535659"/>
              </a:xfrm>
              <a:prstGeom prst="rect">
                <a:avLst/>
              </a:prstGeom>
              <a:blipFill rotWithShape="0">
                <a:blip r:embed="rId10"/>
                <a:stretch>
                  <a:fillRect l="-2551" b="-55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71800" y="5179341"/>
                <a:ext cx="2638747" cy="535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10.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  <m:r>
                      <a:rPr lang="en-US" sz="2000" i="1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𝑠𝑖𝑛</m:t>
                        </m:r>
                      </m:fName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5179341"/>
                <a:ext cx="2638747" cy="535659"/>
              </a:xfrm>
              <a:prstGeom prst="rect">
                <a:avLst/>
              </a:prstGeom>
              <a:blipFill rotWithShape="0">
                <a:blip r:embed="rId11"/>
                <a:stretch>
                  <a:fillRect l="-2304" b="-55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808359" y="5166901"/>
                <a:ext cx="2541569" cy="54809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11.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𝑡𝑔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  <m:r>
                      <a:rPr lang="en-US" sz="2000" i="1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𝑠𝑒𝑐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359" y="5166901"/>
                <a:ext cx="2541569" cy="548099"/>
              </a:xfrm>
              <a:prstGeom prst="rect">
                <a:avLst/>
              </a:prstGeom>
              <a:blipFill rotWithShape="0">
                <a:blip r:embed="rId12"/>
                <a:stretch>
                  <a:fillRect l="-2387" b="-32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20388" y="5788941"/>
                <a:ext cx="3182420" cy="535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12.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𝑐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𝑡𝑔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  <m:r>
                      <a:rPr lang="en-US" sz="2000" i="1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−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𝑐𝑜𝑠𝑒𝑐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88" y="5788941"/>
                <a:ext cx="3182420" cy="535659"/>
              </a:xfrm>
              <a:prstGeom prst="rect">
                <a:avLst/>
              </a:prstGeom>
              <a:blipFill rotWithShape="0">
                <a:blip r:embed="rId13"/>
                <a:stretch>
                  <a:fillRect l="-1908" b="-55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805077" y="5788941"/>
                <a:ext cx="3182420" cy="535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13.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𝑠𝑒𝑐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  <m:r>
                      <a:rPr lang="en-US" sz="2000" i="1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𝑠𝑒𝑐</m:t>
                        </m:r>
                      </m:fName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𝑡𝑔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077" y="5788941"/>
                <a:ext cx="3182420" cy="535659"/>
              </a:xfrm>
              <a:prstGeom prst="rect">
                <a:avLst/>
              </a:prstGeom>
              <a:blipFill rotWithShape="0">
                <a:blip r:embed="rId14"/>
                <a:stretch>
                  <a:fillRect l="-1718" b="-55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3991" y="53927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3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81000" y="296258"/>
                <a:ext cx="60198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Definisi</a:t>
                </a:r>
                <a:r>
                  <a:rPr lang="en-US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Fungsi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yang </a:t>
                </a:r>
                <a:r>
                  <a:rPr lang="en-US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didefinisikan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dengan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rumus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endParaRPr lang="en-US" sz="20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96258"/>
                <a:ext cx="6019800" cy="400110"/>
              </a:xfrm>
              <a:prstGeom prst="rect">
                <a:avLst/>
              </a:prstGeom>
              <a:blipFill rotWithShape="0">
                <a:blip r:embed="rId15"/>
                <a:stretch>
                  <a:fillRect l="-1114" t="-9231" r="-1824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882953" y="685800"/>
                <a:ext cx="3513334" cy="5614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953" y="685800"/>
                <a:ext cx="3513334" cy="561436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375046" y="1273314"/>
                <a:ext cx="6244954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marR="0" indent="-51435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disebut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turunan</a:t>
                </a:r>
                <a:r>
                  <a:rPr lang="en-US" sz="20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terhadap</a:t>
                </a:r>
                <a:r>
                  <a:rPr lang="en-US" sz="20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:r>
                  <a:rPr lang="en-US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dari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fungsi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sz="20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514350" marR="0" indent="-51435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Domain </a:t>
                </a:r>
                <a:r>
                  <a:rPr lang="en-US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dari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terdiri </a:t>
                </a:r>
                <a:r>
                  <a:rPr lang="en-US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dari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semua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sehingga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limit </a:t>
                </a:r>
                <a:r>
                  <a:rPr lang="en-US" sz="2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ada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046" y="1273314"/>
                <a:ext cx="6244954" cy="707886"/>
              </a:xfrm>
              <a:prstGeom prst="rect">
                <a:avLst/>
              </a:prstGeom>
              <a:blipFill rotWithShape="0">
                <a:blip r:embed="rId17"/>
                <a:stretch>
                  <a:fillRect l="-1074" t="-5172" r="-488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57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" grpId="0"/>
      <p:bldP spid="3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87868"/>
            <a:ext cx="220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Contoh: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Buktikan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86000" y="54768"/>
                <a:ext cx="1524000" cy="5548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1.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=0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4768"/>
                <a:ext cx="1524000" cy="554832"/>
              </a:xfrm>
              <a:prstGeom prst="rect">
                <a:avLst/>
              </a:prstGeom>
              <a:blipFill rotWithShape="1">
                <a:blip r:embed="rId2"/>
                <a:stretch>
                  <a:fillRect l="-3571" r="-12302" b="-21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886200" y="64518"/>
                <a:ext cx="2286000" cy="5548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2.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𝑛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64518"/>
                <a:ext cx="2286000" cy="554832"/>
              </a:xfrm>
              <a:prstGeom prst="rect">
                <a:avLst/>
              </a:prstGeom>
              <a:blipFill rotWithShape="1">
                <a:blip r:embed="rId3"/>
                <a:stretch>
                  <a:fillRect l="-2653" r="-2387" b="-21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28600" y="742890"/>
            <a:ext cx="838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Bukti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29128" y="717505"/>
                <a:ext cx="3466672" cy="55104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1.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limLow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h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000" i="1" dirty="0" smtClean="0">
                    <a:latin typeface="Times New Roman" pitchFamily="18" charset="0"/>
                    <a:cs typeface="Times New Roman" pitchFamily="18" charset="0"/>
                  </a:rPr>
                  <a:t>, </a:t>
                </a:r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128" y="717505"/>
                <a:ext cx="3466672" cy="551048"/>
              </a:xfrm>
              <a:prstGeom prst="rect">
                <a:avLst/>
              </a:prstGeom>
              <a:blipFill rotWithShape="1">
                <a:blip r:embed="rId4"/>
                <a:stretch>
                  <a:fillRect l="-1751" r="-3678" b="-543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4053155" y="1525129"/>
            <a:ext cx="381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029128" y="1371600"/>
                <a:ext cx="2933272" cy="56220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aka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  <a:cs typeface="Times New Roman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h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𝑐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128" y="1371600"/>
                <a:ext cx="2933272" cy="562205"/>
              </a:xfrm>
              <a:prstGeom prst="rect">
                <a:avLst/>
              </a:prstGeom>
              <a:blipFill rotWithShape="0">
                <a:blip r:embed="rId5"/>
                <a:stretch>
                  <a:fillRect l="-2070" b="-10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572000" y="794256"/>
                <a:ext cx="1981200" cy="40011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m:t>karena</m:t>
                      </m:r>
                      <m:r>
                        <m:rPr>
                          <m:nor/>
                        </m:rP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m:t>:</m:t>
                      </m:r>
                      <m:r>
                        <a:rPr lang="en-US" sz="2000" b="0" i="1" dirty="0" smtClean="0">
                          <a:latin typeface="Cambria Math"/>
                          <a:cs typeface="Times New Roman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794256"/>
                <a:ext cx="1981200" cy="400110"/>
              </a:xfrm>
              <a:prstGeom prst="rect">
                <a:avLst/>
              </a:prstGeom>
              <a:blipFill rotWithShape="1">
                <a:blip r:embed="rId6"/>
                <a:stretch>
                  <a:fillRect t="-5882" r="-4893" b="-235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624579" y="794256"/>
                <a:ext cx="2133600" cy="40011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h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𝑐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79" y="794256"/>
                <a:ext cx="2133600" cy="400110"/>
              </a:xfrm>
              <a:prstGeom prst="rect">
                <a:avLst/>
              </a:prstGeom>
              <a:blipFill rotWithShape="1">
                <a:blip r:embed="rId7"/>
                <a:stretch>
                  <a:fillRect l="-2841" t="-5882" r="-568" b="-235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15491" y="1371600"/>
                <a:ext cx="3930499" cy="5356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  <a:cs typeface="Times New Roman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h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h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/>
                                    <a:cs typeface="Times New Roman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h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→0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0=0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491" y="1371600"/>
                <a:ext cx="3930499" cy="535659"/>
              </a:xfrm>
              <a:prstGeom prst="rect">
                <a:avLst/>
              </a:prstGeom>
              <a:blipFill rotWithShape="1">
                <a:blip r:embed="rId8"/>
                <a:stretch>
                  <a:fillRect r="-619" b="-55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29128" y="2039752"/>
                <a:ext cx="3542872" cy="55104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limLow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h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128" y="2039752"/>
                <a:ext cx="3542872" cy="551048"/>
              </a:xfrm>
              <a:prstGeom prst="rect">
                <a:avLst/>
              </a:prstGeom>
              <a:blipFill rotWithShape="1">
                <a:blip r:embed="rId9"/>
                <a:stretch>
                  <a:fillRect l="-1715" r="-2573" b="-543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Arrow 19"/>
          <p:cNvSpPr/>
          <p:nvPr/>
        </p:nvSpPr>
        <p:spPr>
          <a:xfrm>
            <a:off x="4648200" y="2209800"/>
            <a:ext cx="381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105400" y="1981200"/>
                <a:ext cx="2982075" cy="62985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cs typeface="Times New Roman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cs typeface="Times New Roman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1981200"/>
                <a:ext cx="2982075" cy="6298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029128" y="2667000"/>
            <a:ext cx="3771902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teorema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binomial,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didapat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042938" y="3124200"/>
                <a:ext cx="7491462" cy="85677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cs typeface="Times New Roman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cs typeface="Times New Roman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𝑛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𝑛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  <a:cs typeface="Times New Roman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b="0" i="1" smtClean="0">
                                              <a:latin typeface="Cambria Math"/>
                                              <a:cs typeface="Times New Roman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2!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+…+</m:t>
                                  </m:r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𝑛𝑥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38" y="3124200"/>
                <a:ext cx="7491462" cy="856773"/>
              </a:xfrm>
              <a:prstGeom prst="rect">
                <a:avLst/>
              </a:prstGeom>
              <a:blipFill rotWithShape="1">
                <a:blip r:embed="rId11"/>
                <a:stretch>
                  <a:fillRect r="-81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56525" y="4038600"/>
                <a:ext cx="6258675" cy="8091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cs typeface="Times New Roman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cs typeface="Times New Roman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𝑛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  <a:cs typeface="Times New Roman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2!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+…+</m:t>
                              </m:r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𝑛𝑥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25" y="4038600"/>
                <a:ext cx="6258675" cy="809196"/>
              </a:xfrm>
              <a:prstGeom prst="rect">
                <a:avLst/>
              </a:prstGeom>
              <a:blipFill rotWithShape="1">
                <a:blip r:embed="rId12"/>
                <a:stretch>
                  <a:fillRect r="-97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056525" y="4932748"/>
                <a:ext cx="6334875" cy="62985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cs typeface="Times New Roman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cs typeface="Times New Roman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  <a:cs typeface="Times New Roman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/>
                              <a:cs typeface="Times New Roman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  <a:cs typeface="Times New Roman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/>
                                      <a:cs typeface="Times New Roman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2!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/>
                              <a:cs typeface="Times New Roman" pitchFamily="18" charset="0"/>
                            </a:rPr>
                            <m:t>+…+</m:t>
                          </m:r>
                          <m:r>
                            <a:rPr lang="en-US" i="1">
                              <a:latin typeface="Cambria Math"/>
                              <a:cs typeface="Times New Roman" pitchFamily="18" charset="0"/>
                            </a:rPr>
                            <m:t>𝑛𝑥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  <a:cs typeface="Times New Roman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/>
                                  <a:cs typeface="Times New Roman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25" y="4932748"/>
                <a:ext cx="6334875" cy="62985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066800" y="5800276"/>
                <a:ext cx="2070456" cy="67672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  <a:cs typeface="Times New Roman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  <a:cs typeface="Times New Roman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  <a:cs typeface="Times New Roman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  <a:cs typeface="Times New Roman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/>
                              <a:cs typeface="Times New Roman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800276"/>
                <a:ext cx="2070456" cy="67672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8293591" y="54768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4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0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09600" y="0"/>
            <a:ext cx="2971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ATURAN BERANTAI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57200" y="381000"/>
                <a:ext cx="6934200" cy="128676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itchFamily="34" charset="0"/>
                  <a:buChar char="•"/>
                </a:pP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Jika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maka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𝑑𝑢</m:t>
                        </m:r>
                      </m:den>
                    </m:f>
                    <m:r>
                      <a:rPr lang="en-US" sz="2000" b="0" i="0" smtClean="0">
                        <a:latin typeface="Cambria Math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US" sz="20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 algn="just">
                  <a:buFont typeface="Arial" pitchFamily="34" charset="0"/>
                  <a:buChar char="•"/>
                </a:pP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Jika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𝑢</m:t>
                    </m:r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𝑣</m:t>
                    </m:r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h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maka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𝑑𝑢</m:t>
                        </m:r>
                      </m:den>
                    </m:f>
                    <m:r>
                      <a:rPr lang="en-US" sz="2000">
                        <a:latin typeface="Cambria Math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𝑣</m:t>
                        </m:r>
                      </m:den>
                    </m:f>
                    <m:r>
                      <a:rPr lang="en-US" sz="2000">
                        <a:latin typeface="Cambria Math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𝑑</m:t>
                        </m:r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algn="just"/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seterusnya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1000"/>
                <a:ext cx="6934200" cy="1286763"/>
              </a:xfrm>
              <a:prstGeom prst="rect">
                <a:avLst/>
              </a:prstGeom>
              <a:blipFill rotWithShape="1">
                <a:blip r:embed="rId2"/>
                <a:stretch>
                  <a:fillRect l="-789" r="-877" b="-65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17705" y="1679750"/>
            <a:ext cx="4349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Contoh: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Tentukan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turunan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pertama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17705" y="2033998"/>
                <a:ext cx="8534400" cy="447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a.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  <a:cs typeface="Times New Roman" pitchFamily="18" charset="0"/>
                      </a:rPr>
                      <m:t>  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+3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i="1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b.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−4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000" i="1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c.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𝑙𝑛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−3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+5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i="1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d.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−5</m:t>
                        </m:r>
                      </m:e>
                    </m:d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05" y="2033998"/>
                <a:ext cx="8534400" cy="447367"/>
              </a:xfrm>
              <a:prstGeom prst="rect">
                <a:avLst/>
              </a:prstGeom>
              <a:blipFill>
                <a:blip r:embed="rId3"/>
                <a:stretch>
                  <a:fillRect l="-786" b="-24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57200" y="241929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Jawab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1096" y="2667000"/>
                <a:ext cx="3962400" cy="535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a.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Misalkan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+3 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=2,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96" y="2667000"/>
                <a:ext cx="3962400" cy="535659"/>
              </a:xfrm>
              <a:prstGeom prst="rect">
                <a:avLst/>
              </a:prstGeom>
              <a:blipFill rotWithShape="1">
                <a:blip r:embed="rId4"/>
                <a:stretch>
                  <a:fillRect l="-1692" r="-1385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29100" y="2667000"/>
                <a:ext cx="2781300" cy="535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jadi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5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𝑑𝑢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=5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100" y="2667000"/>
                <a:ext cx="2781300" cy="535659"/>
              </a:xfrm>
              <a:prstGeom prst="rect">
                <a:avLst/>
              </a:prstGeom>
              <a:blipFill rotWithShape="1">
                <a:blip r:embed="rId5"/>
                <a:stretch>
                  <a:fillRect l="-2412" r="-2412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85800" y="3124200"/>
                <a:ext cx="4724400" cy="535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sehingga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ea typeface="Cambria Math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Times New Roman" pitchFamily="18" charset="0"/>
                      </a:rPr>
                      <m:t>5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.2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=10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+3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124200"/>
                <a:ext cx="4724400" cy="535659"/>
              </a:xfrm>
              <a:prstGeom prst="rect">
                <a:avLst/>
              </a:prstGeom>
              <a:blipFill rotWithShape="1">
                <a:blip r:embed="rId6"/>
                <a:stretch>
                  <a:fillRect l="-1419" r="-2194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7200" y="3581400"/>
                <a:ext cx="4038600" cy="535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b.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Misalkan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−4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,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81400"/>
                <a:ext cx="4038600" cy="535659"/>
              </a:xfrm>
              <a:prstGeom prst="rect">
                <a:avLst/>
              </a:prstGeom>
              <a:blipFill rotWithShape="1">
                <a:blip r:embed="rId7"/>
                <a:stretch>
                  <a:fillRect l="-1508" r="-1508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381500" y="3579141"/>
                <a:ext cx="2781300" cy="535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jadi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𝑢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𝑑𝑢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𝑢</m:t>
                        </m:r>
                      </m:sup>
                    </m:sSup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0" y="3579141"/>
                <a:ext cx="2781300" cy="535659"/>
              </a:xfrm>
              <a:prstGeom prst="rect">
                <a:avLst/>
              </a:prstGeom>
              <a:blipFill rotWithShape="1">
                <a:blip r:embed="rId8"/>
                <a:stretch>
                  <a:fillRect l="-2412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62000" y="4038600"/>
                <a:ext cx="4724400" cy="535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sehingga: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ea typeface="Cambria Math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  <a:cs typeface="Times New Roman" pitchFamily="18" charset="0"/>
                      </a:rPr>
                      <m:t>2</m:t>
                    </m:r>
                    <m:r>
                      <a:rPr lang="en-US" sz="2000" b="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/>
                                <a:cs typeface="Times New Roman" pitchFamily="18" charset="0"/>
                              </a:rPr>
                              <m:t>−4</m:t>
                            </m:r>
                          </m:e>
                        </m:d>
                      </m:sup>
                    </m:sSup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038600"/>
                <a:ext cx="4724400" cy="535659"/>
              </a:xfrm>
              <a:prstGeom prst="rect">
                <a:avLst/>
              </a:prstGeom>
              <a:blipFill rotWithShape="1">
                <a:blip r:embed="rId9"/>
                <a:stretch>
                  <a:fillRect l="-1290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7200" y="4495800"/>
                <a:ext cx="5029200" cy="535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c.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Misalkan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−3</m:t>
                    </m:r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+5→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−3,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95800"/>
                <a:ext cx="5029200" cy="535659"/>
              </a:xfrm>
              <a:prstGeom prst="rect">
                <a:avLst/>
              </a:prstGeom>
              <a:blipFill rotWithShape="1">
                <a:blip r:embed="rId10"/>
                <a:stretch>
                  <a:fillRect l="-1212" r="-1818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342348" y="4495799"/>
                <a:ext cx="2781300" cy="556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jadi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𝑙𝑛</m:t>
                        </m:r>
                      </m:fName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𝑢</m:t>
                        </m:r>
                      </m:e>
                    </m:func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𝑑𝑢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𝑢</m:t>
                        </m:r>
                      </m:den>
                    </m:f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348" y="4495799"/>
                <a:ext cx="2781300" cy="556499"/>
              </a:xfrm>
              <a:prstGeom prst="rect">
                <a:avLst/>
              </a:prstGeom>
              <a:blipFill rotWithShape="1">
                <a:blip r:embed="rId11"/>
                <a:stretch>
                  <a:fillRect l="-2188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62000" y="4953000"/>
                <a:ext cx="4580348" cy="556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sehingga: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  <a:cs typeface="Times New Roman" pitchFamily="18" charset="0"/>
                      </a:rPr>
                      <m:t>2</m:t>
                    </m:r>
                    <m:r>
                      <a:rPr lang="en-US" sz="2000" b="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/>
                        <a:cs typeface="Times New Roman" pitchFamily="18" charset="0"/>
                      </a:rPr>
                      <m:t>−3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−3</m:t>
                        </m:r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−3</m:t>
                        </m:r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+5</m:t>
                        </m:r>
                      </m:den>
                    </m:f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953000"/>
                <a:ext cx="4580348" cy="556499"/>
              </a:xfrm>
              <a:prstGeom prst="rect">
                <a:avLst/>
              </a:prstGeom>
              <a:blipFill rotWithShape="1">
                <a:blip r:embed="rId12"/>
                <a:stretch>
                  <a:fillRect l="-1332" r="-1198" b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64906" y="5410200"/>
                <a:ext cx="7231294" cy="554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d.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Misalkan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5</m:t>
                    </m:r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ea typeface="Cambria Math"/>
                        <a:cs typeface="Times New Roman" pitchFamily="18" charset="0"/>
                      </a:rPr>
                      <m:t>dan</m:t>
                    </m:r>
                    <m:r>
                      <a:rPr lang="en-US" sz="2000" b="0" i="0" smtClean="0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  <a:cs typeface="Times New Roman" pitchFamily="18" charset="0"/>
                      </a:rPr>
                      <m:t>𝑣</m:t>
                    </m:r>
                    <m:r>
                      <a:rPr lang="en-US" sz="2000" b="0" i="1" dirty="0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a:rPr lang="en-US" sz="2000" b="0" i="1" dirty="0" smtClean="0">
                            <a:latin typeface="Cambria Math"/>
                            <a:cs typeface="Times New Roman" pitchFamily="18" charset="0"/>
                          </a:rPr>
                          <m:t>𝑠𝑖𝑛</m:t>
                        </m:r>
                      </m:fName>
                      <m:e>
                        <m:r>
                          <a:rPr lang="en-US" sz="2000" b="0" i="1" dirty="0" smtClean="0">
                            <a:latin typeface="Cambria Math"/>
                            <a:cs typeface="Times New Roman" pitchFamily="18" charset="0"/>
                          </a:rPr>
                          <m:t>𝑢</m:t>
                        </m:r>
                        <m:r>
                          <a:rPr lang="en-US" sz="2000" b="0" i="1" dirty="0" smtClean="0">
                            <a:latin typeface="Cambria Math"/>
                            <a:cs typeface="Times New Roman" pitchFamily="18" charset="0"/>
                          </a:rPr>
                          <m:t> →</m:t>
                        </m:r>
                        <m:f>
                          <m:f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dirty="0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𝑑𝑣</m:t>
                            </m:r>
                          </m:num>
                          <m:den>
                            <m:r>
                              <a:rPr lang="en-US" sz="2000" b="0" i="1" dirty="0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𝑑𝑢</m:t>
                            </m:r>
                          </m:den>
                        </m:f>
                        <m:r>
                          <a:rPr lang="en-US" sz="2000" b="0" i="0" dirty="0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 dirty="0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sz="2000" b="0" i="1" dirty="0" smtClean="0"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𝑢</m:t>
                            </m:r>
                          </m:e>
                        </m:func>
                        <m:r>
                          <a:rPr lang="en-US" sz="2000" b="0" i="1" dirty="0" smtClean="0">
                            <a:latin typeface="Cambria Math"/>
                            <a:cs typeface="Times New Roman" pitchFamily="18" charset="0"/>
                          </a:rPr>
                          <m:t>,</m:t>
                        </m:r>
                      </m:e>
                    </m:func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06" y="5410200"/>
                <a:ext cx="7231294" cy="554832"/>
              </a:xfrm>
              <a:prstGeom prst="rect">
                <a:avLst/>
              </a:prstGeom>
              <a:blipFill rotWithShape="1">
                <a:blip r:embed="rId13"/>
                <a:stretch>
                  <a:fillRect l="-842" r="-1769" b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62000" y="5865141"/>
                <a:ext cx="2667000" cy="535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jadi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𝑑𝑣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  <a:cs typeface="Times New Roman" pitchFamily="18" charset="0"/>
                      </a:rPr>
                      <m:t>2</m:t>
                    </m:r>
                    <m:r>
                      <a:rPr lang="en-US" sz="2000" b="0" i="1" dirty="0" smtClean="0">
                        <a:latin typeface="Cambria Math"/>
                        <a:cs typeface="Times New Roman" pitchFamily="18" charset="0"/>
                      </a:rPr>
                      <m:t>𝑣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865141"/>
                <a:ext cx="2667000" cy="535659"/>
              </a:xfrm>
              <a:prstGeom prst="rect">
                <a:avLst/>
              </a:prstGeom>
              <a:blipFill rotWithShape="1">
                <a:blip r:embed="rId14"/>
                <a:stretch>
                  <a:fillRect l="-2283" r="-1598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344452" y="5867400"/>
                <a:ext cx="3284948" cy="535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sehingga: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𝑣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:r>
                  <a:rPr lang="en-US" sz="2000" i="1" dirty="0" smtClean="0">
                    <a:latin typeface="Times New Roman" pitchFamily="18" charset="0"/>
                    <a:cs typeface="Times New Roman" pitchFamily="18" charset="0"/>
                  </a:rPr>
                  <a:t>cos u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  <a:cs typeface="Times New Roman" pitchFamily="18" charset="0"/>
                      </a:rPr>
                      <m:t>2</m:t>
                    </m:r>
                    <m:r>
                      <a:rPr lang="en-US" sz="2000" b="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452" y="5867400"/>
                <a:ext cx="3284948" cy="535659"/>
              </a:xfrm>
              <a:prstGeom prst="rect">
                <a:avLst/>
              </a:prstGeom>
              <a:blipFill rotWithShape="1">
                <a:blip r:embed="rId15"/>
                <a:stretch>
                  <a:fillRect l="-2041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268252" y="6366712"/>
                <a:ext cx="3642472" cy="491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  <a:cs typeface="Times New Roman" pitchFamily="18" charset="0"/>
                      </a:rPr>
                      <m:t>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𝑑𝑥</m:t>
                        </m:r>
                      </m:den>
                    </m:f>
                    <m:r>
                      <a:rPr lang="en-US" i="1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cs typeface="Times New Roman" pitchFamily="18" charset="0"/>
                      </a:rPr>
                      <m:t>4</m:t>
                    </m:r>
                    <m:r>
                      <a:rPr lang="en-US" i="1" dirty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i="1" dirty="0">
                        <a:latin typeface="Cambria Math"/>
                        <a:cs typeface="Times New Roman" pitchFamily="18" charset="0"/>
                      </a:rPr>
                      <m:t> </m:t>
                    </m:r>
                    <m:r>
                      <a:rPr lang="en-US" i="1" dirty="0">
                        <a:latin typeface="Cambria Math"/>
                        <a:cs typeface="Times New Roman" pitchFamily="18" charset="0"/>
                      </a:rPr>
                      <m:t>𝑠𝑖𝑛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−5</m:t>
                        </m:r>
                      </m:e>
                    </m:d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a:rPr lang="en-US" i="1" dirty="0">
                            <a:latin typeface="Cambria Math"/>
                            <a:cs typeface="Times New Roman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/>
                                <a:cs typeface="Times New Roman" pitchFamily="18" charset="0"/>
                              </a:rPr>
                              <m:t>−5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252" y="6366712"/>
                <a:ext cx="3642472" cy="491288"/>
              </a:xfrm>
              <a:prstGeom prst="rect">
                <a:avLst/>
              </a:prstGeom>
              <a:blipFill rotWithShape="1">
                <a:blip r:embed="rId16"/>
                <a:stretch>
                  <a:fillRect r="-2007"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8293591" y="0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5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80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  <p:bldP spid="3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1000" y="76200"/>
            <a:ext cx="419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TURUNAN FUNGSI PARAMETER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200" y="457200"/>
                <a:ext cx="1828800" cy="707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Jika: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57200"/>
                <a:ext cx="1828800" cy="707694"/>
              </a:xfrm>
              <a:prstGeom prst="rect">
                <a:avLst/>
              </a:prstGeom>
              <a:blipFill rotWithShape="1">
                <a:blip r:embed="rId2"/>
                <a:stretch>
                  <a:fillRect l="-3333" r="-4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209800" y="457200"/>
                <a:ext cx="2514600" cy="682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m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aka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𝑑𝑡</m:t>
                            </m:r>
                          </m:den>
                        </m:f>
                      </m:num>
                      <m:den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𝑑𝑡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;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457200"/>
                <a:ext cx="2514600" cy="682816"/>
              </a:xfrm>
              <a:prstGeom prst="rect">
                <a:avLst/>
              </a:prstGeom>
              <a:blipFill rotWithShape="1">
                <a:blip r:embed="rId3"/>
                <a:stretch>
                  <a:fillRect l="-2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95800" y="457200"/>
                <a:ext cx="1828800" cy="750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𝑑𝑡</m:t>
                            </m:r>
                          </m:den>
                        </m:f>
                      </m:num>
                      <m:den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𝑑𝑡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;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57200"/>
                <a:ext cx="1828800" cy="750526"/>
              </a:xfrm>
              <a:prstGeom prst="rect">
                <a:avLst/>
              </a:prstGeom>
              <a:blipFill rotWithShape="1">
                <a:blip r:embed="rId4"/>
                <a:stretch>
                  <a:fillRect r="-7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248400" y="533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…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53200" y="423345"/>
                <a:ext cx="2286000" cy="746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b="0" i="1" smtClean="0">
                                        <a:latin typeface="Cambria Math"/>
                                        <a:cs typeface="Times New Roman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𝑑𝑡</m:t>
                            </m:r>
                          </m:den>
                        </m:f>
                      </m:num>
                      <m:den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𝑑𝑡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23345"/>
                <a:ext cx="2286000" cy="746038"/>
              </a:xfrm>
              <a:prstGeom prst="rect">
                <a:avLst/>
              </a:prstGeom>
              <a:blipFill rotWithShape="1">
                <a:blip r:embed="rId5"/>
                <a:stretch>
                  <a:fillRect r="-5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82884" y="1169383"/>
                <a:ext cx="5765516" cy="641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Contoh: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Dapatkan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turunan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kedua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𝑎</m:t>
                            </m:r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𝑐𝑜𝑠</m:t>
                                </m:r>
                              </m:fName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</m:func>
                          </m:e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𝑠𝑖𝑛</m:t>
                                </m:r>
                              </m:fName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</m:func>
                          </m:e>
                        </m:eqArr>
                      </m:e>
                    </m:d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84" y="1169383"/>
                <a:ext cx="5765516" cy="641138"/>
              </a:xfrm>
              <a:prstGeom prst="rect">
                <a:avLst/>
              </a:prstGeom>
              <a:blipFill rotWithShape="1">
                <a:blip r:embed="rId6"/>
                <a:stretch>
                  <a:fillRect l="-1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33400" y="1978941"/>
                <a:ext cx="3962400" cy="535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Jawab: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𝑏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func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𝑎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𝑠𝑖𝑛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func>
                      </m:den>
                    </m:f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𝑎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𝑐𝑡𝑔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;</m:t>
                    </m:r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978941"/>
                <a:ext cx="3962400" cy="535659"/>
              </a:xfrm>
              <a:prstGeom prst="rect">
                <a:avLst/>
              </a:prstGeom>
              <a:blipFill rotWithShape="1">
                <a:blip r:embed="rId7"/>
                <a:stretch>
                  <a:fillRect l="-1692" r="-1846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267200" y="1712611"/>
                <a:ext cx="4495800" cy="838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9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sz="1900" b="0" i="1" smtClean="0">
                              <a:latin typeface="Cambria Math"/>
                              <a:cs typeface="Times New Roman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1900" b="0" i="1" smtClean="0">
                              <a:latin typeface="Cambria Math"/>
                              <a:cs typeface="Times New Roman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19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latin typeface="Cambria Math"/>
                              <a:cs typeface="Times New Roman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900" b="0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9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1900" b="0" i="1" smtClean="0">
                              <a:latin typeface="Cambria Math"/>
                              <a:cs typeface="Times New Roman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9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b="0" i="1" smtClean="0">
                                  <a:latin typeface="Cambria Math"/>
                                  <a:cs typeface="Times New Roman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sz="1900" b="0" i="1" smtClean="0">
                                  <a:latin typeface="Cambria Math"/>
                                  <a:cs typeface="Times New Roman" pitchFamily="18" charset="0"/>
                                </a:rPr>
                                <m:t>𝑎</m:t>
                              </m:r>
                            </m:den>
                          </m:f>
                          <m:d>
                            <m:dPr>
                              <m:ctrlPr>
                                <a:rPr lang="en-US" sz="19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b="0" i="1" smtClean="0">
                                  <a:latin typeface="Cambria Math"/>
                                  <a:cs typeface="Times New Roman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9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𝑐𝑜𝑠𝑒𝑐</m:t>
                                  </m:r>
                                </m:e>
                                <m:sup>
                                  <m:r>
                                    <a:rPr lang="en-US" sz="19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900" b="0" i="1" smtClean="0">
                                  <a:latin typeface="Cambria Math"/>
                                  <a:cs typeface="Times New Roman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sz="1900" b="0" i="1" smtClean="0">
                              <a:latin typeface="Cambria Math"/>
                              <a:cs typeface="Times New Roman" pitchFamily="18" charset="0"/>
                            </a:rPr>
                            <m:t>−</m:t>
                          </m:r>
                          <m:r>
                            <a:rPr lang="en-US" sz="1900" b="0" i="1" smtClean="0">
                              <a:latin typeface="Cambria Math"/>
                              <a:cs typeface="Times New Roman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en-US" sz="19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900" b="0" i="0" smtClean="0">
                                  <a:latin typeface="Cambria Math"/>
                                  <a:cs typeface="Times New Roman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1900" b="0" i="1" smtClean="0">
                                  <a:latin typeface="Cambria Math"/>
                                  <a:cs typeface="Times New Roman" pitchFamily="18" charset="0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  <m:r>
                        <a:rPr lang="en-US" sz="1900" b="0" i="0" smtClean="0">
                          <a:latin typeface="Cambria Math"/>
                          <a:cs typeface="Times New Roman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9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sz="1900" b="0" i="1" smtClean="0">
                              <a:latin typeface="Cambria Math"/>
                              <a:cs typeface="Times New Roman" pitchFamily="18" charset="0"/>
                            </a:rPr>
                            <m:t>𝑏</m:t>
                          </m:r>
                        </m:num>
                        <m:den>
                          <m:sSup>
                            <m:sSupPr>
                              <m:ctrlPr>
                                <a:rPr lang="en-US" sz="19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b="0" i="1" smtClean="0">
                                  <a:latin typeface="Cambria Math"/>
                                  <a:cs typeface="Times New Roman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900" b="0" i="1" smtClean="0">
                                  <a:latin typeface="Cambria Math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19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sz="1900" b="0" i="1" smtClean="0">
                              <a:latin typeface="Cambria Math"/>
                              <a:cs typeface="Times New Roman" pitchFamily="18" charset="0"/>
                            </a:rPr>
                            <m:t>𝑐𝑜𝑠𝑒𝑐</m:t>
                          </m:r>
                        </m:e>
                        <m:sup>
                          <m:r>
                            <a:rPr lang="en-US" sz="1900" b="0" i="1" smtClean="0">
                              <a:latin typeface="Cambria Math"/>
                              <a:cs typeface="Times New Roman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900" b="0" i="1" smtClean="0">
                          <a:latin typeface="Cambria Math"/>
                          <a:cs typeface="Times New Roman" pitchFamily="18" charset="0"/>
                        </a:rPr>
                        <m:t>𝑡</m:t>
                      </m:r>
                    </m:oMath>
                  </m:oMathPara>
                </a14:m>
                <a:endParaRPr lang="en-US" sz="19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712611"/>
                <a:ext cx="4495800" cy="838691"/>
              </a:xfrm>
              <a:prstGeom prst="rect">
                <a:avLst/>
              </a:prstGeom>
              <a:blipFill rotWithShape="1">
                <a:blip r:embed="rId8"/>
                <a:stretch>
                  <a:fillRect r="-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8282218" y="33509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6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0273" y="2900866"/>
            <a:ext cx="24739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Diferensiasi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Implisit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/>
              <p:cNvSpPr/>
              <p:nvPr/>
            </p:nvSpPr>
            <p:spPr>
              <a:xfrm>
                <a:off x="450272" y="3305779"/>
                <a:ext cx="625532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89025" indent="-1089025"/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Bentuk: Turunan dari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id-ID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didapat sebagai berikut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72" y="3305779"/>
                <a:ext cx="6255327" cy="400110"/>
              </a:xfrm>
              <a:prstGeom prst="rect">
                <a:avLst/>
              </a:prstGeom>
              <a:blipFill>
                <a:blip r:embed="rId9"/>
                <a:stretch>
                  <a:fillRect l="-1072" t="-7576" r="-195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/>
              <p:cNvSpPr/>
              <p:nvPr/>
            </p:nvSpPr>
            <p:spPr>
              <a:xfrm>
                <a:off x="376262" y="3756035"/>
                <a:ext cx="8158138" cy="8434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Jika </a:t>
                </a:r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mungkin dapat diubah ke bentuk ekplisit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lalu diperoleh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Tentukan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jika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d-ID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−3=0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62" y="3756035"/>
                <a:ext cx="8158138" cy="843436"/>
              </a:xfrm>
              <a:prstGeom prst="rect">
                <a:avLst/>
              </a:prstGeom>
              <a:blipFill>
                <a:blip r:embed="rId10"/>
                <a:stretch>
                  <a:fillRect l="-822" b="-11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/>
              <p:cNvSpPr/>
              <p:nvPr/>
            </p:nvSpPr>
            <p:spPr>
              <a:xfrm>
                <a:off x="376263" y="4617120"/>
                <a:ext cx="8835752" cy="14589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</a:t>
                </a:r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Setiap suku dalam </a:t>
                </a:r>
                <a14:m>
                  <m:oMath xmlns:m="http://schemas.openxmlformats.org/officeDocument/2006/math">
                    <m:r>
                      <a:rPr lang="id-ID" sz="2000" b="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id-ID" sz="2000" b="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diturunkan terhadap </a:t>
                </a:r>
                <a14:m>
                  <m:oMath xmlns:m="http://schemas.openxmlformats.org/officeDocument/2006/math">
                    <m:r>
                      <a:rPr lang="id-ID" sz="20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id-ID" sz="2000" b="1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id-ID" sz="2000" b="1" i="1">
                            <a:latin typeface="Cambria Math" panose="02040503050406030204" pitchFamily="18" charset="0"/>
                          </a:rPr>
                          <m:t>𝐝𝐢𝐚𝐧𝐠𝐠𝐚𝐩</m:t>
                        </m:r>
                        <m:r>
                          <a:rPr lang="id-ID" sz="2000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d-ID" sz="2000" b="1" i="1">
                            <a:latin typeface="Cambria Math" panose="02040503050406030204" pitchFamily="18" charset="0"/>
                          </a:rPr>
                          <m:t>𝐤𝐨𝐧𝐬𝐭𝐚𝐧</m:t>
                        </m:r>
                      </m:e>
                    </m:d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id-ID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ditambah </a:t>
                </a:r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setiap suku diturunkan terhadap </a:t>
                </a:r>
                <a14:m>
                  <m:oMath xmlns:m="http://schemas.openxmlformats.org/officeDocument/2006/math">
                    <m:r>
                      <a:rPr lang="id-ID" sz="2000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id-ID" sz="20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d-ID" sz="2000" b="1" i="1">
                            <a:latin typeface="Cambria Math" panose="02040503050406030204" pitchFamily="18" charset="0"/>
                          </a:rPr>
                          <m:t>𝐝𝐢𝐚𝐧𝐠𝐠𝐚𝐩</m:t>
                        </m:r>
                        <m:r>
                          <a:rPr lang="id-ID" sz="2000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d-ID" sz="2000" b="1" i="1">
                            <a:latin typeface="Cambria Math" panose="02040503050406030204" pitchFamily="18" charset="0"/>
                          </a:rPr>
                          <m:t>𝐤𝐨𝐧𝐬𝐭𝐚𝐧</m:t>
                        </m:r>
                      </m:e>
                    </m:d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ketika </a:t>
                </a:r>
                <a:endPara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menurunkan terhadap </a:t>
                </a:r>
                <a14:m>
                  <m:oMath xmlns:m="http://schemas.openxmlformats.org/officeDocument/2006/math">
                    <m:r>
                      <a:rPr lang="id-ID" sz="2000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dikali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karena  </a:t>
                </a:r>
                <a14:m>
                  <m:oMath xmlns:m="http://schemas.openxmlformats.org/officeDocument/2006/math">
                    <m:r>
                      <a:rPr lang="id-ID" sz="2000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fungsi dari </a:t>
                </a:r>
                <a14:m>
                  <m:oMath xmlns:m="http://schemas.openxmlformats.org/officeDocument/2006/math">
                    <m:r>
                      <a:rPr lang="id-ID" sz="20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Contoh</a:t>
                </a:r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Tentukan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id-ID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jika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d-ID" sz="2000" b="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id-ID" sz="2000" b="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d-ID" sz="2000" b="0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id-ID" sz="2000" b="0" i="1">
                        <a:latin typeface="Cambria Math" panose="02040503050406030204" pitchFamily="18" charset="0"/>
                      </a:rPr>
                      <m:t>𝑎𝑥𝑦</m:t>
                    </m:r>
                    <m:r>
                      <a:rPr lang="id-ID" sz="2000" b="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63" y="4617120"/>
                <a:ext cx="8835752" cy="1458989"/>
              </a:xfrm>
              <a:prstGeom prst="rect">
                <a:avLst/>
              </a:prstGeom>
              <a:blipFill>
                <a:blip r:embed="rId11"/>
                <a:stretch>
                  <a:fillRect l="-759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87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25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71280" y="3061071"/>
                <a:ext cx="5968858" cy="77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𝑡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b.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0" smtClean="0">
                        <a:latin typeface="Cambria Math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𝑎</m:t>
                            </m:r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𝑐𝑜𝑠</m:t>
                                </m:r>
                              </m:fName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</m:func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𝑏</m:t>
                            </m:r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𝑠𝑖𝑛</m:t>
                                </m:r>
                              </m:fName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𝑡</m:t>
                                </m:r>
                              </m:e>
                            </m:func>
                          </m:e>
                        </m:eqArr>
                      </m:e>
                    </m:d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80" y="3061071"/>
                <a:ext cx="5968858" cy="778868"/>
              </a:xfrm>
              <a:prstGeom prst="rect">
                <a:avLst/>
              </a:prstGeom>
              <a:blipFill>
                <a:blip r:embed="rId2"/>
                <a:stretch>
                  <a:fillRect l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72611" y="2514064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Dapatkan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turunan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pertama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8153" y="1956603"/>
                <a:ext cx="7696200" cy="403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b.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c.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𝑙𝑛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+4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53" y="1956603"/>
                <a:ext cx="7696200" cy="403637"/>
              </a:xfrm>
              <a:prstGeom prst="rect">
                <a:avLst/>
              </a:prstGeom>
              <a:blipFill>
                <a:blip r:embed="rId3"/>
                <a:stretch>
                  <a:fillRect l="-792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72611" y="1507584"/>
            <a:ext cx="723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rumus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aturan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berantai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tentukan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turunan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pertama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2611" y="654928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definisi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tentukan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turunan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pertama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2611" y="228600"/>
            <a:ext cx="883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Tugas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62000" y="1081256"/>
                <a:ext cx="7315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b.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c.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d.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𝑠𝑖𝑛</m:t>
                        </m:r>
                      </m:fName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081256"/>
                <a:ext cx="7315200" cy="400110"/>
              </a:xfrm>
              <a:prstGeom prst="rect">
                <a:avLst/>
              </a:prstGeom>
              <a:blipFill>
                <a:blip r:embed="rId4"/>
                <a:stretch>
                  <a:fillRect l="-83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8282218" y="33509"/>
            <a:ext cx="85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Slide 7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633233" y="3786744"/>
                <a:ext cx="20425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Tentukan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33" y="3786744"/>
                <a:ext cx="2042547" cy="400110"/>
              </a:xfrm>
              <a:prstGeom prst="rect">
                <a:avLst/>
              </a:prstGeom>
              <a:blipFill>
                <a:blip r:embed="rId5"/>
                <a:stretch>
                  <a:fillRect l="-3284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914400" y="4611968"/>
                <a:ext cx="268387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jika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d-ID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611968"/>
                <a:ext cx="2683876" cy="400110"/>
              </a:xfrm>
              <a:prstGeom prst="rect">
                <a:avLst/>
              </a:prstGeom>
              <a:blipFill>
                <a:blip r:embed="rId6"/>
                <a:stretch>
                  <a:fillRect l="-2273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810599" y="4179076"/>
                <a:ext cx="360900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:r>
                  <a:rPr lang="id-ID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jika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id-ID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d-ID" sz="2000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d-ID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99" y="4179076"/>
                <a:ext cx="3609001" cy="400110"/>
              </a:xfrm>
              <a:prstGeom prst="rect">
                <a:avLst/>
              </a:prstGeom>
              <a:blipFill>
                <a:blip r:embed="rId7"/>
                <a:stretch>
                  <a:fillRect l="-169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34636" y="5066351"/>
                <a:ext cx="8804564" cy="1461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5. </a:t>
                </a:r>
                <a:r>
                  <a:rPr lang="en-US" sz="2000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Tentukan</a:t>
                </a: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turunan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pertama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dari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fungsi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  <a:p>
                <a:pPr marL="45720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6. </a:t>
                </a:r>
                <a:r>
                  <a:rPr lang="en-US" sz="2000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Tentukan</a:t>
                </a: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turunan</a:t>
                </a: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kedua</a:t>
                </a: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dari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fungsi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+3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=5.</m:t>
                    </m:r>
                  </m:oMath>
                </a14:m>
                <a:endParaRPr lang="en-US" sz="2000" dirty="0" smtClean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 lvl="0"/>
                <a:r>
                  <a:rPr lang="en-US" sz="20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7.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Diketahui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garis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singgung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pada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kurva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titik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sejajar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dengan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garis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−5=0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tentukan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nilai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" y="5066351"/>
                <a:ext cx="8804564" cy="1461875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548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2" grpId="0"/>
      <p:bldP spid="12" grpId="0"/>
      <p:bldP spid="3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414</Words>
  <Application>Microsoft Office PowerPoint</Application>
  <PresentationFormat>On-screen Show (4:3)</PresentationFormat>
  <Paragraphs>153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asus</cp:lastModifiedBy>
  <cp:revision>51</cp:revision>
  <dcterms:created xsi:type="dcterms:W3CDTF">2015-01-26T23:49:22Z</dcterms:created>
  <dcterms:modified xsi:type="dcterms:W3CDTF">2019-10-30T10:24:00Z</dcterms:modified>
</cp:coreProperties>
</file>