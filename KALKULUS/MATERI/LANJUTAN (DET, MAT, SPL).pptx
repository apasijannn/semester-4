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2" r:id="rId5"/>
    <p:sldId id="263" r:id="rId6"/>
    <p:sldId id="264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536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0F740-9460-45CC-9006-9722BF88A0C1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E008F-6B40-43A1-B66D-436458B43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504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0F740-9460-45CC-9006-9722BF88A0C1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E008F-6B40-43A1-B66D-436458B43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488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0F740-9460-45CC-9006-9722BF88A0C1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E008F-6B40-43A1-B66D-436458B43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758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0F740-9460-45CC-9006-9722BF88A0C1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E008F-6B40-43A1-B66D-436458B43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796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0F740-9460-45CC-9006-9722BF88A0C1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E008F-6B40-43A1-B66D-436458B43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630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0F740-9460-45CC-9006-9722BF88A0C1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E008F-6B40-43A1-B66D-436458B43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01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0F740-9460-45CC-9006-9722BF88A0C1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E008F-6B40-43A1-B66D-436458B43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731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0F740-9460-45CC-9006-9722BF88A0C1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E008F-6B40-43A1-B66D-436458B43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557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0F740-9460-45CC-9006-9722BF88A0C1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E008F-6B40-43A1-B66D-436458B43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905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0F740-9460-45CC-9006-9722BF88A0C1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E008F-6B40-43A1-B66D-436458B43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722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0F740-9460-45CC-9006-9722BF88A0C1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E008F-6B40-43A1-B66D-436458B43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184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0F740-9460-45CC-9006-9722BF88A0C1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E008F-6B40-43A1-B66D-436458B43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858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13.png"/><Relationship Id="rId21" Type="http://schemas.openxmlformats.org/officeDocument/2006/relationships/image" Target="../media/image3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9.png"/><Relationship Id="rId2" Type="http://schemas.openxmlformats.org/officeDocument/2006/relationships/image" Target="../media/image12.png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7.png"/><Relationship Id="rId23" Type="http://schemas.openxmlformats.org/officeDocument/2006/relationships/image" Target="../media/image35.png"/><Relationship Id="rId10" Type="http://schemas.openxmlformats.org/officeDocument/2006/relationships/image" Target="../media/image20.png"/><Relationship Id="rId19" Type="http://schemas.openxmlformats.org/officeDocument/2006/relationships/image" Target="../media/image31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6.png"/><Relationship Id="rId22" Type="http://schemas.openxmlformats.org/officeDocument/2006/relationships/image" Target="../media/image3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26" Type="http://schemas.openxmlformats.org/officeDocument/2006/relationships/image" Target="../media/image60.png"/><Relationship Id="rId3" Type="http://schemas.openxmlformats.org/officeDocument/2006/relationships/image" Target="../media/image37.png"/><Relationship Id="rId21" Type="http://schemas.openxmlformats.org/officeDocument/2006/relationships/image" Target="../media/image55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5" Type="http://schemas.openxmlformats.org/officeDocument/2006/relationships/image" Target="../media/image59.png"/><Relationship Id="rId2" Type="http://schemas.openxmlformats.org/officeDocument/2006/relationships/image" Target="../media/image36.png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24" Type="http://schemas.openxmlformats.org/officeDocument/2006/relationships/image" Target="../media/image58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23" Type="http://schemas.openxmlformats.org/officeDocument/2006/relationships/image" Target="../media/image57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Relationship Id="rId22" Type="http://schemas.openxmlformats.org/officeDocument/2006/relationships/image" Target="../media/image56.png"/><Relationship Id="rId27" Type="http://schemas.openxmlformats.org/officeDocument/2006/relationships/image" Target="../media/image6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7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image" Target="../media/image69.png"/><Relationship Id="rId5" Type="http://schemas.openxmlformats.org/officeDocument/2006/relationships/image" Target="../media/image62.png"/><Relationship Id="rId10" Type="http://schemas.openxmlformats.org/officeDocument/2006/relationships/image" Target="../media/image68.png"/><Relationship Id="rId4" Type="http://schemas.openxmlformats.org/officeDocument/2006/relationships/image" Target="../media/image64.png"/><Relationship Id="rId9" Type="http://schemas.openxmlformats.org/officeDocument/2006/relationships/image" Target="../media/image6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26" Type="http://schemas.openxmlformats.org/officeDocument/2006/relationships/image" Target="NULL"/><Relationship Id="rId3" Type="http://schemas.openxmlformats.org/officeDocument/2006/relationships/image" Target="NULL"/><Relationship Id="rId21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5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24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NULL"/><Relationship Id="rId28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NULL"/><Relationship Id="rId27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png"/><Relationship Id="rId13" Type="http://schemas.openxmlformats.org/officeDocument/2006/relationships/image" Target="../media/image390.png"/><Relationship Id="rId18" Type="http://schemas.openxmlformats.org/officeDocument/2006/relationships/image" Target="../media/image440.png"/><Relationship Id="rId3" Type="http://schemas.openxmlformats.org/officeDocument/2006/relationships/image" Target="../media/image290.png"/><Relationship Id="rId21" Type="http://schemas.openxmlformats.org/officeDocument/2006/relationships/image" Target="../media/image470.png"/><Relationship Id="rId7" Type="http://schemas.openxmlformats.org/officeDocument/2006/relationships/image" Target="../media/image330.png"/><Relationship Id="rId12" Type="http://schemas.openxmlformats.org/officeDocument/2006/relationships/image" Target="../media/image380.png"/><Relationship Id="rId17" Type="http://schemas.openxmlformats.org/officeDocument/2006/relationships/image" Target="../media/image430.png"/><Relationship Id="rId2" Type="http://schemas.openxmlformats.org/officeDocument/2006/relationships/image" Target="../media/image280.png"/><Relationship Id="rId16" Type="http://schemas.openxmlformats.org/officeDocument/2006/relationships/image" Target="../media/image420.png"/><Relationship Id="rId20" Type="http://schemas.openxmlformats.org/officeDocument/2006/relationships/image" Target="../media/image4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0.png"/><Relationship Id="rId11" Type="http://schemas.openxmlformats.org/officeDocument/2006/relationships/image" Target="../media/image370.png"/><Relationship Id="rId24" Type="http://schemas.openxmlformats.org/officeDocument/2006/relationships/image" Target="../media/image500.png"/><Relationship Id="rId5" Type="http://schemas.openxmlformats.org/officeDocument/2006/relationships/image" Target="../media/image310.png"/><Relationship Id="rId15" Type="http://schemas.openxmlformats.org/officeDocument/2006/relationships/image" Target="../media/image410.png"/><Relationship Id="rId23" Type="http://schemas.openxmlformats.org/officeDocument/2006/relationships/image" Target="../media/image490.png"/><Relationship Id="rId10" Type="http://schemas.openxmlformats.org/officeDocument/2006/relationships/image" Target="../media/image360.png"/><Relationship Id="rId19" Type="http://schemas.openxmlformats.org/officeDocument/2006/relationships/image" Target="../media/image450.png"/><Relationship Id="rId4" Type="http://schemas.openxmlformats.org/officeDocument/2006/relationships/image" Target="../media/image300.png"/><Relationship Id="rId9" Type="http://schemas.openxmlformats.org/officeDocument/2006/relationships/image" Target="../media/image350.png"/><Relationship Id="rId14" Type="http://schemas.openxmlformats.org/officeDocument/2006/relationships/image" Target="../media/image400.png"/><Relationship Id="rId22" Type="http://schemas.openxmlformats.org/officeDocument/2006/relationships/image" Target="../media/image48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0.png"/><Relationship Id="rId3" Type="http://schemas.openxmlformats.org/officeDocument/2006/relationships/image" Target="../media/image520.png"/><Relationship Id="rId7" Type="http://schemas.openxmlformats.org/officeDocument/2006/relationships/image" Target="../media/image560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0.png"/><Relationship Id="rId5" Type="http://schemas.openxmlformats.org/officeDocument/2006/relationships/image" Target="../media/image540.png"/><Relationship Id="rId4" Type="http://schemas.openxmlformats.org/officeDocument/2006/relationships/image" Target="../media/image5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1000" y="458492"/>
                <a:ext cx="1721425" cy="6083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1.  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=4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=−2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458492"/>
                <a:ext cx="1721425" cy="608308"/>
              </a:xfrm>
              <a:prstGeom prst="rect">
                <a:avLst/>
              </a:prstGeom>
              <a:blipFill rotWithShape="1">
                <a:blip r:embed="rId2"/>
                <a:stretch>
                  <a:fillRect r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472823" y="228600"/>
                <a:ext cx="2422130" cy="9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2.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𝑧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=6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+2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+3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𝑧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=14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+4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+9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𝑧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=36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2823" y="228600"/>
                <a:ext cx="2422130" cy="976614"/>
              </a:xfrm>
              <a:prstGeom prst="rect">
                <a:avLst/>
              </a:prstGeom>
              <a:blipFill rotWithShape="1">
                <a:blip r:embed="rId3"/>
                <a:stretch>
                  <a:fillRect l="-22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342504" y="-76200"/>
            <a:ext cx="3867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Contoh</a:t>
            </a:r>
            <a:r>
              <a:rPr lang="en-US" dirty="0"/>
              <a:t>: </a:t>
            </a:r>
            <a:r>
              <a:rPr lang="en-US" dirty="0" err="1"/>
              <a:t>Selesaikan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persamaan</a:t>
            </a:r>
            <a:r>
              <a:rPr lang="en-US" dirty="0"/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8197" y="1219200"/>
            <a:ext cx="1072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Jawab</a:t>
            </a:r>
            <a:r>
              <a:rPr lang="en-US" dirty="0"/>
              <a:t> 1: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1291820" y="1143000"/>
                <a:ext cx="2540888" cy="5542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1">
                              <a:latin typeface="Cambria Math"/>
                            </a:rPr>
                            <m:t>𝐼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1820" y="1143000"/>
                <a:ext cx="2540888" cy="554254"/>
              </a:xfrm>
              <a:prstGeom prst="rect">
                <a:avLst/>
              </a:prstGeom>
              <a:blipFill rotWithShape="1">
                <a:blip r:embed="rId4"/>
                <a:stretch>
                  <a:fillRect r="-2398" b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677950" y="1143000"/>
                <a:ext cx="744755" cy="4644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↔"/>
                          <m:vertJc m:val="bot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brk m:alnAt="2"/>
                            </m:rPr>
                            <a:rPr lang="en-US" b="0" i="1" smtClean="0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groupCh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7950" y="1143000"/>
                <a:ext cx="744755" cy="464486"/>
              </a:xfrm>
              <a:prstGeom prst="rect">
                <a:avLst/>
              </a:prstGeom>
              <a:blipFill rotWithShape="1">
                <a:blip r:embed="rId5"/>
                <a:stretch>
                  <a:fillRect r="-9756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191000" y="1143000"/>
                <a:ext cx="2096087" cy="5542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1143000"/>
                <a:ext cx="2096087" cy="554254"/>
              </a:xfrm>
              <a:prstGeom prst="rect">
                <a:avLst/>
              </a:prstGeom>
              <a:blipFill rotWithShape="1">
                <a:blip r:embed="rId6"/>
                <a:stretch>
                  <a:fillRect r="-3499" b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6019800" y="990600"/>
                <a:ext cx="816441" cy="6565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↔"/>
                          <m:vertJc m:val="bot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groupCh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990600"/>
                <a:ext cx="816441" cy="656526"/>
              </a:xfrm>
              <a:prstGeom prst="rect">
                <a:avLst/>
              </a:prstGeom>
              <a:blipFill rotWithShape="1">
                <a:blip r:embed="rId7"/>
                <a:stretch>
                  <a:fillRect r="-9774" b="-140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1241712" y="1673895"/>
                <a:ext cx="2438616" cy="7146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type m:val="skw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type m:val="skw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712" y="1673895"/>
                <a:ext cx="2438616" cy="714683"/>
              </a:xfrm>
              <a:prstGeom prst="rect">
                <a:avLst/>
              </a:prstGeom>
              <a:blipFill rotWithShape="1">
                <a:blip r:embed="rId8"/>
                <a:stretch>
                  <a:fillRect r="-2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491189" y="1828800"/>
                <a:ext cx="744755" cy="4644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↔"/>
                          <m:vertJc m:val="bot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brk m:alnAt="2"/>
                            </m:rPr>
                            <a:rPr lang="en-US" b="0" i="1" smtClean="0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groupCh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189" y="1828800"/>
                <a:ext cx="744755" cy="464486"/>
              </a:xfrm>
              <a:prstGeom prst="rect">
                <a:avLst/>
              </a:prstGeom>
              <a:blipFill rotWithShape="1">
                <a:blip r:embed="rId9"/>
                <a:stretch>
                  <a:fillRect r="-9836" b="-2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4165487" y="1676400"/>
                <a:ext cx="2455736" cy="8524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type m:val="skw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type m:val="skw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type m:val="skw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type m:val="skw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5487" y="1676400"/>
                <a:ext cx="2455736" cy="852477"/>
              </a:xfrm>
              <a:prstGeom prst="rect">
                <a:avLst/>
              </a:prstGeom>
              <a:blipFill rotWithShape="1">
                <a:blip r:embed="rId10"/>
                <a:stretch>
                  <a:fillRect r="-2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6403097" y="1905000"/>
                <a:ext cx="12606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𝐼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</a:rPr>
                                <m:t>−1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3097" y="1905000"/>
                <a:ext cx="1260602" cy="369332"/>
              </a:xfrm>
              <a:prstGeom prst="rect">
                <a:avLst/>
              </a:prstGeom>
              <a:blipFill rotWithShape="1">
                <a:blip r:embed="rId11"/>
                <a:stretch>
                  <a:fillRect t="-121667" r="-5797" b="-18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1241713" y="2362200"/>
                <a:ext cx="2808614" cy="8524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type m:val="skw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type m:val="skw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type m:val="skw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type m:val="skw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713" y="2362200"/>
                <a:ext cx="2808614" cy="852477"/>
              </a:xfrm>
              <a:prstGeom prst="rect">
                <a:avLst/>
              </a:prstGeom>
              <a:blipFill rotWithShape="1">
                <a:blip r:embed="rId12"/>
                <a:stretch>
                  <a:fillRect r="-3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3892479" y="2528877"/>
                <a:ext cx="1530997" cy="5555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2479" y="2528877"/>
                <a:ext cx="1530997" cy="555537"/>
              </a:xfrm>
              <a:prstGeom prst="rect">
                <a:avLst/>
              </a:prstGeom>
              <a:blipFill rotWithShape="1">
                <a:blip r:embed="rId13"/>
                <a:stretch>
                  <a:fillRect r="-4382" b="-1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/>
          <p:cNvSpPr txBox="1"/>
          <p:nvPr/>
        </p:nvSpPr>
        <p:spPr>
          <a:xfrm>
            <a:off x="457200" y="3200400"/>
            <a:ext cx="1167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Jawab</a:t>
            </a:r>
            <a:r>
              <a:rPr lang="en-US" dirty="0"/>
              <a:t> 2: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5867400" y="2985094"/>
                <a:ext cx="2072875" cy="8249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→</m:t>
                      </m:r>
                      <m:r>
                        <a:rPr lang="en-US" b="0" i="1" smtClean="0">
                          <a:latin typeface="Cambria Math"/>
                        </a:rPr>
                        <m:t>𝐴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2985094"/>
                <a:ext cx="2072875" cy="824906"/>
              </a:xfrm>
              <a:prstGeom prst="rect">
                <a:avLst/>
              </a:prstGeom>
              <a:blipFill rotWithShape="1">
                <a:blip r:embed="rId14"/>
                <a:stretch>
                  <a:fillRect r="-3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1371600" y="3097703"/>
                <a:ext cx="4547754" cy="559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u</a:t>
                </a:r>
                <a:r>
                  <a:rPr lang="en-US" dirty="0" err="1"/>
                  <a:t>ntuk</a:t>
                </a:r>
                <a:r>
                  <a:rPr lang="en-US" dirty="0"/>
                  <a:t> </a:t>
                </a:r>
                <a:r>
                  <a:rPr lang="en-US" dirty="0" err="1"/>
                  <a:t>mencari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dengan</a:t>
                </a:r>
                <a:r>
                  <a:rPr lang="en-US" dirty="0"/>
                  <a:t> </a:t>
                </a:r>
                <a:r>
                  <a:rPr lang="en-US" dirty="0" err="1"/>
                  <a:t>rumus</a:t>
                </a:r>
                <a:r>
                  <a:rPr lang="en-US" dirty="0"/>
                  <a:t>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𝐾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𝑇</m:t>
                            </m:r>
                          </m:sup>
                        </m:sSup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𝐴</m:t>
                            </m:r>
                          </m:e>
                        </m:d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3097703"/>
                <a:ext cx="4547754" cy="559897"/>
              </a:xfrm>
              <a:prstGeom prst="rect">
                <a:avLst/>
              </a:prstGeom>
              <a:blipFill rotWithShape="1">
                <a:blip r:embed="rId15"/>
                <a:stretch>
                  <a:fillRect l="-1072" r="-402" b="-1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342504" y="4343400"/>
                <a:ext cx="3627275" cy="1394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/>
                        </a:rPr>
                        <m:t>𝐾</m:t>
                      </m:r>
                      <m:r>
                        <a:rPr lang="en-US" sz="1600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e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3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4</m:t>
                                          </m:r>
                                        </m:e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9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  <m:e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−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3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9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4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−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4</m:t>
                                          </m:r>
                                        </m:e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9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9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  <m:e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−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4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e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3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  <m:e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−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3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504" y="4343400"/>
                <a:ext cx="3627275" cy="1394997"/>
              </a:xfrm>
              <a:prstGeom prst="rect">
                <a:avLst/>
              </a:prstGeom>
              <a:blipFill rotWithShape="1">
                <a:blip r:embed="rId16"/>
                <a:stretch>
                  <a:fillRect r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4122060" y="4038600"/>
                <a:ext cx="2354940" cy="823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𝐾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−6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−5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2060" y="4038600"/>
                <a:ext cx="2354940" cy="823110"/>
              </a:xfrm>
              <a:prstGeom prst="rect">
                <a:avLst/>
              </a:prstGeom>
              <a:blipFill rotWithShape="1">
                <a:blip r:embed="rId17"/>
                <a:stretch>
                  <a:fillRect r="-2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1472046" y="3505200"/>
                <a:ext cx="6441315" cy="8249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9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18+3+4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2+12+9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=25−23=2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046" y="3505200"/>
                <a:ext cx="6441315" cy="824906"/>
              </a:xfrm>
              <a:prstGeom prst="rect">
                <a:avLst/>
              </a:prstGeom>
              <a:blipFill rotWithShape="1">
                <a:blip r:embed="rId18"/>
                <a:stretch>
                  <a:fillRect r="-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6277509" y="4038600"/>
                <a:ext cx="2672783" cy="8304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→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−5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−6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7509" y="4038600"/>
                <a:ext cx="2672783" cy="830484"/>
              </a:xfrm>
              <a:prstGeom prst="rect">
                <a:avLst/>
              </a:prstGeom>
              <a:blipFill rotWithShape="1">
                <a:blip r:embed="rId19"/>
                <a:stretch>
                  <a:fillRect r="-2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4271334" y="4859824"/>
                <a:ext cx="4383316" cy="9736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 err="1"/>
                  <a:t>maka</a:t>
                </a:r>
                <a:r>
                  <a:rPr lang="en-US" sz="1600" dirty="0"/>
                  <a:t>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1600" i="1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sz="1600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600" i="1">
                                      <a:latin typeface="Cambria Math"/>
                                    </a:rPr>
                                    <m:t>6</m:t>
                                  </m:r>
                                </m:e>
                                <m:e>
                                  <m:r>
                                    <a:rPr lang="en-US" sz="1600" i="1">
                                      <a:latin typeface="Cambria Math"/>
                                    </a:rPr>
                                    <m:t>−5</m:t>
                                  </m:r>
                                </m:e>
                                <m:e>
                                  <m:r>
                                    <a:rPr lang="en-US" sz="1600" i="1">
                                      <a:latin typeface="Cambria Math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1600" i="1">
                                      <a:latin typeface="Cambria Math"/>
                                    </a:rPr>
                                    <m:t>−6</m:t>
                                  </m:r>
                                </m:e>
                                <m:e>
                                  <m:r>
                                    <a:rPr lang="en-US" sz="1600" i="1">
                                      <a:latin typeface="Cambria Math"/>
                                    </a:rPr>
                                    <m:t>8</m:t>
                                  </m:r>
                                </m:e>
                                <m:e>
                                  <m:r>
                                    <a:rPr lang="en-US" sz="1600" i="1">
                                      <a:latin typeface="Cambria Math"/>
                                    </a:rPr>
                                    <m:t>−2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1600" i="1">
                                      <a:latin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sz="1600" i="1">
                                      <a:latin typeface="Cambria Math"/>
                                    </a:rPr>
                                    <m:t>−3</m:t>
                                  </m:r>
                                </m:e>
                                <m:e>
                                  <m:r>
                                    <a:rPr lang="en-US" sz="1600" i="1">
                                      <a:latin typeface="Cambria Math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num>
                      <m:den>
                        <m:r>
                          <a:rPr lang="en-US" sz="1600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sz="1600" b="0" i="0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600" b="0" i="1" smtClean="0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1600" b="0" i="1" smtClean="0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type m:val="skw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latin typeface="Cambria Math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sz="1600" b="0" i="1" smtClean="0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skw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600" b="0" i="1" smtClean="0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sz="1600" b="0" i="1" smtClean="0">
                                  <a:latin typeface="Cambria Math"/>
                                </a:rPr>
                                <m:t>−3</m:t>
                              </m:r>
                            </m:e>
                            <m:e>
                              <m:r>
                                <a:rPr lang="en-US" sz="1600" b="0" i="1" smtClean="0">
                                  <a:latin typeface="Cambria Math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1600" b="0" i="1" smtClean="0">
                                  <a:latin typeface="Cambria Math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sz="1600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600" b="0" i="1" smtClean="0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type m:val="skw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latin typeface="Cambria Math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1600" b="0" i="1" smtClean="0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skw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600" b="0" i="1" smtClean="0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1334" y="4859824"/>
                <a:ext cx="4383316" cy="973600"/>
              </a:xfrm>
              <a:prstGeom prst="rect">
                <a:avLst/>
              </a:prstGeom>
              <a:blipFill rotWithShape="1">
                <a:blip r:embed="rId20"/>
                <a:stretch>
                  <a:fillRect l="-834" r="-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/>
              <p:cNvSpPr/>
              <p:nvPr/>
            </p:nvSpPr>
            <p:spPr>
              <a:xfrm>
                <a:off x="228600" y="5725810"/>
                <a:ext cx="3845540" cy="9840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jadi: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</m:mr>
                        </m:m>
                      </m:e>
                    </m:d>
                    <m:r>
                      <a:rPr lang="en-US" b="0" i="0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type m:val="skw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skw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−3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type m:val="skw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skw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14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36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1" name="Rectangle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5725810"/>
                <a:ext cx="3845540" cy="984052"/>
              </a:xfrm>
              <a:prstGeom prst="rect">
                <a:avLst/>
              </a:prstGeom>
              <a:blipFill rotWithShape="1">
                <a:blip r:embed="rId21"/>
                <a:stretch>
                  <a:fillRect l="-1429" r="-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/>
              <p:cNvSpPr/>
              <p:nvPr/>
            </p:nvSpPr>
            <p:spPr>
              <a:xfrm>
                <a:off x="3810000" y="5833424"/>
                <a:ext cx="2971006" cy="8304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→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</m:mr>
                        </m:m>
                      </m:e>
                    </m:d>
                    <m:r>
                      <a:rPr lang="en-US" b="0" i="0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8−35+18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−18+56−36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6−21+18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3" name="Rectangle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5833424"/>
                <a:ext cx="2971006" cy="830484"/>
              </a:xfrm>
              <a:prstGeom prst="rect">
                <a:avLst/>
              </a:prstGeom>
              <a:blipFill rotWithShape="1">
                <a:blip r:embed="rId22"/>
                <a:stretch>
                  <a:fillRect l="-1643" r="-26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/>
          <p:cNvCxnSpPr/>
          <p:nvPr/>
        </p:nvCxnSpPr>
        <p:spPr>
          <a:xfrm flipV="1">
            <a:off x="3886200" y="4627610"/>
            <a:ext cx="369283" cy="172990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6553200" y="5880694"/>
                <a:ext cx="1605248" cy="8249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→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</m:mr>
                        </m:m>
                      </m:e>
                    </m:d>
                    <m:r>
                      <a:rPr lang="en-US" b="0" i="0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0" y="5880694"/>
                <a:ext cx="1605248" cy="824906"/>
              </a:xfrm>
              <a:prstGeom prst="rect">
                <a:avLst/>
              </a:prstGeom>
              <a:blipFill rotWithShape="1">
                <a:blip r:embed="rId23"/>
                <a:stretch>
                  <a:fillRect l="-3042" r="-5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4081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0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6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1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6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1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21" grpId="0"/>
      <p:bldP spid="22" grpId="0"/>
      <p:bldP spid="23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4" grpId="0"/>
      <p:bldP spid="35" grpId="0"/>
      <p:bldP spid="36" grpId="0"/>
      <p:bldP spid="38" grpId="0"/>
      <p:bldP spid="40" grpId="0"/>
      <p:bldP spid="41" grpId="0"/>
      <p:bldP spid="42" grpId="0"/>
      <p:bldP spid="45" grpId="0"/>
      <p:bldP spid="46" grpId="0"/>
      <p:bldP spid="47" grpId="0"/>
      <p:bldP spid="51" grpId="0"/>
      <p:bldP spid="53" grpId="0"/>
      <p:bldP spid="3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624697" y="533400"/>
            <a:ext cx="2314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dengan</a:t>
            </a:r>
            <a:r>
              <a:rPr lang="en-US" dirty="0"/>
              <a:t> OBE </a:t>
            </a:r>
            <a:r>
              <a:rPr lang="en-US" dirty="0" err="1"/>
              <a:t>dijadikan</a:t>
            </a:r>
            <a:r>
              <a:rPr lang="en-US" dirty="0"/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31045" y="533400"/>
                <a:ext cx="56125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Caranya, yaitu matriks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𝐴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 err="1">
                    <a:latin typeface="Times New Roman" pitchFamily="18" charset="0"/>
                    <a:cs typeface="Times New Roman" pitchFamily="18" charset="0"/>
                  </a:rPr>
                  <a:t>pada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 err="1">
                    <a:latin typeface="Times New Roman" pitchFamily="18" charset="0"/>
                    <a:cs typeface="Times New Roman" pitchFamily="18" charset="0"/>
                  </a:rPr>
                  <a:t>matriks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diperbesar: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/>
                      </a:rPr>
                      <m:t> 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l-GR" i="1" smtClean="0">
                            <a:latin typeface="Cambria Math"/>
                            <a:ea typeface="Cambria Math"/>
                          </a:rPr>
                          <m:t>Ι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𝐻</m:t>
                        </m:r>
                      </m:e>
                    </m:d>
                  </m:oMath>
                </a14:m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045" y="533400"/>
                <a:ext cx="5612555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869" t="-8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6706203" y="1154668"/>
            <a:ext cx="2353542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matriks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segitiga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atas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31045" y="152400"/>
            <a:ext cx="5993555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Penyelesaian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metode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augmented/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matriks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diperbesar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65681" y="1371600"/>
                <a:ext cx="1721425" cy="6083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1.  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=4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=−2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681" y="1371600"/>
                <a:ext cx="1721425" cy="608308"/>
              </a:xfrm>
              <a:prstGeom prst="rect">
                <a:avLst/>
              </a:prstGeom>
              <a:blipFill rotWithShape="1">
                <a:blip r:embed="rId3"/>
                <a:stretch>
                  <a:fillRect r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085968" y="1219200"/>
                <a:ext cx="2422130" cy="9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2.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𝑧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=6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+2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+3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𝑧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=14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+4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+9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𝑧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=36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5968" y="1219200"/>
                <a:ext cx="2422130" cy="976614"/>
              </a:xfrm>
              <a:prstGeom prst="rect">
                <a:avLst/>
              </a:prstGeom>
              <a:blipFill rotWithShape="1">
                <a:blip r:embed="rId4"/>
                <a:stretch>
                  <a:fillRect l="-20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365681" y="2373868"/>
            <a:ext cx="1107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Jawab</a:t>
            </a:r>
            <a:r>
              <a:rPr lang="en-US" dirty="0"/>
              <a:t>.  1: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308328" y="2276470"/>
                <a:ext cx="2425472" cy="5524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𝐴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n-US" b="0" i="1" smtClean="0">
                              <a:latin typeface="Cambria Math"/>
                            </a:rPr>
                            <m:t>H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8328" y="2276470"/>
                <a:ext cx="2425472" cy="552459"/>
              </a:xfrm>
              <a:prstGeom prst="rect">
                <a:avLst/>
              </a:prstGeom>
              <a:blipFill rotWithShape="1">
                <a:blip r:embed="rId5"/>
                <a:stretch>
                  <a:fillRect r="-2513" b="-1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522445" y="2286000"/>
                <a:ext cx="744755" cy="4644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↔"/>
                          <m:vertJc m:val="bot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brk m:alnAt="2"/>
                            </m:rPr>
                            <a:rPr lang="en-US" b="0" i="1" smtClean="0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groupCh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445" y="2286000"/>
                <a:ext cx="744755" cy="464486"/>
              </a:xfrm>
              <a:prstGeom prst="rect">
                <a:avLst/>
              </a:prstGeom>
              <a:blipFill rotWithShape="1">
                <a:blip r:embed="rId6"/>
                <a:stretch>
                  <a:fillRect r="-9836" b="-2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529807" y="914400"/>
                <a:ext cx="2121543" cy="5555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Jawab</a:t>
                </a:r>
                <a:r>
                  <a:rPr lang="en-US" dirty="0"/>
                  <a:t>. 1: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807" y="914400"/>
                <a:ext cx="2121543" cy="555537"/>
              </a:xfrm>
              <a:prstGeom prst="rect">
                <a:avLst/>
              </a:prstGeom>
              <a:blipFill rotWithShape="1">
                <a:blip r:embed="rId7"/>
                <a:stretch>
                  <a:fillRect l="-2299" r="-4310" b="-1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4483063" y="1498982"/>
                <a:ext cx="2215030" cy="8249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Jawab. 2: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</m:mr>
                        </m:m>
                      </m:e>
                    </m:d>
                    <m:r>
                      <a:rPr lang="en-US" b="0" i="0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3063" y="1498982"/>
                <a:ext cx="2215030" cy="824906"/>
              </a:xfrm>
              <a:prstGeom prst="rect">
                <a:avLst/>
              </a:prstGeom>
              <a:blipFill rotWithShape="1">
                <a:blip r:embed="rId8"/>
                <a:stretch>
                  <a:fillRect l="-2198" r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4130386" y="2286000"/>
                <a:ext cx="1737014" cy="5542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−6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386" y="2286000"/>
                <a:ext cx="1737014" cy="554254"/>
              </a:xfrm>
              <a:prstGeom prst="rect">
                <a:avLst/>
              </a:prstGeom>
              <a:blipFill rotWithShape="1">
                <a:blip r:embed="rId9"/>
                <a:stretch>
                  <a:fillRect r="-4211" b="-1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1301864" y="2819400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Dari </a:t>
            </a:r>
            <a:r>
              <a:rPr lang="en-US" dirty="0" err="1"/>
              <a:t>baris</a:t>
            </a:r>
            <a:r>
              <a:rPr lang="en-US" dirty="0"/>
              <a:t> ke-2, </a:t>
            </a:r>
            <a:r>
              <a:rPr lang="en-US" dirty="0" err="1"/>
              <a:t>didapat</a:t>
            </a:r>
            <a:r>
              <a:rPr lang="en-US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541273" y="2819400"/>
                <a:ext cx="16367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0</m:t>
                      </m:r>
                      <m:r>
                        <a:rPr lang="en-US" b="0" i="1" smtClean="0">
                          <a:latin typeface="Cambria Math"/>
                        </a:rPr>
                        <m:t>𝑥</m:t>
                      </m:r>
                      <m:r>
                        <a:rPr lang="en-US" b="0" i="1" smtClean="0">
                          <a:latin typeface="Cambria Math"/>
                        </a:rPr>
                        <m:t>−2</m:t>
                      </m:r>
                      <m:r>
                        <a:rPr lang="en-US" b="0" i="1" smtClean="0">
                          <a:latin typeface="Cambria Math"/>
                        </a:rPr>
                        <m:t>𝑦</m:t>
                      </m:r>
                      <m:r>
                        <a:rPr lang="en-US" b="0" i="1" smtClean="0">
                          <a:latin typeface="Cambria Math"/>
                        </a:rPr>
                        <m:t>=−6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1273" y="2819400"/>
                <a:ext cx="1636730" cy="369332"/>
              </a:xfrm>
              <a:prstGeom prst="rect">
                <a:avLst/>
              </a:prstGeom>
              <a:blipFill rotWithShape="1">
                <a:blip r:embed="rId10"/>
                <a:stretch>
                  <a:fillRect t="-8333" r="-4104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095161" y="2819400"/>
                <a:ext cx="10590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→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𝑦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=3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5161" y="2819400"/>
                <a:ext cx="1059072" cy="369332"/>
              </a:xfrm>
              <a:prstGeom prst="rect">
                <a:avLst/>
              </a:prstGeom>
              <a:blipFill rotWithShape="1">
                <a:blip r:embed="rId11"/>
                <a:stretch>
                  <a:fillRect t="-8333" r="-6322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/>
          <p:cNvSpPr txBox="1"/>
          <p:nvPr/>
        </p:nvSpPr>
        <p:spPr>
          <a:xfrm>
            <a:off x="1295400" y="3200400"/>
            <a:ext cx="2805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baris</a:t>
            </a:r>
            <a:r>
              <a:rPr lang="en-US" dirty="0"/>
              <a:t> ke-1, </a:t>
            </a:r>
            <a:r>
              <a:rPr lang="en-US" dirty="0" err="1"/>
              <a:t>didapat</a:t>
            </a:r>
            <a:r>
              <a:rPr lang="en-US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969588" y="3200400"/>
                <a:ext cx="14636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</a:rPr>
                        <m:t>1</m:t>
                      </m:r>
                      <m:r>
                        <a:rPr lang="en-US" b="0" i="1" smtClean="0">
                          <a:latin typeface="Cambria Math"/>
                        </a:rPr>
                        <m:t>𝑥</m:t>
                      </m:r>
                      <m:r>
                        <a:rPr lang="en-US" b="0" i="1" smtClean="0">
                          <a:latin typeface="Cambria Math"/>
                        </a:rPr>
                        <m:t>+1</m:t>
                      </m:r>
                      <m:r>
                        <a:rPr lang="en-US" b="0" i="1" smtClean="0">
                          <a:latin typeface="Cambria Math"/>
                        </a:rPr>
                        <m:t>𝑦</m:t>
                      </m:r>
                      <m:r>
                        <a:rPr lang="en-US" b="0" i="1" smtClean="0">
                          <a:latin typeface="Cambria Math"/>
                        </a:rPr>
                        <m:t>=4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9588" y="3200400"/>
                <a:ext cx="1463606" cy="369332"/>
              </a:xfrm>
              <a:prstGeom prst="rect">
                <a:avLst/>
              </a:prstGeom>
              <a:blipFill rotWithShape="1">
                <a:blip r:embed="rId12"/>
                <a:stretch>
                  <a:fillRect t="-8197" r="-500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5302933" y="3200400"/>
                <a:ext cx="14788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↔</m:t>
                      </m:r>
                      <m:r>
                        <a:rPr lang="en-US" b="0" i="1" smtClean="0">
                          <a:latin typeface="Cambria Math"/>
                        </a:rPr>
                        <m:t>𝑥</m:t>
                      </m:r>
                      <m:r>
                        <a:rPr lang="en-US" b="0" i="1" smtClean="0">
                          <a:latin typeface="Cambria Math"/>
                        </a:rPr>
                        <m:t>+3=4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2933" y="3200400"/>
                <a:ext cx="1478866" cy="369332"/>
              </a:xfrm>
              <a:prstGeom prst="rect">
                <a:avLst/>
              </a:prstGeom>
              <a:blipFill rotWithShape="1">
                <a:blip r:embed="rId13"/>
                <a:stretch>
                  <a:fillRect t="-8197" r="-495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6629400" y="3200400"/>
                <a:ext cx="10556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→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0" y="3200400"/>
                <a:ext cx="1055674" cy="369332"/>
              </a:xfrm>
              <a:prstGeom prst="rect">
                <a:avLst/>
              </a:prstGeom>
              <a:blipFill rotWithShape="1">
                <a:blip r:embed="rId14"/>
                <a:stretch>
                  <a:fillRect t="-8197" r="-69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331045" y="884998"/>
            <a:ext cx="3867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Contoh</a:t>
            </a:r>
            <a:r>
              <a:rPr lang="en-US" dirty="0"/>
              <a:t>: </a:t>
            </a:r>
            <a:r>
              <a:rPr lang="en-US" dirty="0" err="1"/>
              <a:t>Selesaikan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persamaan</a:t>
            </a:r>
            <a:r>
              <a:rPr lang="en-US" dirty="0"/>
              <a:t>:</a:t>
            </a:r>
          </a:p>
        </p:txBody>
      </p:sp>
      <p:sp>
        <p:nvSpPr>
          <p:cNvPr id="30" name="Bent Arrow 29"/>
          <p:cNvSpPr/>
          <p:nvPr/>
        </p:nvSpPr>
        <p:spPr>
          <a:xfrm rot="5400000">
            <a:off x="7871783" y="708983"/>
            <a:ext cx="366899" cy="348734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00584" y="3810000"/>
            <a:ext cx="1072243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Jawab</a:t>
            </a:r>
            <a:r>
              <a:rPr lang="en-US" dirty="0"/>
              <a:t>. 2: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1295400" y="3572637"/>
                <a:ext cx="2662524" cy="846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𝐴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n-US" b="0" i="1" smtClean="0">
                              <a:latin typeface="Cambria Math"/>
                            </a:rPr>
                            <m:t>H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9</m:t>
                                </m:r>
                              </m:e>
                            </m:mr>
                          </m:m>
                        </m:e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36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3572637"/>
                <a:ext cx="2662524" cy="846963"/>
              </a:xfrm>
              <a:prstGeom prst="rect">
                <a:avLst/>
              </a:prstGeom>
              <a:blipFill rotWithShape="1">
                <a:blip r:embed="rId15"/>
                <a:stretch>
                  <a:fillRect r="-18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3798845" y="3686261"/>
                <a:ext cx="619400" cy="5216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↔"/>
                          <m:vertJc m:val="bot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latin typeface="Cambria Math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groupCh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8845" y="3686261"/>
                <a:ext cx="619400" cy="521618"/>
              </a:xfrm>
              <a:prstGeom prst="rect">
                <a:avLst/>
              </a:prstGeom>
              <a:blipFill rotWithShape="1">
                <a:blip r:embed="rId16"/>
                <a:stretch>
                  <a:fillRect r="-6863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4255971" y="3611232"/>
                <a:ext cx="1935593" cy="8249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8</m:t>
                                </m:r>
                              </m:e>
                            </m:mr>
                          </m:m>
                        </m:e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30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5971" y="3611232"/>
                <a:ext cx="1935593" cy="824906"/>
              </a:xfrm>
              <a:prstGeom prst="rect">
                <a:avLst/>
              </a:prstGeom>
              <a:blipFill rotWithShape="1">
                <a:blip r:embed="rId17"/>
                <a:stretch>
                  <a:fillRect r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5997362" y="3733800"/>
                <a:ext cx="842538" cy="4644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↔"/>
                          <m:vertJc m:val="bot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  <m:r>
                            <m:rPr>
                              <m:brk m:alnAt="2"/>
                            </m:rPr>
                            <a:rPr lang="en-US" b="0" i="1" smtClean="0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groupCh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7362" y="3733800"/>
                <a:ext cx="842538" cy="464486"/>
              </a:xfrm>
              <a:prstGeom prst="rect">
                <a:avLst/>
              </a:prstGeom>
              <a:blipFill rotWithShape="1">
                <a:blip r:embed="rId18"/>
                <a:stretch>
                  <a:fillRect r="-8696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6717885" y="3581400"/>
                <a:ext cx="1807354" cy="8249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7885" y="3581400"/>
                <a:ext cx="1807354" cy="824906"/>
              </a:xfrm>
              <a:prstGeom prst="rect">
                <a:avLst/>
              </a:prstGeom>
              <a:blipFill rotWithShape="1">
                <a:blip r:embed="rId19"/>
                <a:stretch>
                  <a:fillRect r="-4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1371600" y="4724400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Dari </a:t>
            </a:r>
            <a:r>
              <a:rPr lang="en-US" dirty="0" err="1"/>
              <a:t>baris</a:t>
            </a:r>
            <a:r>
              <a:rPr lang="en-US" dirty="0"/>
              <a:t> ke-2, </a:t>
            </a:r>
            <a:r>
              <a:rPr lang="en-US" dirty="0" err="1"/>
              <a:t>didapat</a:t>
            </a:r>
            <a:r>
              <a:rPr lang="en-US" dirty="0"/>
              <a:t>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4419600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Dari </a:t>
            </a:r>
            <a:r>
              <a:rPr lang="en-US" dirty="0" err="1"/>
              <a:t>baris</a:t>
            </a:r>
            <a:r>
              <a:rPr lang="en-US" dirty="0"/>
              <a:t> ke-3, </a:t>
            </a:r>
            <a:r>
              <a:rPr lang="en-US" dirty="0" err="1"/>
              <a:t>didapat</a:t>
            </a:r>
            <a:r>
              <a:rPr lang="en-US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3657600" y="4419600"/>
                <a:ext cx="9115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2</m:t>
                      </m:r>
                      <m:r>
                        <a:rPr lang="en-US" b="0" i="1" smtClean="0">
                          <a:latin typeface="Cambria Math"/>
                        </a:rPr>
                        <m:t>𝑧</m:t>
                      </m:r>
                      <m:r>
                        <a:rPr lang="en-US" b="0" i="1" smtClean="0">
                          <a:latin typeface="Cambria Math"/>
                        </a:rPr>
                        <m:t>=6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4419600"/>
                <a:ext cx="911596" cy="369332"/>
              </a:xfrm>
              <a:prstGeom prst="rect">
                <a:avLst/>
              </a:prstGeom>
              <a:blipFill rotWithShape="1">
                <a:blip r:embed="rId20"/>
                <a:stretch>
                  <a:fillRect t="-8197" r="-800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4419600" y="4431268"/>
                <a:ext cx="10414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→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𝑧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=3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0" y="4431268"/>
                <a:ext cx="1041439" cy="369332"/>
              </a:xfrm>
              <a:prstGeom prst="rect">
                <a:avLst/>
              </a:prstGeom>
              <a:blipFill rotWithShape="1">
                <a:blip r:embed="rId21"/>
                <a:stretch>
                  <a:fillRect t="-8197" r="-701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3733800" y="4736068"/>
                <a:ext cx="11928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𝑦</m:t>
                    </m:r>
                    <m:r>
                      <a:rPr lang="en-US" b="0" i="1" smtClean="0">
                        <a:latin typeface="Cambria Math"/>
                      </a:rPr>
                      <m:t>+2</m:t>
                    </m:r>
                    <m:r>
                      <a:rPr lang="en-US" b="0" i="1" smtClean="0">
                        <a:latin typeface="Cambria Math"/>
                      </a:rPr>
                      <m:t>𝑧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dirty="0"/>
                  <a:t>8</a:t>
                </a: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800" y="4736068"/>
                <a:ext cx="1192891" cy="369332"/>
              </a:xfrm>
              <a:prstGeom prst="rect">
                <a:avLst/>
              </a:prstGeom>
              <a:blipFill rotWithShape="1">
                <a:blip r:embed="rId22"/>
                <a:stretch>
                  <a:fillRect t="-8197" r="-820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4801294" y="4724400"/>
                <a:ext cx="13540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  <a:ea typeface="Cambria Math"/>
                      </a:rPr>
                      <m:t>↔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𝑦</m:t>
                    </m:r>
                    <m:r>
                      <a:rPr lang="en-US" b="0" i="1" smtClean="0">
                        <a:latin typeface="Cambria Math"/>
                      </a:rPr>
                      <m:t>+6=</m:t>
                    </m:r>
                  </m:oMath>
                </a14:m>
                <a:r>
                  <a:rPr lang="en-US" dirty="0"/>
                  <a:t>8</a:t>
                </a: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1294" y="4724400"/>
                <a:ext cx="1354025" cy="369332"/>
              </a:xfrm>
              <a:prstGeom prst="rect">
                <a:avLst/>
              </a:prstGeom>
              <a:blipFill rotWithShape="1">
                <a:blip r:embed="rId23"/>
                <a:stretch>
                  <a:fillRect t="-8197" r="-675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6019800" y="4724400"/>
                <a:ext cx="10590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→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𝑦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4724400"/>
                <a:ext cx="1059072" cy="369332"/>
              </a:xfrm>
              <a:prstGeom prst="rect">
                <a:avLst/>
              </a:prstGeom>
              <a:blipFill rotWithShape="1">
                <a:blip r:embed="rId24"/>
                <a:stretch>
                  <a:fillRect t="-8197" r="-69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/>
          <p:cNvSpPr txBox="1"/>
          <p:nvPr/>
        </p:nvSpPr>
        <p:spPr>
          <a:xfrm>
            <a:off x="1392603" y="5029200"/>
            <a:ext cx="2805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baris</a:t>
            </a:r>
            <a:r>
              <a:rPr lang="en-US" dirty="0"/>
              <a:t> ke-1, </a:t>
            </a:r>
            <a:r>
              <a:rPr lang="en-US" dirty="0" err="1"/>
              <a:t>didapat</a:t>
            </a:r>
            <a:r>
              <a:rPr lang="en-US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4114800" y="5029200"/>
                <a:ext cx="15990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𝑥</m:t>
                      </m:r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r>
                        <a:rPr lang="en-US" b="0" i="1" smtClean="0">
                          <a:latin typeface="Cambria Math"/>
                        </a:rPr>
                        <m:t>𝑦</m:t>
                      </m:r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r>
                        <a:rPr lang="en-US" b="0" i="1" smtClean="0">
                          <a:latin typeface="Cambria Math"/>
                        </a:rPr>
                        <m:t>𝑧</m:t>
                      </m:r>
                      <m:r>
                        <a:rPr lang="en-US" b="0" i="1" smtClean="0">
                          <a:latin typeface="Cambria Math"/>
                        </a:rPr>
                        <m:t>=6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5029200"/>
                <a:ext cx="1599027" cy="369332"/>
              </a:xfrm>
              <a:prstGeom prst="rect">
                <a:avLst/>
              </a:prstGeom>
              <a:blipFill rotWithShape="1">
                <a:blip r:embed="rId25"/>
                <a:stretch>
                  <a:fillRect t="-8197" r="-458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5624697" y="5040868"/>
                <a:ext cx="18828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↔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+2+3=6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4697" y="5040868"/>
                <a:ext cx="1882823" cy="369332"/>
              </a:xfrm>
              <a:prstGeom prst="rect">
                <a:avLst/>
              </a:prstGeom>
              <a:blipFill rotWithShape="1">
                <a:blip r:embed="rId26"/>
                <a:stretch>
                  <a:fillRect t="-8197" r="-356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7351329" y="5040868"/>
                <a:ext cx="10556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→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1329" y="5040868"/>
                <a:ext cx="1055674" cy="369332"/>
              </a:xfrm>
              <a:prstGeom prst="rect">
                <a:avLst/>
              </a:prstGeom>
              <a:blipFill rotWithShape="1">
                <a:blip r:embed="rId27"/>
                <a:stretch>
                  <a:fillRect t="-8197" r="-69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ectangle 48"/>
          <p:cNvSpPr/>
          <p:nvPr/>
        </p:nvSpPr>
        <p:spPr>
          <a:xfrm>
            <a:off x="300255" y="5334000"/>
            <a:ext cx="5178051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Penyelesaian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metode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eliminasi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dari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Gauss: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1436" y="5715000"/>
            <a:ext cx="6538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Metode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pada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dasarnya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mirip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metode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augmented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matriks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1436" y="6019800"/>
            <a:ext cx="8260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Biasanya</a:t>
            </a:r>
            <a:r>
              <a:rPr lang="en-US" dirty="0"/>
              <a:t> </a:t>
            </a:r>
            <a:r>
              <a:rPr lang="en-US" dirty="0" err="1"/>
              <a:t>perhitungan</a:t>
            </a:r>
            <a:r>
              <a:rPr lang="en-US" dirty="0"/>
              <a:t> </a:t>
            </a:r>
            <a:r>
              <a:rPr lang="en-US" dirty="0" err="1"/>
              <a:t>dilaksanakan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mesin</a:t>
            </a:r>
            <a:r>
              <a:rPr lang="en-US" dirty="0"/>
              <a:t> </a:t>
            </a:r>
            <a:r>
              <a:rPr lang="en-US" dirty="0" err="1"/>
              <a:t>hitung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39394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6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6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1" dur="1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6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1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6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 animBg="1"/>
      <p:bldP spid="15" grpId="0" animBg="1"/>
      <p:bldP spid="16" grpId="0"/>
      <p:bldP spid="17" grpId="0"/>
      <p:bldP spid="2" grpId="0"/>
      <p:bldP spid="18" grpId="0"/>
      <p:bldP spid="19" grpId="0"/>
      <p:bldP spid="20" grpId="0"/>
      <p:bldP spid="21" grpId="0"/>
      <p:bldP spid="22" grpId="0"/>
      <p:bldP spid="3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 animBg="1"/>
      <p:bldP spid="31" grpId="0"/>
      <p:bldP spid="32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 animBg="1"/>
      <p:bldP spid="51" grpId="0"/>
      <p:bldP spid="5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80999" y="76200"/>
                <a:ext cx="72820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Agar </a:t>
                </a:r>
                <a:r>
                  <a:rPr lang="en-US" dirty="0" err="1"/>
                  <a:t>ralatnya</a:t>
                </a:r>
                <a:r>
                  <a:rPr lang="en-US" dirty="0"/>
                  <a:t> </a:t>
                </a:r>
                <a:r>
                  <a:rPr lang="en-US" dirty="0" err="1"/>
                  <a:t>kecil</a:t>
                </a:r>
                <a:r>
                  <a:rPr lang="en-US" dirty="0"/>
                  <a:t> </a:t>
                </a:r>
                <a:r>
                  <a:rPr lang="en-US" dirty="0" err="1"/>
                  <a:t>maka</a:t>
                </a:r>
                <a:r>
                  <a:rPr lang="en-US" dirty="0"/>
                  <a:t> </a:t>
                </a:r>
                <a:r>
                  <a:rPr lang="en-US" dirty="0" err="1"/>
                  <a:t>tiap</a:t>
                </a:r>
                <a:r>
                  <a:rPr lang="en-US" dirty="0"/>
                  <a:t> </a:t>
                </a:r>
                <a:r>
                  <a:rPr lang="en-US" dirty="0" err="1"/>
                  <a:t>baris</a:t>
                </a:r>
                <a:r>
                  <a:rPr lang="en-US" dirty="0"/>
                  <a:t> </a:t>
                </a:r>
                <a:r>
                  <a:rPr lang="en-US" b="1" dirty="0" err="1"/>
                  <a:t>harus</a:t>
                </a:r>
                <a:r>
                  <a:rPr lang="en-US" b="1" dirty="0"/>
                  <a:t> </a:t>
                </a:r>
                <a:r>
                  <a:rPr lang="en-US" b="1" dirty="0" err="1"/>
                  <a:t>digandakan</a:t>
                </a:r>
                <a:r>
                  <a:rPr lang="en-US" b="1" dirty="0"/>
                  <a:t> </a:t>
                </a:r>
                <a:r>
                  <a:rPr lang="en-US" b="1" dirty="0" err="1"/>
                  <a:t>dengan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/>
                          </a:rPr>
                          <m:t>𝒇𝒂𝒌𝒕𝒐𝒓</m:t>
                        </m:r>
                      </m:e>
                    </m:d>
                    <m:r>
                      <a:rPr lang="en-US" b="1" i="1" smtClean="0">
                        <a:latin typeface="Cambria Math"/>
                        <a:ea typeface="Cambria Math"/>
                      </a:rPr>
                      <m:t>&lt;</m:t>
                    </m:r>
                    <m:r>
                      <a:rPr lang="en-US" b="1" i="1" smtClean="0">
                        <a:latin typeface="Cambria Math"/>
                        <a:ea typeface="Cambria Math"/>
                      </a:rPr>
                      <m:t>𝟏</m:t>
                    </m:r>
                    <m:r>
                      <a:rPr lang="en-US" b="1" i="1" smtClean="0">
                        <a:latin typeface="Cambria Math"/>
                        <a:ea typeface="Cambria Math"/>
                      </a:rPr>
                      <m:t>.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99" y="76200"/>
                <a:ext cx="7282038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669" t="-8333" r="-1004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380998" y="408940"/>
            <a:ext cx="76533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persamaan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diatur</a:t>
            </a:r>
            <a:r>
              <a:rPr lang="en-US" dirty="0"/>
              <a:t> </a:t>
            </a:r>
            <a:r>
              <a:rPr lang="en-US" dirty="0" err="1"/>
              <a:t>lagi</a:t>
            </a:r>
            <a:r>
              <a:rPr lang="en-US" dirty="0"/>
              <a:t> </a:t>
            </a:r>
            <a:r>
              <a:rPr lang="en-US" dirty="0" err="1"/>
              <a:t>sedemikian</a:t>
            </a:r>
            <a:r>
              <a:rPr lang="en-US" dirty="0"/>
              <a:t> </a:t>
            </a:r>
            <a:r>
              <a:rPr lang="en-US" dirty="0" err="1"/>
              <a:t>hingga</a:t>
            </a:r>
            <a:r>
              <a:rPr lang="en-US" dirty="0"/>
              <a:t> </a:t>
            </a:r>
            <a:r>
              <a:rPr lang="en-US" dirty="0" err="1"/>
              <a:t>diperoleh</a:t>
            </a:r>
            <a:r>
              <a:rPr lang="en-US" dirty="0"/>
              <a:t> </a:t>
            </a:r>
            <a:r>
              <a:rPr lang="en-US" dirty="0" err="1"/>
              <a:t>baris</a:t>
            </a:r>
            <a:r>
              <a:rPr lang="en-US" dirty="0"/>
              <a:t> </a:t>
            </a:r>
            <a:r>
              <a:rPr lang="en-US" dirty="0" err="1"/>
              <a:t>pertama</a:t>
            </a:r>
            <a:r>
              <a:rPr lang="en-US" dirty="0"/>
              <a:t> (</a:t>
            </a:r>
            <a:r>
              <a:rPr lang="en-US" dirty="0" err="1"/>
              <a:t>baru</a:t>
            </a:r>
            <a:r>
              <a:rPr lang="en-US" dirty="0"/>
              <a:t>) yang </a:t>
            </a:r>
            <a:r>
              <a:rPr lang="en-US" dirty="0" err="1"/>
              <a:t>variabel</a:t>
            </a:r>
            <a:r>
              <a:rPr lang="en-US" dirty="0"/>
              <a:t> yang </a:t>
            </a:r>
            <a:r>
              <a:rPr lang="en-US" dirty="0" err="1"/>
              <a:t>dicari</a:t>
            </a:r>
            <a:r>
              <a:rPr lang="en-US" dirty="0"/>
              <a:t> </a:t>
            </a:r>
            <a:r>
              <a:rPr lang="en-US" dirty="0" err="1"/>
              <a:t>mempunyai</a:t>
            </a:r>
            <a:r>
              <a:rPr lang="en-US" dirty="0"/>
              <a:t> </a:t>
            </a:r>
            <a:r>
              <a:rPr lang="en-US" dirty="0" err="1"/>
              <a:t>koefisien</a:t>
            </a:r>
            <a:r>
              <a:rPr lang="en-US" dirty="0"/>
              <a:t> </a:t>
            </a:r>
            <a:r>
              <a:rPr lang="en-US" dirty="0" err="1"/>
              <a:t>terbesar</a:t>
            </a:r>
            <a:r>
              <a:rPr lang="en-US" dirty="0"/>
              <a:t> </a:t>
            </a:r>
            <a:r>
              <a:rPr lang="en-US" dirty="0" err="1"/>
              <a:t>mesti</a:t>
            </a:r>
            <a:r>
              <a:rPr lang="en-US" dirty="0"/>
              <a:t> </a:t>
            </a:r>
            <a:r>
              <a:rPr lang="en-US" dirty="0" err="1"/>
              <a:t>diletakkan</a:t>
            </a:r>
            <a:r>
              <a:rPr lang="en-US" dirty="0"/>
              <a:t> paling </a:t>
            </a:r>
            <a:r>
              <a:rPr lang="en-US" dirty="0" err="1"/>
              <a:t>depan</a:t>
            </a:r>
            <a:r>
              <a:rPr lang="en-US" dirty="0"/>
              <a:t>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81000" y="121920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Contoh</a:t>
            </a:r>
            <a:r>
              <a:rPr lang="en-US" dirty="0"/>
              <a:t>: </a:t>
            </a:r>
            <a:r>
              <a:rPr lang="en-US" dirty="0" err="1"/>
              <a:t>Selesaikan</a:t>
            </a:r>
            <a:r>
              <a:rPr lang="en-US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438400" y="1295400"/>
                <a:ext cx="3276600" cy="9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,89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−1,91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−1,89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=2,91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3,41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+1,23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−1,09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=4,72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2,71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+2,14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+1,29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=3,10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1295400"/>
                <a:ext cx="3276600" cy="976614"/>
              </a:xfrm>
              <a:prstGeom prst="rect">
                <a:avLst/>
              </a:prstGeom>
              <a:blipFill rotWithShape="1">
                <a:blip r:embed="rId5"/>
                <a:stretch>
                  <a:fillRect r="-27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609600" y="2133600"/>
            <a:ext cx="4969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Jawab</a:t>
            </a:r>
            <a:r>
              <a:rPr lang="en-US" dirty="0"/>
              <a:t>: 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persamaan</a:t>
            </a:r>
            <a:r>
              <a:rPr lang="en-US" dirty="0"/>
              <a:t> </a:t>
            </a:r>
            <a:r>
              <a:rPr lang="en-US" dirty="0" err="1"/>
              <a:t>diatur</a:t>
            </a:r>
            <a:r>
              <a:rPr lang="en-US" dirty="0"/>
              <a:t> </a:t>
            </a:r>
            <a:r>
              <a:rPr lang="en-US" dirty="0" err="1"/>
              <a:t>kembali</a:t>
            </a:r>
            <a:r>
              <a:rPr lang="en-US" dirty="0"/>
              <a:t>, </a:t>
            </a:r>
            <a:r>
              <a:rPr lang="en-US" dirty="0" err="1"/>
              <a:t>menjadi</a:t>
            </a:r>
            <a:r>
              <a:rPr lang="en-US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295400" y="2438400"/>
                <a:ext cx="3339312" cy="9766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3,41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+1,23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−1,09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=4,72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2,71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+2,14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+1,29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=3,10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,89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−1,91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−1,89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=2,91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2438400"/>
                <a:ext cx="3339312" cy="976614"/>
              </a:xfrm>
              <a:prstGeom prst="rect">
                <a:avLst/>
              </a:prstGeom>
              <a:blipFill rotWithShape="1">
                <a:blip r:embed="rId6"/>
                <a:stretch>
                  <a:fillRect r="-20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1371600" y="4114800"/>
            <a:ext cx="518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Silahkan</a:t>
            </a:r>
            <a:r>
              <a:rPr lang="en-US" dirty="0"/>
              <a:t> </a:t>
            </a:r>
            <a:r>
              <a:rPr lang="en-US" dirty="0" err="1"/>
              <a:t>dicoba</a:t>
            </a:r>
            <a:r>
              <a:rPr lang="en-US" dirty="0"/>
              <a:t>, </a:t>
            </a: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OBE </a:t>
            </a:r>
            <a:r>
              <a:rPr lang="en-US" dirty="0" err="1"/>
              <a:t>didapat</a:t>
            </a:r>
            <a:r>
              <a:rPr lang="en-US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295400" y="3336792"/>
                <a:ext cx="4566122" cy="8542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0" dirty="0" err="1"/>
                  <a:t>maka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𝐴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en-US" b="0" i="1" smtClean="0">
                            <a:latin typeface="Cambria Math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/>
                                </a:rPr>
                                <m:t>3,41</m:t>
                              </m:r>
                            </m:e>
                            <m:e>
                              <m:r>
                                <a:rPr lang="en-US" i="1">
                                  <a:latin typeface="Cambria Math"/>
                                </a:rPr>
                                <m:t>1,23</m:t>
                              </m:r>
                            </m:e>
                            <m:e>
                              <m:r>
                                <a:rPr lang="en-US" i="1">
                                  <a:latin typeface="Cambria Math"/>
                                </a:rPr>
                                <m:t>−1,09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/>
                                </a:rPr>
                                <m:t>2,71</m:t>
                              </m:r>
                            </m:e>
                            <m:e>
                              <m:r>
                                <a:rPr lang="en-US" i="1">
                                  <a:latin typeface="Cambria Math"/>
                                </a:rPr>
                                <m:t>2,14</m:t>
                              </m:r>
                            </m:e>
                            <m:e>
                              <m:r>
                                <a:rPr lang="en-US" i="1">
                                  <a:latin typeface="Cambria Math"/>
                                </a:rPr>
                                <m:t>1,29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,89</m:t>
                              </m:r>
                            </m:e>
                            <m:e>
                              <m:r>
                                <a:rPr lang="en-US" i="1">
                                  <a:latin typeface="Cambria Math"/>
                                </a:rPr>
                                <m:t>−1,91</m:t>
                              </m:r>
                            </m:e>
                            <m:e>
                              <m:r>
                                <a:rPr lang="en-US" i="1">
                                  <a:latin typeface="Cambria Math"/>
                                </a:rPr>
                                <m:t>−1,89</m:t>
                              </m:r>
                            </m:e>
                          </m:mr>
                        </m:m>
                      </m:e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/>
                                </a:rPr>
                                <m:t>4,72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/>
                                </a:rPr>
                                <m:t>3,10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/>
                                </a:rPr>
                                <m:t>2,91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3336792"/>
                <a:ext cx="4566122" cy="854208"/>
              </a:xfrm>
              <a:prstGeom prst="rect">
                <a:avLst/>
              </a:prstGeom>
              <a:blipFill rotWithShape="1">
                <a:blip r:embed="rId7"/>
                <a:stretch>
                  <a:fillRect l="-1202" r="-13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402773" y="4419600"/>
                <a:ext cx="3692485" cy="8542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3,41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1,23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−1,09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−2,592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1,2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86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1,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579</m:t>
                                </m:r>
                              </m:e>
                            </m:mr>
                          </m:m>
                        </m:e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4,72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294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−0,519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773" y="4419600"/>
                <a:ext cx="3692485" cy="854208"/>
              </a:xfrm>
              <a:prstGeom prst="rect">
                <a:avLst/>
              </a:prstGeom>
              <a:blipFill rotWithShape="1">
                <a:blip r:embed="rId8"/>
                <a:stretch>
                  <a:fillRect r="-16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512124" y="5204347"/>
                <a:ext cx="2695573" cy="5106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</a:t>
                </a:r>
                <a:r>
                  <a:rPr lang="en-US" dirty="0" err="1"/>
                  <a:t>aka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𝑧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−0,519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1,579</m:t>
                        </m:r>
                      </m:den>
                    </m:f>
                    <m:r>
                      <a:rPr lang="en-US" b="0" i="1" smtClean="0">
                        <a:latin typeface="Cambria Math"/>
                      </a:rPr>
                      <m:t>=−0,33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124" y="5204347"/>
                <a:ext cx="2695573" cy="510653"/>
              </a:xfrm>
              <a:prstGeom prst="rect">
                <a:avLst/>
              </a:prstGeom>
              <a:blipFill rotWithShape="1">
                <a:blip r:embed="rId9"/>
                <a:stretch>
                  <a:fillRect l="-1810" r="-2489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076700" y="5181600"/>
                <a:ext cx="2695573" cy="5067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  ;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𝑦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0,294</m:t>
                        </m:r>
                        <m:r>
                          <a:rPr lang="en-US" b="0" i="1" smtClean="0">
                            <a:latin typeface="Cambria Math"/>
                          </a:rPr>
                          <m:t>+</m:t>
                        </m:r>
                        <m:r>
                          <a:rPr lang="en-US" i="1">
                            <a:latin typeface="Cambria Math"/>
                          </a:rPr>
                          <m:t>1,286</m:t>
                        </m:r>
                        <m:r>
                          <a:rPr lang="en-US" b="0" i="1" smtClean="0">
                            <a:latin typeface="Cambria Math"/>
                          </a:rPr>
                          <m:t>𝑧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−2,592</m:t>
                        </m:r>
                      </m:den>
                    </m:f>
                    <m:r>
                      <a:rPr lang="en-US" b="0" i="1" smtClean="0">
                        <a:latin typeface="Cambria Math"/>
                      </a:rPr>
                      <m:t>=0.05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700" y="5181600"/>
                <a:ext cx="2695573" cy="506742"/>
              </a:xfrm>
              <a:prstGeom prst="rect">
                <a:avLst/>
              </a:prstGeom>
              <a:blipFill rotWithShape="1">
                <a:blip r:embed="rId10"/>
                <a:stretch>
                  <a:fillRect l="-2036" r="-905" b="-36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1524000" y="5741658"/>
                <a:ext cx="3276600" cy="5067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</a:t>
                </a:r>
                <a:r>
                  <a:rPr lang="en-US" dirty="0" err="1"/>
                  <a:t>an</a:t>
                </a:r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𝑥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4,72</m:t>
                        </m:r>
                        <m:r>
                          <a:rPr lang="en-US" b="0" i="1" smtClean="0">
                            <a:latin typeface="Cambria Math"/>
                          </a:rPr>
                          <m:t>+</m:t>
                        </m:r>
                        <m:r>
                          <a:rPr lang="en-US" i="1">
                            <a:latin typeface="Cambria Math"/>
                          </a:rPr>
                          <m:t>1,09</m:t>
                        </m:r>
                        <m:r>
                          <a:rPr lang="en-US" b="0" i="1" smtClean="0">
                            <a:latin typeface="Cambria Math"/>
                          </a:rPr>
                          <m:t>𝑧</m:t>
                        </m:r>
                        <m:r>
                          <a:rPr lang="en-US" b="0" i="1" smtClean="0">
                            <a:latin typeface="Cambria Math"/>
                          </a:rPr>
                          <m:t>−1,23</m:t>
                        </m:r>
                        <m:r>
                          <a:rPr lang="en-US" b="0" i="1" smtClean="0">
                            <a:latin typeface="Cambria Math"/>
                          </a:rPr>
                          <m:t>𝑦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3,41</m:t>
                        </m:r>
                      </m:den>
                    </m:f>
                    <m:r>
                      <a:rPr lang="en-US" b="0" i="1" smtClean="0">
                        <a:latin typeface="Cambria Math"/>
                      </a:rPr>
                      <m:t>=1,26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5741658"/>
                <a:ext cx="3276600" cy="506742"/>
              </a:xfrm>
              <a:prstGeom prst="rect">
                <a:avLst/>
              </a:prstGeom>
              <a:blipFill rotWithShape="1">
                <a:blip r:embed="rId11"/>
                <a:stretch>
                  <a:fillRect l="-1487" r="-1115" b="-36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7755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2" grpId="0"/>
      <p:bldP spid="13" grpId="0"/>
      <p:bldP spid="3" grpId="0"/>
      <p:bldP spid="14" grpId="0"/>
      <p:bldP spid="15" grpId="0"/>
      <p:bldP spid="17" grpId="0"/>
      <p:bldP spid="18" grpId="0"/>
      <p:bldP spid="19" grpId="0"/>
      <p:bldP spid="20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626923" y="990600"/>
            <a:ext cx="2314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dengan</a:t>
            </a:r>
            <a:r>
              <a:rPr lang="en-US" dirty="0"/>
              <a:t> OBE </a:t>
            </a:r>
            <a:r>
              <a:rPr lang="en-US" dirty="0" err="1"/>
              <a:t>dijadikan</a:t>
            </a:r>
            <a:r>
              <a:rPr lang="en-US" dirty="0"/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66998" y="1002268"/>
                <a:ext cx="2971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Matriks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𝐴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 err="1">
                    <a:latin typeface="Times New Roman" pitchFamily="18" charset="0"/>
                    <a:cs typeface="Times New Roman" pitchFamily="18" charset="0"/>
                  </a:rPr>
                  <a:t>pada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 err="1">
                    <a:latin typeface="Times New Roman" pitchFamily="18" charset="0"/>
                    <a:cs typeface="Times New Roman" pitchFamily="18" charset="0"/>
                  </a:rPr>
                  <a:t>matriks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/>
                      </a:rPr>
                      <m:t> 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l-GR" i="1" smtClean="0">
                            <a:latin typeface="Cambria Math"/>
                            <a:ea typeface="Cambria Math"/>
                          </a:rPr>
                          <m:t>Ι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𝐻</m:t>
                        </m:r>
                      </m:e>
                    </m:d>
                  </m:oMath>
                </a14:m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998" y="1002268"/>
                <a:ext cx="2971800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1639" t="-8197" r="-368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>
            <a:off x="5862826" y="1175266"/>
            <a:ext cx="46177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77000" y="990600"/>
            <a:ext cx="2039091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Matriks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Identitas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38397" y="76200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LANJUTAN SISTEM PERSAMAAN LINIER: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397" y="521732"/>
            <a:ext cx="5276603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4.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Penyelesaian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metode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eliminasi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Gauss-Jordan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26" y="1447800"/>
            <a:ext cx="3867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Contoh</a:t>
            </a:r>
            <a:r>
              <a:rPr lang="en-US" dirty="0"/>
              <a:t>: </a:t>
            </a:r>
            <a:r>
              <a:rPr lang="en-US" dirty="0" err="1"/>
              <a:t>Selesaikan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persamaan</a:t>
            </a:r>
            <a:r>
              <a:rPr lang="en-US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558884" y="1982492"/>
                <a:ext cx="1721425" cy="6083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1.  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=4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=−2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8884" y="1982492"/>
                <a:ext cx="1721425" cy="608308"/>
              </a:xfrm>
              <a:prstGeom prst="rect">
                <a:avLst/>
              </a:prstGeom>
              <a:blipFill rotWithShape="1">
                <a:blip r:embed="rId3"/>
                <a:stretch>
                  <a:fillRect r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352800" y="1849946"/>
                <a:ext cx="2422130" cy="9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2.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𝑧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=6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+2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+3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𝑧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=14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+4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+9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𝑧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=36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1849946"/>
                <a:ext cx="2422130" cy="976614"/>
              </a:xfrm>
              <a:prstGeom prst="rect">
                <a:avLst/>
              </a:prstGeom>
              <a:blipFill rotWithShape="1">
                <a:blip r:embed="rId4"/>
                <a:stretch>
                  <a:fillRect l="-2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867122" y="1572177"/>
                <a:ext cx="2121543" cy="5555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Jawab</a:t>
                </a:r>
                <a:r>
                  <a:rPr lang="en-US" dirty="0"/>
                  <a:t>. 1: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122" y="1572177"/>
                <a:ext cx="2121543" cy="555537"/>
              </a:xfrm>
              <a:prstGeom prst="rect">
                <a:avLst/>
              </a:prstGeom>
              <a:blipFill rotWithShape="1">
                <a:blip r:embed="rId5"/>
                <a:stretch>
                  <a:fillRect l="-2299" r="-4310" b="-1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5943600" y="2178347"/>
                <a:ext cx="2215030" cy="8249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Jawab. 2: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</m:mr>
                        </m:m>
                      </m:e>
                    </m:d>
                    <m:r>
                      <a:rPr lang="en-US" b="0" i="0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2178347"/>
                <a:ext cx="2215030" cy="824906"/>
              </a:xfrm>
              <a:prstGeom prst="rect">
                <a:avLst/>
              </a:prstGeom>
              <a:blipFill rotWithShape="1">
                <a:blip r:embed="rId6"/>
                <a:stretch>
                  <a:fillRect l="-2204" r="-3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732904" y="2838435"/>
            <a:ext cx="1107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Jawab</a:t>
            </a:r>
            <a:r>
              <a:rPr lang="en-US" dirty="0"/>
              <a:t>.  1: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676400" y="2727023"/>
                <a:ext cx="2425472" cy="5524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𝐴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n-US" b="0" i="1" smtClean="0">
                              <a:latin typeface="Cambria Math"/>
                            </a:rPr>
                            <m:t>H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2727023"/>
                <a:ext cx="2425472" cy="552459"/>
              </a:xfrm>
              <a:prstGeom prst="rect">
                <a:avLst/>
              </a:prstGeom>
              <a:blipFill rotWithShape="1">
                <a:blip r:embed="rId7"/>
                <a:stretch>
                  <a:fillRect r="-2513" b="-1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886200" y="2743200"/>
                <a:ext cx="744755" cy="4644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↔"/>
                          <m:vertJc m:val="bot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brk m:alnAt="2"/>
                            </m:rPr>
                            <a:rPr lang="en-US" b="0" i="1" smtClean="0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groupCh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2743200"/>
                <a:ext cx="744755" cy="464486"/>
              </a:xfrm>
              <a:prstGeom prst="rect">
                <a:avLst/>
              </a:prstGeom>
              <a:blipFill rotWithShape="1">
                <a:blip r:embed="rId8"/>
                <a:stretch>
                  <a:fillRect r="-9836" b="-2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400797" y="2743200"/>
                <a:ext cx="1737014" cy="5542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−6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0797" y="2743200"/>
                <a:ext cx="1737014" cy="554254"/>
              </a:xfrm>
              <a:prstGeom prst="rect">
                <a:avLst/>
              </a:prstGeom>
              <a:blipFill rotWithShape="1">
                <a:blip r:embed="rId9"/>
                <a:stretch>
                  <a:fillRect r="-4211" b="-1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1848904" y="3216183"/>
                <a:ext cx="746871" cy="5938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↔"/>
                          <m:vertJc m:val="bot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600" b="0" i="1" smtClean="0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groupCh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8904" y="3216183"/>
                <a:ext cx="746871" cy="593817"/>
              </a:xfrm>
              <a:prstGeom prst="rect">
                <a:avLst/>
              </a:prstGeom>
              <a:blipFill rotWithShape="1">
                <a:blip r:embed="rId10"/>
                <a:stretch>
                  <a:fillRect r="-6504" b="-134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514600" y="3276600"/>
                <a:ext cx="1259035" cy="554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3276600"/>
                <a:ext cx="1259035" cy="554254"/>
              </a:xfrm>
              <a:prstGeom prst="rect">
                <a:avLst/>
              </a:prstGeom>
              <a:blipFill rotWithShape="1">
                <a:blip r:embed="rId11"/>
                <a:stretch>
                  <a:fillRect r="-13592" b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729494" y="3309257"/>
                <a:ext cx="744755" cy="4644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↔"/>
                          <m:vertJc m:val="bot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brk m:alnAt="2"/>
                            </m:rPr>
                            <a:rPr lang="en-US" b="0" i="1" smtClean="0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groupCh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9494" y="3309257"/>
                <a:ext cx="744755" cy="464486"/>
              </a:xfrm>
              <a:prstGeom prst="rect">
                <a:avLst/>
              </a:prstGeom>
              <a:blipFill rotWithShape="1">
                <a:blip r:embed="rId12"/>
                <a:stretch>
                  <a:fillRect r="-9836" b="-2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363439" y="3279482"/>
                <a:ext cx="1351561" cy="554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3439" y="3279482"/>
                <a:ext cx="1351561" cy="554254"/>
              </a:xfrm>
              <a:prstGeom prst="rect">
                <a:avLst/>
              </a:prstGeom>
              <a:blipFill rotWithShape="1">
                <a:blip r:embed="rId13"/>
                <a:stretch>
                  <a:fillRect r="-5405" b="-1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706839" y="3352800"/>
                <a:ext cx="24517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Jadi: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𝑥</m:t>
                    </m:r>
                    <m:r>
                      <a:rPr lang="en-US" b="0" i="1" smtClean="0">
                        <a:latin typeface="Cambria Math"/>
                      </a:rPr>
                      <m:t>=1</m:t>
                    </m:r>
                  </m:oMath>
                </a14:m>
                <a:r>
                  <a:rPr lang="en-US" dirty="0"/>
                  <a:t>  </a:t>
                </a:r>
                <a:r>
                  <a:rPr lang="en-US" dirty="0" err="1"/>
                  <a:t>dan</a:t>
                </a:r>
                <a:r>
                  <a:rPr lang="en-US" dirty="0"/>
                  <a:t>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𝑦</m:t>
                    </m:r>
                    <m:r>
                      <a:rPr lang="en-US" b="0" i="1" smtClean="0">
                        <a:latin typeface="Cambria Math"/>
                      </a:rPr>
                      <m:t>=3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6839" y="3352800"/>
                <a:ext cx="2451791" cy="369332"/>
              </a:xfrm>
              <a:prstGeom prst="rect">
                <a:avLst/>
              </a:prstGeom>
              <a:blipFill rotWithShape="1">
                <a:blip r:embed="rId14"/>
                <a:stretch>
                  <a:fillRect l="-1990" t="-8197" r="-174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685800" y="4114800"/>
            <a:ext cx="1072243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Jawab</a:t>
            </a:r>
            <a:r>
              <a:rPr lang="en-US" dirty="0"/>
              <a:t>. 2: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1680876" y="3877437"/>
                <a:ext cx="2662524" cy="846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𝐴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n-US" b="0" i="1" smtClean="0">
                              <a:latin typeface="Cambria Math"/>
                            </a:rPr>
                            <m:t>H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9</m:t>
                                </m:r>
                              </m:e>
                            </m:mr>
                          </m:m>
                        </m:e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36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0876" y="3877437"/>
                <a:ext cx="2662524" cy="846963"/>
              </a:xfrm>
              <a:prstGeom prst="rect">
                <a:avLst/>
              </a:prstGeom>
              <a:blipFill rotWithShape="1">
                <a:blip r:embed="rId15"/>
                <a:stretch>
                  <a:fillRect r="-1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4185407" y="3962400"/>
                <a:ext cx="619400" cy="5216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↔"/>
                          <m:vertJc m:val="bot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latin typeface="Cambria Math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groupCh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5407" y="3962400"/>
                <a:ext cx="619400" cy="521618"/>
              </a:xfrm>
              <a:prstGeom prst="rect">
                <a:avLst/>
              </a:prstGeom>
              <a:blipFill rotWithShape="1">
                <a:blip r:embed="rId16"/>
                <a:stretch>
                  <a:fillRect r="-6931" b="-10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4648201" y="3886200"/>
                <a:ext cx="1828800" cy="8249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8</m:t>
                                </m:r>
                              </m:e>
                            </m:mr>
                          </m:m>
                        </m:e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30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201" y="3886200"/>
                <a:ext cx="1828800" cy="824906"/>
              </a:xfrm>
              <a:prstGeom prst="rect">
                <a:avLst/>
              </a:prstGeom>
              <a:blipFill rotWithShape="1">
                <a:blip r:embed="rId17"/>
                <a:stretch>
                  <a:fillRect r="-7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6364805" y="3962400"/>
                <a:ext cx="842538" cy="4644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↔"/>
                          <m:vertJc m:val="bot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  <m:r>
                            <m:rPr>
                              <m:brk m:alnAt="2"/>
                            </m:rPr>
                            <a:rPr lang="en-US" b="0" i="1" smtClean="0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groupCh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4805" y="3962400"/>
                <a:ext cx="842538" cy="464486"/>
              </a:xfrm>
              <a:prstGeom prst="rect">
                <a:avLst/>
              </a:prstGeom>
              <a:blipFill rotWithShape="1">
                <a:blip r:embed="rId18"/>
                <a:stretch>
                  <a:fillRect r="-9420" b="-2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086600" y="3810000"/>
                <a:ext cx="1784257" cy="8249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600" y="3810000"/>
                <a:ext cx="1784257" cy="824906"/>
              </a:xfrm>
              <a:prstGeom prst="rect">
                <a:avLst/>
              </a:prstGeom>
              <a:blipFill rotWithShape="1">
                <a:blip r:embed="rId19"/>
                <a:stretch>
                  <a:fillRect r="-34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1820962" y="4731296"/>
                <a:ext cx="694742" cy="6789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↔"/>
                          <m:vertJc m:val="bot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latin typeface="Cambria Math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groupCh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0962" y="4731296"/>
                <a:ext cx="694742" cy="678904"/>
              </a:xfrm>
              <a:prstGeom prst="rect">
                <a:avLst/>
              </a:prstGeom>
              <a:blipFill rotWithShape="1">
                <a:blip r:embed="rId20"/>
                <a:stretch>
                  <a:fillRect r="-5263" b="-8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2362200" y="4724400"/>
                <a:ext cx="1667777" cy="848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4724400"/>
                <a:ext cx="1667777" cy="848758"/>
              </a:xfrm>
              <a:prstGeom prst="rect">
                <a:avLst/>
              </a:prstGeom>
              <a:blipFill rotWithShape="1">
                <a:blip r:embed="rId21"/>
                <a:stretch>
                  <a:fillRect r="-10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3971022" y="4869514"/>
                <a:ext cx="744756" cy="4644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↔"/>
                          <m:vertJc m:val="bot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brk m:alnAt="2"/>
                            </m:rPr>
                            <a:rPr lang="en-US" b="0" i="1" smtClean="0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groupCh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022" y="4869514"/>
                <a:ext cx="744756" cy="464486"/>
              </a:xfrm>
              <a:prstGeom prst="rect">
                <a:avLst/>
              </a:prstGeom>
              <a:blipFill rotWithShape="1">
                <a:blip r:embed="rId22"/>
                <a:stretch>
                  <a:fillRect r="-9756" b="-2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4563865" y="4713842"/>
                <a:ext cx="1784257" cy="848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3865" y="4713842"/>
                <a:ext cx="1784257" cy="848758"/>
              </a:xfrm>
              <a:prstGeom prst="rect">
                <a:avLst/>
              </a:prstGeom>
              <a:blipFill rotWithShape="1">
                <a:blip r:embed="rId23"/>
                <a:stretch>
                  <a:fillRect r="-34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6172200" y="4648200"/>
                <a:ext cx="694613" cy="6565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↔"/>
                          <m:vertJc m:val="bot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groupCh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4648200"/>
                <a:ext cx="694613" cy="656526"/>
              </a:xfrm>
              <a:prstGeom prst="rect">
                <a:avLst/>
              </a:prstGeom>
              <a:blipFill rotWithShape="1">
                <a:blip r:embed="rId24"/>
                <a:stretch>
                  <a:fillRect r="-11504" b="-140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6731834" y="4711106"/>
                <a:ext cx="1784257" cy="848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1834" y="4711106"/>
                <a:ext cx="1784257" cy="848758"/>
              </a:xfrm>
              <a:prstGeom prst="rect">
                <a:avLst/>
              </a:prstGeom>
              <a:blipFill rotWithShape="1">
                <a:blip r:embed="rId25"/>
                <a:stretch>
                  <a:fillRect r="-3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1792937" y="5573158"/>
                <a:ext cx="30118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Dari </a:t>
                </a:r>
                <a:r>
                  <a:rPr lang="en-US" dirty="0" err="1"/>
                  <a:t>baris</a:t>
                </a:r>
                <a:r>
                  <a:rPr lang="en-US" dirty="0"/>
                  <a:t> ke-1, </a:t>
                </a:r>
                <a:r>
                  <a:rPr lang="en-US" dirty="0" err="1"/>
                  <a:t>didapat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𝑥</m:t>
                    </m:r>
                    <m:r>
                      <a:rPr lang="en-US" b="0" i="1" smtClean="0">
                        <a:latin typeface="Cambria Math"/>
                      </a:rPr>
                      <m:t>=1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2937" y="5573158"/>
                <a:ext cx="3011870" cy="369332"/>
              </a:xfrm>
              <a:prstGeom prst="rect">
                <a:avLst/>
              </a:prstGeom>
              <a:blipFill rotWithShape="1">
                <a:blip r:embed="rId26"/>
                <a:stretch>
                  <a:fillRect l="-1619" t="-8197" r="-344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4774129" y="5562600"/>
                <a:ext cx="30118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</a:t>
                </a:r>
                <a:r>
                  <a:rPr lang="en-US" dirty="0" err="1"/>
                  <a:t>ari</a:t>
                </a:r>
                <a:r>
                  <a:rPr lang="en-US" dirty="0"/>
                  <a:t> </a:t>
                </a:r>
                <a:r>
                  <a:rPr lang="en-US" dirty="0" err="1"/>
                  <a:t>baris</a:t>
                </a:r>
                <a:r>
                  <a:rPr lang="en-US" dirty="0"/>
                  <a:t> ke-2, </a:t>
                </a:r>
                <a:r>
                  <a:rPr lang="en-US" dirty="0" err="1"/>
                  <a:t>didapat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y</m:t>
                    </m:r>
                    <m:r>
                      <a:rPr lang="en-US" b="0" i="1" smtClean="0">
                        <a:latin typeface="Cambria Math"/>
                      </a:rPr>
                      <m:t>=2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4129" y="5562600"/>
                <a:ext cx="3011870" cy="369332"/>
              </a:xfrm>
              <a:prstGeom prst="rect">
                <a:avLst/>
              </a:prstGeom>
              <a:blipFill rotWithShape="1">
                <a:blip r:embed="rId27"/>
                <a:stretch>
                  <a:fillRect l="-1619" t="-8333" r="-222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1828800" y="6043136"/>
                <a:ext cx="34572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d</a:t>
                </a:r>
                <a:r>
                  <a:rPr lang="en-US" dirty="0" err="1"/>
                  <a:t>an</a:t>
                </a:r>
                <a:r>
                  <a:rPr lang="en-US" dirty="0"/>
                  <a:t> </a:t>
                </a:r>
                <a:r>
                  <a:rPr lang="en-US" dirty="0" err="1"/>
                  <a:t>dari</a:t>
                </a:r>
                <a:r>
                  <a:rPr lang="en-US" dirty="0"/>
                  <a:t> </a:t>
                </a:r>
                <a:r>
                  <a:rPr lang="en-US" dirty="0" err="1"/>
                  <a:t>baris</a:t>
                </a:r>
                <a:r>
                  <a:rPr lang="en-US" dirty="0"/>
                  <a:t> ke-3, </a:t>
                </a:r>
                <a:r>
                  <a:rPr lang="en-US" dirty="0" err="1"/>
                  <a:t>didapat</a:t>
                </a:r>
                <a:r>
                  <a:rPr lang="en-US" dirty="0"/>
                  <a:t>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𝑧</m:t>
                    </m:r>
                    <m:r>
                      <a:rPr lang="en-US" b="0" i="1" smtClean="0">
                        <a:latin typeface="Cambria Math"/>
                      </a:rPr>
                      <m:t>=3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6043136"/>
                <a:ext cx="3457228" cy="369332"/>
              </a:xfrm>
              <a:prstGeom prst="rect">
                <a:avLst/>
              </a:prstGeom>
              <a:blipFill rotWithShape="1">
                <a:blip r:embed="rId28"/>
                <a:stretch>
                  <a:fillRect l="-1411" t="-8197" r="-211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1154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0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 animBg="1"/>
      <p:bldP spid="2" grpId="0"/>
      <p:bldP spid="11" grpId="0" animBg="1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7" grpId="0"/>
      <p:bldP spid="38" grpId="0"/>
      <p:bldP spid="39" grpId="0"/>
      <p:bldP spid="40" grpId="0"/>
      <p:bldP spid="41" grpId="0"/>
      <p:bldP spid="42" grpId="0"/>
      <p:bldP spid="44" grpId="0"/>
      <p:bldP spid="45" grpId="0"/>
      <p:bldP spid="4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81000" y="87868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Nilai-eigen</a:t>
            </a:r>
            <a:r>
              <a:rPr lang="en-US" b="1" dirty="0"/>
              <a:t> </a:t>
            </a:r>
            <a:r>
              <a:rPr lang="en-US" b="1" dirty="0" err="1"/>
              <a:t>dan</a:t>
            </a:r>
            <a:r>
              <a:rPr lang="en-US" b="1" dirty="0"/>
              <a:t> </a:t>
            </a:r>
            <a:r>
              <a:rPr lang="en-US" b="1" dirty="0" err="1"/>
              <a:t>Vektor-eigen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90895" y="381000"/>
                <a:ext cx="711413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Nilai-eigen </a:t>
                </a:r>
                <a:r>
                  <a:rPr lang="en-US" b="1" dirty="0" err="1"/>
                  <a:t>atau</a:t>
                </a:r>
                <a:r>
                  <a:rPr lang="en-US" b="1" dirty="0"/>
                  <a:t> </a:t>
                </a:r>
                <a:r>
                  <a:rPr lang="en-US" b="1" dirty="0" err="1"/>
                  <a:t>nilai</a:t>
                </a:r>
                <a:r>
                  <a:rPr lang="en-US" b="1" dirty="0"/>
                  <a:t> </a:t>
                </a:r>
                <a:r>
                  <a:rPr lang="en-US" b="1" dirty="0" err="1"/>
                  <a:t>karakteristik</a:t>
                </a:r>
                <a:r>
                  <a:rPr lang="en-US" b="1" dirty="0"/>
                  <a:t>, </a:t>
                </a:r>
                <a:r>
                  <a:rPr lang="en-US" b="1" dirty="0" err="1"/>
                  <a:t>nilai</a:t>
                </a:r>
                <a:r>
                  <a:rPr lang="en-US" b="1" dirty="0"/>
                  <a:t> </a:t>
                </a:r>
                <a:r>
                  <a:rPr lang="en-US" b="1" dirty="0" err="1"/>
                  <a:t>laten</a:t>
                </a:r>
                <a:r>
                  <a:rPr lang="en-US" b="1" dirty="0"/>
                  <a:t> </a:t>
                </a:r>
                <a:r>
                  <a:rPr lang="en-US" dirty="0" err="1"/>
                  <a:t>adalah</a:t>
                </a:r>
                <a:r>
                  <a:rPr lang="en-US" dirty="0"/>
                  <a:t> </a:t>
                </a:r>
                <a:r>
                  <a:rPr lang="en-US" dirty="0" err="1"/>
                  <a:t>bilangan</a:t>
                </a:r>
                <a:r>
                  <a:rPr lang="en-US" dirty="0"/>
                  <a:t> (</a:t>
                </a:r>
                <a:r>
                  <a:rPr lang="en-US" dirty="0" err="1"/>
                  <a:t>skalar</a:t>
                </a:r>
                <a:r>
                  <a:rPr lang="en-US" dirty="0"/>
                  <a:t>) 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𝜆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(</a:t>
                </a:r>
                <a:r>
                  <a:rPr lang="en-US" dirty="0" err="1"/>
                  <a:t>untuk</a:t>
                </a:r>
                <a:r>
                  <a:rPr lang="en-US" dirty="0"/>
                  <a:t> </a:t>
                </a:r>
                <a:r>
                  <a:rPr lang="en-US" dirty="0" err="1"/>
                  <a:t>penyelesaian</a:t>
                </a:r>
                <a:r>
                  <a:rPr lang="en-US" dirty="0"/>
                  <a:t> non-trivial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𝑥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≠0)</m:t>
                    </m:r>
                  </m:oMath>
                </a14:m>
                <a:r>
                  <a:rPr lang="en-US" dirty="0"/>
                  <a:t> yang </a:t>
                </a:r>
                <a:r>
                  <a:rPr lang="en-US" dirty="0" err="1"/>
                  <a:t>memenuhi</a:t>
                </a:r>
                <a:r>
                  <a:rPr lang="en-US" dirty="0"/>
                  <a:t> </a:t>
                </a:r>
                <a:r>
                  <a:rPr lang="en-US" dirty="0" err="1"/>
                  <a:t>persamaan</a:t>
                </a:r>
                <a:r>
                  <a:rPr lang="en-US" dirty="0"/>
                  <a:t>: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895" y="381000"/>
                <a:ext cx="7114133" cy="646331"/>
              </a:xfrm>
              <a:prstGeom prst="rect">
                <a:avLst/>
              </a:prstGeom>
              <a:blipFill rotWithShape="1">
                <a:blip r:embed="rId2"/>
                <a:stretch>
                  <a:fillRect l="-686" t="-4717" b="-13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934200" y="697468"/>
                <a:ext cx="1141658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𝑨𝑿</m:t>
                      </m:r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𝝀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𝑿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697468"/>
                <a:ext cx="1141658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6349" r="-5820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57200" y="990600"/>
                <a:ext cx="65532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Vektor-eigen </a:t>
                </a:r>
                <a:r>
                  <a:rPr lang="en-US" b="1" dirty="0" err="1"/>
                  <a:t>atau</a:t>
                </a:r>
                <a:r>
                  <a:rPr lang="en-US" b="1" dirty="0"/>
                  <a:t> </a:t>
                </a:r>
                <a:r>
                  <a:rPr lang="en-US" b="1" dirty="0" err="1"/>
                  <a:t>vektor</a:t>
                </a:r>
                <a:r>
                  <a:rPr lang="en-US" b="1" dirty="0"/>
                  <a:t> </a:t>
                </a:r>
                <a:r>
                  <a:rPr lang="en-US" b="1" dirty="0" err="1"/>
                  <a:t>karakteristik</a:t>
                </a:r>
                <a:r>
                  <a:rPr lang="en-US" b="1" dirty="0"/>
                  <a:t> </a:t>
                </a:r>
                <a:r>
                  <a:rPr lang="en-US" b="1" dirty="0" err="1"/>
                  <a:t>dari</a:t>
                </a:r>
                <a:r>
                  <a:rPr lang="en-US" b="1" dirty="0"/>
                  <a:t> </a:t>
                </a:r>
                <a:r>
                  <a:rPr lang="en-US" b="1" dirty="0" err="1"/>
                  <a:t>matriks</a:t>
                </a:r>
                <a:r>
                  <a:rPr lang="en-US" b="1" dirty="0"/>
                  <a:t> </a:t>
                </a:r>
                <a:r>
                  <a:rPr lang="en-US" b="1" dirty="0" err="1"/>
                  <a:t>bujur</a:t>
                </a:r>
                <a:r>
                  <a:rPr lang="en-US" b="1" dirty="0"/>
                  <a:t> </a:t>
                </a:r>
                <a:r>
                  <a:rPr lang="en-US" b="1" dirty="0" err="1"/>
                  <a:t>sangkar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/>
                      </a:rPr>
                      <m:t>𝑨</m:t>
                    </m:r>
                  </m:oMath>
                </a14:m>
                <a:r>
                  <a:rPr lang="en-US" dirty="0"/>
                  <a:t>  </a:t>
                </a:r>
                <a:r>
                  <a:rPr lang="en-US" dirty="0" err="1"/>
                  <a:t>adalah</a:t>
                </a:r>
                <a:r>
                  <a:rPr lang="en-US" dirty="0"/>
                  <a:t> </a:t>
                </a:r>
                <a:r>
                  <a:rPr lang="en-US" dirty="0" err="1"/>
                  <a:t>solusi</a:t>
                </a:r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𝑋</m:t>
                    </m:r>
                  </m:oMath>
                </a14:m>
                <a:r>
                  <a:rPr lang="en-US" dirty="0"/>
                  <a:t> yang </a:t>
                </a:r>
                <a:r>
                  <a:rPr lang="en-US" dirty="0" err="1"/>
                  <a:t>bersesuaian</a:t>
                </a:r>
                <a:r>
                  <a:rPr lang="en-US" dirty="0"/>
                  <a:t> </a:t>
                </a:r>
                <a:r>
                  <a:rPr lang="en-US" dirty="0" err="1"/>
                  <a:t>dengan</a:t>
                </a:r>
                <a:r>
                  <a:rPr lang="en-US" dirty="0"/>
                  <a:t> </a:t>
                </a:r>
                <a:r>
                  <a:rPr lang="en-US" dirty="0" err="1"/>
                  <a:t>nilai</a:t>
                </a:r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𝜆</m:t>
                    </m:r>
                  </m:oMath>
                </a14:m>
                <a:r>
                  <a:rPr lang="en-US" dirty="0"/>
                  <a:t>  tertentu.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990600"/>
                <a:ext cx="6553200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744" t="-4717" r="-1395" b="-13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44335" y="1600200"/>
                <a:ext cx="156331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0" dirty="0"/>
                  <a:t>Dari: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𝐴𝑋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𝜆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𝑋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335" y="1600200"/>
                <a:ext cx="1563313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3516" t="-8333" r="-5859" b="-2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876800" y="1595459"/>
                <a:ext cx="19303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↔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𝐴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𝜆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𝐼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𝑋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1595459"/>
                <a:ext cx="1930337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333" r="-347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838696" y="1600200"/>
                <a:ext cx="14799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↔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𝐴𝑋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𝜆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𝐼𝑋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696" y="1600200"/>
                <a:ext cx="1479957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333" r="-4959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172843" y="1600200"/>
                <a:ext cx="18839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↔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𝐴𝑋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−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𝜆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𝐼𝑋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2843" y="1600200"/>
                <a:ext cx="1883914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333" r="-354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465117" y="1905000"/>
            <a:ext cx="3185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determinan</a:t>
            </a:r>
            <a:r>
              <a:rPr lang="en-US" dirty="0"/>
              <a:t> </a:t>
            </a:r>
            <a:r>
              <a:rPr lang="en-US" dirty="0" err="1"/>
              <a:t>karakteristik</a:t>
            </a:r>
            <a:r>
              <a:rPr lang="en-US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429000" y="1929165"/>
                <a:ext cx="10424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𝑨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𝝀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𝑰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1929165"/>
                <a:ext cx="1042465" cy="369332"/>
              </a:xfrm>
              <a:prstGeom prst="rect">
                <a:avLst/>
              </a:prstGeom>
              <a:blipFill rotWithShape="1">
                <a:blip r:embed="rId9"/>
                <a:stretch>
                  <a:fillRect t="-8197" r="-701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4357839" y="1905000"/>
            <a:ext cx="2881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persamaan</a:t>
            </a:r>
            <a:r>
              <a:rPr lang="en-US" dirty="0"/>
              <a:t> </a:t>
            </a:r>
            <a:r>
              <a:rPr lang="en-US" dirty="0" err="1"/>
              <a:t>karakteristik</a:t>
            </a:r>
            <a:r>
              <a:rPr lang="en-US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7086600" y="1865853"/>
                <a:ext cx="14816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𝑨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𝝀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𝑰</m:t>
                          </m:r>
                        </m:e>
                      </m:d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600" y="1865853"/>
                <a:ext cx="1481688" cy="369332"/>
              </a:xfrm>
              <a:prstGeom prst="rect">
                <a:avLst/>
              </a:prstGeom>
              <a:blipFill rotWithShape="1">
                <a:blip r:embed="rId10"/>
                <a:stretch>
                  <a:fillRect t="-8197" r="-452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05094" y="2245150"/>
                <a:ext cx="5627118" cy="11838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𝑨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𝝀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𝑰</m:t>
                          </m:r>
                        </m:e>
                      </m:d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/>
                                        <a:ea typeface="Cambria Math"/>
                                      </a:rPr>
                                      <m:t>𝜆</m:t>
                                    </m:r>
                                  </m:e>
                                </m:d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/>
                                        <a:ea typeface="Cambria Math"/>
                                      </a:rPr>
                                      <m:t>𝜆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⋯</m:t>
                                </m:r>
                              </m:e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𝑛𝑛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/>
                                        <a:ea typeface="Cambria Math"/>
                                      </a:rPr>
                                      <m:t>𝜆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094" y="2245150"/>
                <a:ext cx="5627118" cy="1183850"/>
              </a:xfrm>
              <a:prstGeom prst="rect">
                <a:avLst/>
              </a:prstGeom>
              <a:blipFill rotWithShape="1">
                <a:blip r:embed="rId11"/>
                <a:stretch>
                  <a:fillRect r="-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37751" y="3440668"/>
                <a:ext cx="6934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/>
                  <a:t>diselesaikan</a:t>
                </a:r>
                <a:r>
                  <a:rPr lang="en-US" dirty="0"/>
                  <a:t>, </a:t>
                </a:r>
                <a:r>
                  <a:rPr lang="en-US" dirty="0" err="1"/>
                  <a:t>akan</a:t>
                </a:r>
                <a:r>
                  <a:rPr lang="en-US" dirty="0"/>
                  <a:t> </a:t>
                </a:r>
                <a:r>
                  <a:rPr lang="en-US" dirty="0" err="1"/>
                  <a:t>merupakan</a:t>
                </a:r>
                <a:r>
                  <a:rPr lang="en-US" dirty="0"/>
                  <a:t> </a:t>
                </a:r>
                <a:r>
                  <a:rPr lang="en-US" dirty="0" err="1"/>
                  <a:t>persamaan</a:t>
                </a:r>
                <a:r>
                  <a:rPr lang="en-US" dirty="0"/>
                  <a:t> </a:t>
                </a:r>
                <a:r>
                  <a:rPr lang="en-US" dirty="0" err="1"/>
                  <a:t>polinomial</a:t>
                </a:r>
                <a:r>
                  <a:rPr lang="en-US" dirty="0"/>
                  <a:t> </a:t>
                </a:r>
                <a:r>
                  <a:rPr lang="en-US" dirty="0" err="1"/>
                  <a:t>derajat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dalam</a:t>
                </a:r>
                <a:r>
                  <a:rPr lang="en-US" dirty="0"/>
                  <a:t> 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𝜆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751" y="3440668"/>
                <a:ext cx="6934200" cy="369332"/>
              </a:xfrm>
              <a:prstGeom prst="rect">
                <a:avLst/>
              </a:prstGeom>
              <a:blipFill rotWithShape="1">
                <a:blip r:embed="rId12"/>
                <a:stretch>
                  <a:fillRect l="-703" t="-8197" r="-87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537751" y="3733800"/>
            <a:ext cx="5112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Contoh</a:t>
            </a:r>
            <a:r>
              <a:rPr lang="en-US" dirty="0"/>
              <a:t>: </a:t>
            </a:r>
            <a:r>
              <a:rPr lang="en-US" dirty="0" err="1"/>
              <a:t>Dapatkan</a:t>
            </a:r>
            <a:r>
              <a:rPr lang="en-US" dirty="0"/>
              <a:t> </a:t>
            </a:r>
            <a:r>
              <a:rPr lang="en-US" dirty="0" err="1"/>
              <a:t>nilai-eigen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vektor-eigen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492337" y="3810000"/>
                <a:ext cx="1413164" cy="554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𝐴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2337" y="3810000"/>
                <a:ext cx="1413164" cy="554254"/>
              </a:xfrm>
              <a:prstGeom prst="rect">
                <a:avLst/>
              </a:prstGeom>
              <a:blipFill rotWithShape="1">
                <a:blip r:embed="rId13"/>
                <a:stretch>
                  <a:fillRect r="-5603" b="-1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537751" y="434340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Jawab</a:t>
            </a:r>
            <a:r>
              <a:rPr lang="en-US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1219200" y="4267200"/>
                <a:ext cx="2102435" cy="5598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4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/>
                                    <a:ea typeface="Cambria Math"/>
                                  </a:rPr>
                                  <m:t>𝜆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2−</m:t>
                                </m:r>
                                <m:r>
                                  <a:rPr lang="en-US" b="0" i="1" smtClean="0">
                                    <a:latin typeface="Cambria Math"/>
                                    <a:ea typeface="Cambria Math"/>
                                  </a:rPr>
                                  <m:t>𝜆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4267200"/>
                <a:ext cx="2102435" cy="559897"/>
              </a:xfrm>
              <a:prstGeom prst="rect">
                <a:avLst/>
              </a:prstGeom>
              <a:blipFill rotWithShape="1">
                <a:blip r:embed="rId14"/>
                <a:stretch>
                  <a:fillRect r="-31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3200400" y="4343400"/>
                <a:ext cx="3032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↔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8−4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𝜆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−2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𝜆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𝜆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−3=0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4343400"/>
                <a:ext cx="3032946" cy="369332"/>
              </a:xfrm>
              <a:prstGeom prst="rect">
                <a:avLst/>
              </a:prstGeom>
              <a:blipFill rotWithShape="1">
                <a:blip r:embed="rId15"/>
                <a:stretch>
                  <a:fillRect t="-8333" r="-200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132212" y="4343400"/>
                <a:ext cx="21008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↔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𝜆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−6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𝜆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+5=0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2212" y="4343400"/>
                <a:ext cx="2100832" cy="369332"/>
              </a:xfrm>
              <a:prstGeom prst="rect">
                <a:avLst/>
              </a:prstGeom>
              <a:blipFill rotWithShape="1">
                <a:blip r:embed="rId16"/>
                <a:stretch>
                  <a:fillRect t="-8333" r="-318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197414" y="4812268"/>
                <a:ext cx="2383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↔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/>
                              <a:ea typeface="Cambria Math"/>
                            </a:rPr>
                            <m:t>𝜆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/>
                              <a:ea typeface="Cambria Math"/>
                            </a:rPr>
                            <m:t>𝜆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−5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414" y="4812268"/>
                <a:ext cx="2383986" cy="369332"/>
              </a:xfrm>
              <a:prstGeom prst="rect">
                <a:avLst/>
              </a:prstGeom>
              <a:blipFill rotWithShape="1">
                <a:blip r:embed="rId17"/>
                <a:stretch>
                  <a:fillRect t="-8197" r="-280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3404357" y="4800600"/>
                <a:ext cx="22460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→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/>
                            <a:ea typeface="Cambria Math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/>
                        <a:ea typeface="Cambria Math"/>
                      </a:rPr>
                      <m:t>=1</m:t>
                    </m:r>
                  </m:oMath>
                </a14:m>
                <a:r>
                  <a:rPr lang="en-US" dirty="0"/>
                  <a:t>  </a:t>
                </a:r>
                <a:r>
                  <a:rPr lang="en-US" dirty="0" err="1"/>
                  <a:t>dan</a:t>
                </a:r>
                <a:r>
                  <a:rPr lang="en-US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5</m:t>
                    </m:r>
                  </m:oMath>
                </a14:m>
                <a:r>
                  <a:rPr lang="en-US" dirty="0"/>
                  <a:t>    </a:t>
                </a: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4357" y="4800600"/>
                <a:ext cx="2246013" cy="369332"/>
              </a:xfrm>
              <a:prstGeom prst="rect">
                <a:avLst/>
              </a:prstGeom>
              <a:blipFill rotWithShape="1">
                <a:blip r:embed="rId18"/>
                <a:stretch>
                  <a:fillRect t="-8333" r="-14092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5608660" y="4812268"/>
            <a:ext cx="2239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nilai-eigennya</a:t>
            </a:r>
            <a:r>
              <a:rPr lang="en-US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1295400" y="5181600"/>
                <a:ext cx="15634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>
                    <a:ea typeface="Cambria Math"/>
                  </a:rPr>
                  <a:t>untuk</a:t>
                </a:r>
                <a:r>
                  <a:rPr lang="en-US" dirty="0">
                    <a:ea typeface="Cambria Math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/>
                            <a:ea typeface="Cambria Math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/>
                        <a:ea typeface="Cambria Math"/>
                      </a:rPr>
                      <m:t>=1</m:t>
                    </m:r>
                  </m:oMath>
                </a14:m>
                <a:r>
                  <a:rPr lang="en-US" dirty="0"/>
                  <a:t>    </a:t>
                </a: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5181600"/>
                <a:ext cx="1563433" cy="369332"/>
              </a:xfrm>
              <a:prstGeom prst="rect">
                <a:avLst/>
              </a:prstGeom>
              <a:blipFill rotWithShape="1">
                <a:blip r:embed="rId19"/>
                <a:stretch>
                  <a:fillRect l="-3516" t="-8197" r="-1523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ight Arrow 31"/>
          <p:cNvSpPr/>
          <p:nvPr/>
        </p:nvSpPr>
        <p:spPr>
          <a:xfrm>
            <a:off x="2743200" y="5334000"/>
            <a:ext cx="436029" cy="152400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3276600" y="5181600"/>
                <a:ext cx="1141658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𝑨𝑿</m:t>
                      </m:r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𝝀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𝑿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5181600"/>
                <a:ext cx="1141658" cy="369332"/>
              </a:xfrm>
              <a:prstGeom prst="rect">
                <a:avLst/>
              </a:prstGeom>
              <a:blipFill rotWithShape="1">
                <a:blip r:embed="rId20"/>
                <a:stretch>
                  <a:fillRect t="-6349" r="-5820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ight Arrow 33"/>
          <p:cNvSpPr/>
          <p:nvPr/>
        </p:nvSpPr>
        <p:spPr>
          <a:xfrm>
            <a:off x="4495800" y="5257800"/>
            <a:ext cx="436029" cy="152400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4953001" y="5105400"/>
                <a:ext cx="2518950" cy="554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/>
                      </a:rPr>
                      <m:t>=1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1" y="5105400"/>
                <a:ext cx="2518950" cy="554254"/>
              </a:xfrm>
              <a:prstGeom prst="rect">
                <a:avLst/>
              </a:prstGeom>
              <a:blipFill rotWithShape="1">
                <a:blip r:embed="rId21"/>
                <a:stretch>
                  <a:fillRect b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1345375" y="5562600"/>
                <a:ext cx="2795649" cy="6043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</a:t>
                </a:r>
                <a:r>
                  <a:rPr lang="en-US" dirty="0" err="1"/>
                  <a:t>ehingga</a:t>
                </a:r>
                <a:r>
                  <a:rPr lang="en-US" dirty="0"/>
                  <a:t>: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5375" y="5562600"/>
                <a:ext cx="2795649" cy="604333"/>
              </a:xfrm>
              <a:prstGeom prst="rect">
                <a:avLst/>
              </a:prstGeom>
              <a:blipFill rotWithShape="1">
                <a:blip r:embed="rId22"/>
                <a:stretch>
                  <a:fillRect l="-1965" r="-4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ight Arrow 36"/>
          <p:cNvSpPr/>
          <p:nvPr/>
        </p:nvSpPr>
        <p:spPr>
          <a:xfrm>
            <a:off x="4038600" y="5791200"/>
            <a:ext cx="436029" cy="152400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4495800" y="5638800"/>
                <a:ext cx="12360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=−3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5638800"/>
                <a:ext cx="1236075" cy="369332"/>
              </a:xfrm>
              <a:prstGeom prst="rect">
                <a:avLst/>
              </a:prstGeom>
              <a:blipFill rotWithShape="1">
                <a:blip r:embed="rId23"/>
                <a:stretch>
                  <a:fillRect t="-8197" r="-792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/>
          <p:cNvSpPr txBox="1"/>
          <p:nvPr/>
        </p:nvSpPr>
        <p:spPr>
          <a:xfrm>
            <a:off x="3602511" y="6183868"/>
            <a:ext cx="242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vektor-eigennya</a:t>
            </a:r>
            <a:r>
              <a:rPr lang="en-US" dirty="0"/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5791200" y="6075146"/>
                <a:ext cx="765274" cy="5542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−3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6075146"/>
                <a:ext cx="765274" cy="554254"/>
              </a:xfrm>
              <a:prstGeom prst="rect">
                <a:avLst/>
              </a:prstGeom>
              <a:blipFill rotWithShape="1">
                <a:blip r:embed="rId24"/>
                <a:stretch>
                  <a:fillRect r="-9524" b="-1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80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  <p:bldP spid="3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2" grpId="0" animBg="1"/>
      <p:bldP spid="33" grpId="0" animBg="1"/>
      <p:bldP spid="34" grpId="0" animBg="1"/>
      <p:bldP spid="35" grpId="0"/>
      <p:bldP spid="36" grpId="0"/>
      <p:bldP spid="37" grpId="0" animBg="1"/>
      <p:bldP spid="38" grpId="0"/>
      <p:bldP spid="39" grpId="0"/>
      <p:bldP spid="4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57199" y="196334"/>
                <a:ext cx="16001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>
                    <a:ea typeface="Cambria Math"/>
                  </a:rPr>
                  <a:t>untuk</a:t>
                </a:r>
                <a:r>
                  <a:rPr lang="en-US" dirty="0">
                    <a:ea typeface="Cambria Math"/>
                  </a:rPr>
                  <a:t>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5</m:t>
                    </m:r>
                  </m:oMath>
                </a14:m>
                <a:r>
                  <a:rPr lang="en-US" dirty="0"/>
                  <a:t>    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" y="196334"/>
                <a:ext cx="1600199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3053" t="-8197" r="-1603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ight Arrow 4"/>
          <p:cNvSpPr/>
          <p:nvPr/>
        </p:nvSpPr>
        <p:spPr>
          <a:xfrm>
            <a:off x="2057399" y="304800"/>
            <a:ext cx="436029" cy="152400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514600" y="152400"/>
                <a:ext cx="2518950" cy="554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/>
                      </a:rPr>
                      <m:t>=5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152400"/>
                <a:ext cx="2518950" cy="554254"/>
              </a:xfrm>
              <a:prstGeom prst="rect">
                <a:avLst/>
              </a:prstGeom>
              <a:blipFill rotWithShape="1">
                <a:blip r:embed="rId3"/>
                <a:stretch>
                  <a:fillRect b="-1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66105" y="706654"/>
                <a:ext cx="3039095" cy="616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</a:t>
                </a:r>
                <a:r>
                  <a:rPr lang="en-US" dirty="0" err="1"/>
                  <a:t>ehingga</a:t>
                </a:r>
                <a:r>
                  <a:rPr lang="en-US" dirty="0"/>
                  <a:t>: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5</m:t>
                                  </m:r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5</m:t>
                                  </m:r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105" y="706654"/>
                <a:ext cx="3039095" cy="616515"/>
              </a:xfrm>
              <a:prstGeom prst="rect">
                <a:avLst/>
              </a:prstGeom>
              <a:blipFill rotWithShape="1">
                <a:blip r:embed="rId4"/>
                <a:stretch>
                  <a:fillRect l="-1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ight Arrow 7"/>
          <p:cNvSpPr/>
          <p:nvPr/>
        </p:nvSpPr>
        <p:spPr>
          <a:xfrm>
            <a:off x="3378920" y="990600"/>
            <a:ext cx="436029" cy="152400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810001" y="838200"/>
                <a:ext cx="990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1" y="838200"/>
                <a:ext cx="990600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333" r="-368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4667003" y="838200"/>
            <a:ext cx="242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vektor-eigennya</a:t>
            </a:r>
            <a:r>
              <a:rPr lang="en-US" dirty="0"/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858000" y="762000"/>
                <a:ext cx="592150" cy="5524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0" y="762000"/>
                <a:ext cx="592150" cy="552459"/>
              </a:xfrm>
              <a:prstGeom prst="rect">
                <a:avLst/>
              </a:prstGeom>
              <a:blipFill rotWithShape="1">
                <a:blip r:embed="rId6"/>
                <a:stretch>
                  <a:fillRect r="-13402" b="-1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571498" y="129540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SOAL-SOAL: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1611868"/>
            <a:ext cx="586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Selesaikan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persamaan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eliminasi</a:t>
            </a:r>
            <a:r>
              <a:rPr lang="en-US" dirty="0"/>
              <a:t> Gauss-Jordan: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0600" y="32279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7109833" y="477477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508463" y="5131202"/>
            <a:ext cx="5740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Tentukan</a:t>
            </a:r>
            <a:r>
              <a:rPr lang="en-US" dirty="0"/>
              <a:t> </a:t>
            </a:r>
            <a:r>
              <a:rPr lang="en-US" dirty="0" err="1"/>
              <a:t>nilai-eigen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vektor-eigen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matriks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532175" y="5638800"/>
                <a:ext cx="6019801" cy="5542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𝐴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𝐵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/>
                                </a:rPr>
                                <m:t>−2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𝐶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i="1">
                                  <a:latin typeface="Cambria Math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d</a:t>
                </a:r>
                <a:r>
                  <a:rPr lang="en-US" dirty="0" err="1"/>
                  <a:t>an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𝐷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US" i="1"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175" y="5638800"/>
                <a:ext cx="6019801" cy="554254"/>
              </a:xfrm>
              <a:prstGeom prst="rect">
                <a:avLst/>
              </a:prstGeom>
              <a:blipFill rotWithShape="1">
                <a:blip r:embed="rId7"/>
                <a:stretch>
                  <a:fillRect b="-1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/>
          <p:cNvSpPr/>
          <p:nvPr/>
        </p:nvSpPr>
        <p:spPr>
          <a:xfrm>
            <a:off x="3423293" y="4946536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609600" y="2090622"/>
                <a:ext cx="7450158" cy="29318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1.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+2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=8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=1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                        2.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+2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−9=0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−6=0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3.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=2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=7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=−2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           4.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=11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=5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=1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    5.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=9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=0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=2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 6.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+2=0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=0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+2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−2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+3=0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      7.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+2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=10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=−10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+2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=25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090622"/>
                <a:ext cx="7450158" cy="2931893"/>
              </a:xfrm>
              <a:prstGeom prst="rect">
                <a:avLst/>
              </a:prstGeom>
              <a:blipFill rotWithShape="1">
                <a:blip r:embed="rId8"/>
                <a:stretch>
                  <a:fillRect l="-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533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7" grpId="0"/>
      <p:bldP spid="8" grpId="0" animBg="1"/>
      <p:bldP spid="9" grpId="0"/>
      <p:bldP spid="10" grpId="0"/>
      <p:bldP spid="11" grpId="0"/>
      <p:bldP spid="13" grpId="0"/>
      <p:bldP spid="14" grpId="0"/>
      <p:bldP spid="22" grpId="0"/>
      <p:bldP spid="23" grpId="0"/>
      <p:bldP spid="2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957</TotalTime>
  <Words>756</Words>
  <Application>Microsoft Office PowerPoint</Application>
  <PresentationFormat>On-screen Show (4:3)</PresentationFormat>
  <Paragraphs>158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Iis Herisman</cp:lastModifiedBy>
  <cp:revision>76</cp:revision>
  <dcterms:created xsi:type="dcterms:W3CDTF">2014-10-20T05:17:58Z</dcterms:created>
  <dcterms:modified xsi:type="dcterms:W3CDTF">2026-05-02T08:21:51Z</dcterms:modified>
</cp:coreProperties>
</file>